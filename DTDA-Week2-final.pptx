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466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24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歡迎來到 </a:t>
            </a:r>
            <a:r>
              <a:t>DTDA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第二週。今天我們要把上一週做好的後端，變成一個老闆看得懂的數據戰情室。整套課程從 </a:t>
            </a:r>
            <a:r>
              <a:t>Streamlit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入門、</a:t>
            </a:r>
            <a:r>
              <a:t>Plotly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圖表，到把整個 </a:t>
            </a:r>
            <a:r>
              <a:t>dashboard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部署到雲端，會走完一個現代 </a:t>
            </a:r>
            <a:r>
              <a:t>web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服務交付的完整路徑。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這位是 Maggie Lee，今天的講師。她目前是 LINE 數據開發團隊的機器學習工程師，背景橫跨中文系和資科，得過 WI-IAT 2023 best paper award，也拿過政大博碩士論文獎。今天的內容大量來自她在實務上部署 ML 服務的經驗。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今天的題目挑共享單車。每一次借車都會留下「時間 </a:t>
            </a:r>
            <a:r>
              <a:t>×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地點 </a:t>
            </a:r>
            <a:r>
              <a:t>×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行為」三組資料，這些資料隱含了城市怎麼動、誰在通勤、哪個站最忙的線索。為了避免機敏資料外洩，我們用合成資料：按真實使用行為的模式生成，可以公開展示，也可以全部跑在自己電腦上。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四個 </a:t>
            </a:r>
            <a:r>
              <a:t>CSV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是這份報告的全部素材。</a:t>
            </a:r>
            <a:r>
              <a:t>orders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是「實際發生」、</a:t>
            </a:r>
            <a:r>
              <a:t>available_cars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是「供給」、</a:t>
            </a:r>
            <a:r>
              <a:t>map_browsing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是「需求意圖」、</a:t>
            </a:r>
            <a:r>
              <a:t>parking_lots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是「地理與場域字典」。後面任何分析，本質上都是這四張表的某種 </a:t>
            </a:r>
            <a:r>
              <a:t>join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。等下看圖表時，可以一邊想「這張圖是從哪幾個 </a:t>
            </a:r>
            <a:r>
              <a:t>CSV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算出來的」。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1" name="Shape 12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Dashboard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分四個 </a:t>
            </a:r>
            <a:r>
              <a:t>Tab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。為什麼要分四個？因為不同角色關心不同問題：決策層先看「總覽」、營運層看「需求」、選址規劃看「地理」、行銷投放看「站點深探」。一個好的 </a:t>
            </a:r>
            <a:r>
              <a:t>dashboard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不是把所有圖塞同一頁，而是幫使用者「在對的 </a:t>
            </a:r>
            <a:r>
              <a:t>Tab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找到對的答案」。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8" name="Shape 1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我們會用到 </a:t>
            </a:r>
            <a:r>
              <a:t>12+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種圖表，全部以 </a:t>
            </a:r>
            <a:r>
              <a:t>Plotly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實作，全部互動。選圖的核心原則：先問「我想回答什麼問題」，再決定要用哪個圖。看「比較」用長條、看「趨勢」用面積、看「兩個維度密度」用熱力圖、看「占比」用甜甜圈。同一個問題用對的圖一張就講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1" name="Shape 25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第二節是 </a:t>
            </a:r>
            <a:r>
              <a:t>Streamlit + Plotly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的函式參考手冊。這節節奏會比較密，我會 </a:t>
            </a:r>
            <a:r>
              <a:t>demo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加講重點函式，但你不用當場背起來</a:t>
            </a:r>
            <a:r>
              <a:t>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下課當查表用就好。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2" name="Shape 27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set_page_config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必須是整個腳本第一個 </a:t>
            </a:r>
            <a:r>
              <a:t>st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呼叫，否則會報錯。</a:t>
            </a:r>
            <a:r>
              <a:t>cache_data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 </a:t>
            </a:r>
            <a:r>
              <a:t>Streamlit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最重要的效能武器：</a:t>
            </a:r>
            <a:r>
              <a:t>Streamlit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每次互動都會從頭跑整個腳本，沒快取就會每次重讀檔，</a:t>
            </a:r>
            <a:r>
              <a:t>dashboard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會很卡。所有 </a:t>
            </a:r>
            <a:r>
              <a:t>read_csv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t>BigQuery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一律加 </a:t>
            </a:r>
            <a:r>
              <a:t>@st.cache_data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2" name="Shape 3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Sidebar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 </a:t>
            </a:r>
            <a:r>
              <a:t>dashboard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的「廚房」。把所有篩選都收在這裡，主畫面留給「上菜」的圖表，老闆才不會被一堆下拉選單嚇到。</a:t>
            </a:r>
            <a:r>
              <a:t>selectbox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是下拉選單，</a:t>
            </a:r>
            <a:r>
              <a:t>date_input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是日期選擇器，</a:t>
            </a:r>
            <a:r>
              <a:t>metric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 </a:t>
            </a:r>
            <a:r>
              <a:t>KPI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卡片。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3" name="Shape 3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Tabs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跟 </a:t>
            </a:r>
            <a:r>
              <a:t>columns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 </a:t>
            </a:r>
            <a:r>
              <a:t>Streamlit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兩個最重要的版面工具。分頁 </a:t>
            </a:r>
            <a:r>
              <a:t>vs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分欄的判斷：不同主題用 </a:t>
            </a:r>
            <a:r>
              <a:t>tabs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（總覽 </a:t>
            </a:r>
            <a:r>
              <a:t>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地圖 </a:t>
            </a:r>
            <a:r>
              <a:t>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需求 </a:t>
            </a:r>
            <a:r>
              <a:t>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站點），同主題的多個指標用 </a:t>
            </a:r>
            <a:r>
              <a:t>columns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  <a:r>
              <a:t>columns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也可以傳 </a:t>
            </a:r>
            <a:r>
              <a:t>list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控制比例，比如 </a:t>
            </a:r>
            <a:r>
              <a:t>[2,1,1]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就是左欄一半、右兩欄各四分之一。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36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8" name="Shape 3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互動元件的口訣很簡單：選項 </a:t>
            </a:r>
            <a:r>
              <a:t>2-3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個用 </a:t>
            </a:r>
            <a:r>
              <a:t>radio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，選項 </a:t>
            </a:r>
            <a:r>
              <a:t>4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個以上用 </a:t>
            </a:r>
            <a:r>
              <a:t>selectbox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，連續數字用 </a:t>
            </a:r>
            <a:r>
              <a:t>slider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，開關用 </a:t>
            </a:r>
            <a:r>
              <a:t>checkbox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  <a:r>
              <a:t>slider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的四個參數順序是 </a:t>
            </a:r>
            <a:r>
              <a:t>(min, max, default, step)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，這個要記一下。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7" name="Shape 4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顯示元件最常用的就是 </a:t>
            </a:r>
            <a:r>
              <a:t>metric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跟 </a:t>
            </a:r>
            <a:r>
              <a:t>plotly_chart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  <a:r>
              <a:t>metric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 </a:t>
            </a:r>
            <a:r>
              <a:t>delta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參數會自動加箭頭，正值綠色、負值紅色。</a:t>
            </a:r>
            <a:r>
              <a:t>plotly_chart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有兩個必加參數：</a:t>
            </a:r>
            <a:r>
              <a:t>use_container_width=True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讓圖自動填滿欄寬，</a:t>
            </a:r>
            <a:r>
              <a:t>key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在多張圖時防止重複 </a:t>
            </a:r>
            <a:r>
              <a:t>ID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報錯。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0" name="Shape 4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這六個是我們從合成資料中觀察到的規律。注意這些都是設計上反映真實行為的合成資料，不是真實營運數據。重點是這六個洞察都可以用前面那些函式畫出來</a:t>
            </a:r>
            <a:r>
              <a:t>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這就是我們等下要做的事。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44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0" name="Shape 45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進入 </a:t>
            </a:r>
            <a:r>
              <a:t>Plotly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章節。</a:t>
            </a:r>
            <a:r>
              <a:t>Express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一行畫圖適合探索，</a:t>
            </a:r>
            <a:r>
              <a:t>Graph Objects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精細控制適合做最終版本。先從 </a:t>
            </a:r>
            <a:r>
              <a:t>px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開始，遇到雙 </a:t>
            </a:r>
            <a:r>
              <a:t>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軸或複合圖再切到 </a:t>
            </a:r>
            <a:r>
              <a:t>go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48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1" name="Shape 48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跟 </a:t>
            </a:r>
            <a:r>
              <a:t>go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的判斷標準很簡單：能用 </a:t>
            </a:r>
            <a:r>
              <a:t>px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一行畫出來的就用 </a:t>
            </a:r>
            <a:r>
              <a:t>px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；需要疊兩條 </a:t>
            </a:r>
            <a:r>
              <a:t>trace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或左右兩個 </a:t>
            </a:r>
            <a:r>
              <a:t>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軸的才切 </a:t>
            </a:r>
            <a:r>
              <a:t>go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。新手請從 </a:t>
            </a:r>
            <a:r>
              <a:t>px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開始，不要一開始就學 </a:t>
            </a:r>
            <a:r>
              <a:t>go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，會被淹沒。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49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0" name="Shape 5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px.bar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跟 </a:t>
            </a:r>
            <a:r>
              <a:t>px.area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是最基礎的兩個圖。</a:t>
            </a:r>
            <a:r>
              <a:t>bar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看比較跟排名，</a:t>
            </a:r>
            <a:r>
              <a:t>area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看趨勢跟累積。注意 </a:t>
            </a:r>
            <a:r>
              <a:t>orientation='h'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可以畫水平長條圖，特別適合畫 </a:t>
            </a:r>
            <a:r>
              <a:t>Top 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排行，因為類別名稱比較長。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52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2" name="Shape 5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px.pie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只在「類別 </a:t>
            </a:r>
            <a:r>
              <a:t>≤ 6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個且重點是占比」時用。排名比較永遠用長條圖。</a:t>
            </a:r>
            <a:r>
              <a:t>px.histogram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看分布形狀</a:t>
            </a:r>
            <a:r>
              <a:t>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租借時長集中在哪、有沒有長尾、有沒有兩個峰值</a:t>
            </a:r>
            <a:r>
              <a:t>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但記得用 </a:t>
            </a:r>
            <a:r>
              <a:t>.between()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砍掉極端值。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54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3" name="Shape 54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px.imshow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畫熱力圖三步驟：</a:t>
            </a:r>
            <a:r>
              <a:t>groupby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聚合、</a:t>
            </a:r>
            <a:r>
              <a:t>pivot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轉矩陣、</a:t>
            </a:r>
            <a:r>
              <a:t>imshow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畫圖。</a:t>
            </a:r>
            <a:r>
              <a:t>aspect='auto'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自動調格子比例，</a:t>
            </a:r>
            <a:r>
              <a:t>color_continuous_scale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選色板，最常用 </a:t>
            </a:r>
            <a:r>
              <a:t>'YlOrRd'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因為熱的東西看起來就是黃到紅。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59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2" name="Shape 5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px.scatter_mapbox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畫互動地圖。重點：</a:t>
            </a:r>
            <a:r>
              <a:t>mapbox_style='open-street-map'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是免費的，不用申請 </a:t>
            </a:r>
            <a:r>
              <a:t>Mapbox token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hover_data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可以傳 </a:t>
            </a:r>
            <a:r>
              <a:t>dict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控制每一欄要不要顯示、要不要格式化。對於台灣地圖，</a:t>
            </a:r>
            <a:r>
              <a:t>zoom=9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大概是縣市等級。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6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7" name="Shape 6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進入 </a:t>
            </a:r>
            <a:r>
              <a:t>Graph Objects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。記住一個概念：</a:t>
            </a:r>
            <a:r>
              <a:t>go.Figure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是空白畫布，每呼叫一次 </a:t>
            </a:r>
            <a:r>
              <a:t>add_trace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就疊一層資料。這就是為什麼 </a:t>
            </a:r>
            <a:r>
              <a:t>go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可以畫複合圖，而 </a:t>
            </a:r>
            <a:r>
              <a:t>px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不行。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Shape 66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2" name="Shape 6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make_subplots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是雙 </a:t>
            </a:r>
            <a:r>
              <a:t>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軸的標準寫法。情境很清楚：當兩組資料量級差距很大，比如可用車數 </a:t>
            </a:r>
            <a:r>
              <a:t>0~5 vs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借車次數 </a:t>
            </a:r>
            <a:r>
              <a:t>0~200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，單一 </a:t>
            </a:r>
            <a:r>
              <a:t>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軸沒法比較。記得 </a:t>
            </a:r>
            <a:r>
              <a:t>specs=[[{'secondary_y': True}]]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，然後每個 </a:t>
            </a:r>
            <a:r>
              <a:t>add_trace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都要指定 </a:t>
            </a:r>
            <a:r>
              <a:t>secondary_y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hape 71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4" name="Shape 71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update_layout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 </a:t>
            </a:r>
            <a:r>
              <a:t>Plotly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圖表最後的修飾。最常用的：</a:t>
            </a:r>
            <a:r>
              <a:t>title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t>hovermode='x unified'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跨 </a:t>
            </a:r>
            <a:r>
              <a:t>trace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對齊懸停、</a:t>
            </a:r>
            <a:r>
              <a:t>yaxis2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設右側 </a:t>
            </a:r>
            <a:r>
              <a:t>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軸、</a:t>
            </a:r>
            <a:r>
              <a:t>legend orientation='h'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把圖例擺成水平。</a:t>
            </a:r>
            <a:r>
              <a:t>tickmode='linear'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配 </a:t>
            </a:r>
            <a:r>
              <a:t>dtick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控制 </a:t>
            </a:r>
            <a:r>
              <a:t>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軸刻度間距。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Shape 7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7" name="Shape 7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這頁是這節的查表頁。所有函式分六類列出來，下課後查表用。不用背起來，知道「在哪一頁可以找到」就好。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80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1" name="Shape 80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進入部署章節。在開始之前先講一件事：這套方法不只能做共享單車，校園裡的點餐 </a:t>
            </a:r>
            <a:r>
              <a:t>API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、社團報名、課程簽到、二手書交換，技術骨架完全一樣：資料來源 </a:t>
            </a:r>
            <a:r>
              <a:t>→ API → Dashboard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。把它換成你自己的題目，就有自己的作品集。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Shape 80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5" name="Shape 8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為什麼要部署？因為寫完 </a:t>
            </a:r>
            <a:r>
              <a:t>code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只是開始。停留在本地端的腳本，只有你自己跑得起來。真正的「產品化」是把程式轉成一個隨時待命、有穩定網址、別人都打得開的服務。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Shape 82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26" name="Shape 82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最簡單的部署路徑是 </a:t>
            </a:r>
            <a:r>
              <a:t>Streamlit Community Cloud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。從 </a:t>
            </a:r>
            <a:r>
              <a:t>share.streamlit.io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用 </a:t>
            </a:r>
            <a:r>
              <a:t>GitHub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帳號授權，選 </a:t>
            </a:r>
            <a:r>
              <a:t>public repo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，按 </a:t>
            </a:r>
            <a:r>
              <a:t>Deploy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。三步驟、零成本、免維運。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Shape 84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8" name="Shape 84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Step 2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要填三個東西：</a:t>
            </a:r>
            <a:r>
              <a:t>Repository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t>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t>Main file path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。最容易出錯的是 </a:t>
            </a:r>
            <a:r>
              <a:t>main file path——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這是 </a:t>
            </a:r>
            <a:r>
              <a:t>dashboard.py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在你 </a:t>
            </a:r>
            <a:r>
              <a:t>repo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裡的相對路徑，跟 </a:t>
            </a:r>
            <a:r>
              <a:t>requirements.txt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的位置要對得起來。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Shape 86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67" name="Shape 8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按下 </a:t>
            </a:r>
            <a:r>
              <a:t>Deploy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，等一到三分鐘，就會拿到一個 </a:t>
            </a:r>
            <a:r>
              <a:t>streamlit.app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網址。免費方案有 </a:t>
            </a:r>
            <a:r>
              <a:t>3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個 </a:t>
            </a:r>
            <a:r>
              <a:t>public app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額度，沒人用時會休眠，第一次打開要等十幾秒喚醒</a:t>
            </a:r>
            <a:r>
              <a:t>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適合作品集和 </a:t>
            </a:r>
            <a:r>
              <a:t>demo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。常見部署失敗 </a:t>
            </a:r>
            <a:r>
              <a:t>Top 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：</a:t>
            </a:r>
            <a:r>
              <a:t>requirements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漏寫、用絕對路徑、</a:t>
            </a:r>
            <a:r>
              <a:t>API key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寫在 </a:t>
            </a:r>
            <a:r>
              <a:t>code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裡。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Shape 8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1" name="Shape 8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這就是部署完的 </a:t>
            </a:r>
            <a:r>
              <a:t>dashboard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長相。左邊是 </a:t>
            </a:r>
            <a:r>
              <a:t>Sidebar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篩選、上方 </a:t>
            </a:r>
            <a:r>
              <a:t>KPI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五張卡、下面是月借車趨勢長條圖、熱門車款排行</a:t>
            </a:r>
            <a:r>
              <a:t>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前面學的 </a:t>
            </a:r>
            <a:r>
              <a:t>metric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t>columns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t>plotly_chart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全部用上了。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Shape 87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5" name="Shape 87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Streamlit Cloud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適合 </a:t>
            </a:r>
            <a:r>
              <a:t>demo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，但要做更專業的服務就要進階。我把雲端部署分成三個等級。</a:t>
            </a:r>
            <a:r>
              <a:t>Level 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：</a:t>
            </a:r>
            <a:r>
              <a:t>Cloud Run Functions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，上傳即跑，適合小 </a:t>
            </a:r>
            <a:r>
              <a:t>demo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  <a:r>
              <a:t>Level 1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：</a:t>
            </a:r>
            <a:r>
              <a:t>Flask + Cloud Run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，業界常見標準。</a:t>
            </a:r>
            <a:r>
              <a:t>Level 2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：</a:t>
            </a:r>
            <a:r>
              <a:t>Docker + CI/CD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</a:t>
            </a:r>
            <a:r>
              <a:t>production ready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hape 8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9" name="Shape 8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Level 0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 </a:t>
            </a:r>
            <a:r>
              <a:t>Cloud Run Functions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。最大特色是 </a:t>
            </a:r>
            <a:r>
              <a:t>scale to zero——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沒人用時自動縮到 </a:t>
            </a:r>
            <a:r>
              <a:t>0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個實例，不收錢。事件驅動架構，專注單一任務，像發確認信、更新庫存、跑單一分析。對新手非常友善。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Shape 88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87" name="Shape 8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Functions vs 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的對比表。最關鍵的差別：</a:t>
            </a:r>
            <a:r>
              <a:t>Functions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部署的是「程式碼片段」、只能用特定語言、最長 </a:t>
            </a:r>
            <a:r>
              <a:t>9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分鐘超時、每實例只處理 </a:t>
            </a:r>
            <a:r>
              <a:t>1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個請求；</a:t>
            </a:r>
            <a:r>
              <a:t>Cloud 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部署的是「容器」、任何語言任何系統庫、最長 </a:t>
            </a:r>
            <a:r>
              <a:t>60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分鐘、單實例可併發處理。</a:t>
            </a:r>
            <a:r>
              <a:t>Cloud 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是完整 </a:t>
            </a:r>
            <a:r>
              <a:t>Web App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與微服務的解答。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Shape 89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91" name="Shape 89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要用 </a:t>
            </a:r>
            <a:r>
              <a:t>Cloud 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就要學 </a:t>
            </a:r>
            <a:r>
              <a:t>Docker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  <a:r>
              <a:t>Docker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的三個術語：</a:t>
            </a:r>
            <a:r>
              <a:t>Dockerfile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是裝潢設計圖、</a:t>
            </a:r>
            <a:r>
              <a:t>Image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是冷凍組合包、</a:t>
            </a:r>
            <a:r>
              <a:t>Container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是營業中門市。</a:t>
            </a:r>
            <a:r>
              <a:t>Dockerfile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描述怎麼打造、</a:t>
            </a:r>
            <a:r>
              <a:t>Image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是打造出的靜態快照、</a:t>
            </a:r>
            <a:r>
              <a:t>Container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 </a:t>
            </a:r>
            <a:r>
              <a:t>image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跑起來的動態實體。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Shape 89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95" name="Shape 89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Docker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的比喻就是：整座廚房打包空運。容器化把 </a:t>
            </a:r>
            <a:r>
              <a:t>OS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t>Python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、套件、</a:t>
            </a:r>
            <a:r>
              <a:t>code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全部打包成一個 </a:t>
            </a:r>
            <a:r>
              <a:t>image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，解決「在我電腦可以啊」的千年問題。任何裝了 </a:t>
            </a:r>
            <a:r>
              <a:t>Docker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的機器都跑得起來，環境 </a:t>
            </a:r>
            <a:r>
              <a:t>100%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相同。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Shape 89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99" name="Shape 89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Dockerfile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的五個常見指令：</a:t>
            </a:r>
            <a:r>
              <a:t>FROM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基底映像、</a:t>
            </a:r>
            <a:r>
              <a:t>WORKDIR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工作目錄、</a:t>
            </a:r>
            <a:r>
              <a:t>COPY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複製檔案、</a:t>
            </a:r>
            <a:r>
              <a:t>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執行命令（裝套件）、</a:t>
            </a:r>
            <a:r>
              <a:t>CMD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預設啟動指令。每行 </a:t>
            </a:r>
            <a:r>
              <a:t>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會產生一個 </a:t>
            </a:r>
            <a:r>
              <a:t>layer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，順序影響 </a:t>
            </a:r>
            <a:r>
              <a:t>build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速度</a:t>
            </a:r>
            <a:r>
              <a:t>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所以 </a:t>
            </a:r>
            <a:r>
              <a:t>requirements.txt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要先 </a:t>
            </a:r>
            <a:r>
              <a:t>COPY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，再 </a:t>
            </a:r>
            <a:r>
              <a:t>COPY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你的 </a:t>
            </a:r>
            <a:r>
              <a:t>code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Shape 90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03" name="Shape 90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這是一個 </a:t>
            </a:r>
            <a:r>
              <a:t>minimal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 </a:t>
            </a:r>
            <a:r>
              <a:t>Dockerfile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範本。三個重點：</a:t>
            </a:r>
            <a:r>
              <a:t>PORT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一定要從環境變數拿（</a:t>
            </a:r>
            <a:r>
              <a:t>Cloud 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動態指派）、</a:t>
            </a:r>
            <a:r>
              <a:t>bind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要綁 </a:t>
            </a:r>
            <a:r>
              <a:t>0.0.0.0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不是 </a:t>
            </a:r>
            <a:r>
              <a:t>127.0.0.1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（不然外部進不來）、用 </a:t>
            </a:r>
            <a:r>
              <a:t>python:3.11-slim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基底比 </a:t>
            </a:r>
            <a:r>
              <a:t>full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版小很多。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Shape 92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4" name="Shape 92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Cloud 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部署 </a:t>
            </a:r>
            <a:r>
              <a:t>step 1-2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：在 </a:t>
            </a:r>
            <a:r>
              <a:t>GCP Console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建立 </a:t>
            </a:r>
            <a:r>
              <a:t>Cloud 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服務，選「從存放區持續部署」，安裝 </a:t>
            </a:r>
            <a:r>
              <a:t>Cloud Build GitHub App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，授權它讀取你的 </a:t>
            </a:r>
            <a:r>
              <a:t>repo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。和 </a:t>
            </a:r>
            <a:r>
              <a:t>Streamlit Cloud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不同的是 </a:t>
            </a:r>
            <a:r>
              <a:t>Cloud 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可以跑任何語言、任何架構、</a:t>
            </a:r>
            <a:r>
              <a:t>repo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可以私有，但你要自己付雲端費用。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Shape 94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46" name="Shape 9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Step 3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是設定 </a:t>
            </a:r>
            <a:r>
              <a:t>Cloud Build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。分支版本用正則匹配，</a:t>
            </a:r>
            <a:r>
              <a:t>^main$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表示只觸發 </a:t>
            </a:r>
            <a:r>
              <a:t>main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分支。建構類型選 </a:t>
            </a:r>
            <a:r>
              <a:t>Dockerfile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，然後填 </a:t>
            </a:r>
            <a:r>
              <a:t>Dockerfile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在 </a:t>
            </a:r>
            <a:r>
              <a:t>repo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中的路徑。第二個選項 </a:t>
            </a:r>
            <a:r>
              <a:t>Buildpacks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是不寫 </a:t>
            </a:r>
            <a:r>
              <a:t>Dockerfile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由 </a:t>
            </a:r>
            <a:r>
              <a:t>GCP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自動判斷，建議先學會寫 </a:t>
            </a:r>
            <a:r>
              <a:t>Dockerfile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再說。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Shape 96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67" name="Shape 9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按下「建立」後，會跑三件事：建立服務、建立觸發條件、從存放區建構及部署內容。整段要等 </a:t>
            </a:r>
            <a:r>
              <a:t>2-5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分鐘。如果失敗，點「查看記錄」進 </a:t>
            </a:r>
            <a:r>
              <a:t>Cloud Build logs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，最後一段 </a:t>
            </a:r>
            <a:r>
              <a:t>ERROR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通常會直接告訴你哪一行 </a:t>
            </a:r>
            <a:r>
              <a:t>Dockerfile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出問題。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Shape 98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86" name="Shape 9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完成之後就拿到一個 </a:t>
            </a:r>
            <a:r>
              <a:t>*.run.app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 </a:t>
            </a:r>
            <a:r>
              <a:t>HTTPS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網址，公開可用。每次 </a:t>
            </a:r>
            <a:r>
              <a:t>push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到 </a:t>
            </a:r>
            <a:r>
              <a:t>main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就會自動重 </a:t>
            </a:r>
            <a:r>
              <a:t>build + deploy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，沒人用時自動 </a:t>
            </a:r>
            <a:r>
              <a:t>scale to zero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。這就是現代 </a:t>
            </a:r>
            <a:r>
              <a:t>web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服務交付的標準路徑</a:t>
            </a:r>
            <a:r>
              <a:t>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寫 </a:t>
            </a:r>
            <a:r>
              <a:t>code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t>push GitHub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t>Docker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打包、</a:t>
            </a:r>
            <a:r>
              <a:t>Cloud Build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部署、</a:t>
            </a:r>
            <a:r>
              <a:t>Cloud Run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對外服務。把這個 </a:t>
            </a:r>
            <a:r>
              <a:t>repo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寫進履歷，面試會非常加分。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Shape 99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92" name="Shape 9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歡迎大家。這份簡報是 GitHub 新手完全指南。今天我們會從零開始，帶你完成第一次 Pull Request。涵蓋版本控制與團隊協作的所有核心觀念與實戰指令。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Shape 9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97" name="Shape 9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先區分一個常被混淆的概念：Git 跟 GitHub 不是同一件事。Git 是工具，是分散式版本控制系統的軟體，跑在你本地端的個人電腦上，可以想成單機版的程式碼時光機。GitHub 是平台，是代管 Git 專案的雲端服務，跑在全球網路上，是程式碼的社群網路與大型圖書館。一句話總結：Git 幫你紀錄歷史，GitHub 幫你將歷史與全世界分享。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Shape 10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02" name="Shape 10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基礎裝備三步驟。第一去 github.com 註冊免費帳號。第二下載並安裝 Git 工具，網址 git-scm.com。第三是關鍵的一步：打開終端機，告訴 Git 你是誰。git config --global user.name 設定名字，git config --global user.email 設定信箱（必須與 GitHub 註冊信箱相同）。這是一次性設定，之後就不用再輸入。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Shape 100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07" name="Shape 10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一張圖看懂 Git 的四大空間。工作目錄 Working Directory 是你正在編輯檔案的資料夾，git add 進入暫存區 Staging Area 也就是準備好要存檔的草稿區，git commit 進入本地儲存庫 Local Repository 也就是本機端的完整歷史紀錄，git push 進入遠端儲存庫 Remote Repository 也就是 GitHub 雲端上的備份與協作中心。反向用 git clone 或 git pull 把遠端拉回本地。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Shape 101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12" name="Shape 10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單人實戰第一步：建立雲端專案並下載到本機。在 GitHub 網頁點 New repository，填 repository name 例如 hello-world，務必勾選 Initialize this repository with a README，按 Create。回到本機終端機 cd 到要放專案的資料夾，例如 cd desktop。然後 git clone https://github.com/你的帳號/hello-world.git 把專案下載到本機。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Shape 101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17" name="Shape 10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單人實戰第二步：修改檔案與檢查狀態。進入資料夾，修改或新增檔案，例如打開 README.md 寫 Hello, GitHub!。回到終端機 cd hello-world 進入專案，git status 檢查檔案狀態。紅字代表 Git 發現檔案有變動，但還沒進入暫存區，狀態叫 Untracked 或 Modified。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Shape 10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2" name="Shape 10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單人實戰第三步：將變更拍照存檔。流程是修改檔案 → git add 暫存 → git commit 提交。git add . 將所有修改過的檔案加入暫存區，注意最後面有個小數點。git commit -m "訊息" 提交這些變更，並留下簡短有意義的說明紀錄。好的 commit message 就像歷史書的標題，要寫清楚做了什麼修改。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102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7" name="Shape 10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單人實戰第四步：推送到雲端。git push origin main 把本地端的變更推送到遠端的 main 分支。origin 是遠端儲存庫的預設代稱，main 是你的主要分支名稱。Local Repo (分支 main) 推到雲端的 Remote Repo (分支 main)。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hape 103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2" name="Shape 10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開發日常的循環流程。寫程式或修改檔案，git status 檢查狀態，git add . 加入暫存，git commit -m "訊息" 提交，git push 推送到雲端。這 5 個動作佔了軟體開發者 80% 的 Git 日常。把這套 SOP 記熟，你就具備了基礎版控能力。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103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7" name="Shape 103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進入開源世界：Fork 與 Pull Request。如果你想修改別人的專案，例如導師或開源軟體，但你沒有直接修改也就是 push 的權限怎麼辦？流程是：第一 Fork 在雲端複製一份到自己的 GitHub 帳號下，第二 Clone 下載到本機修改，第三 Push 將修改推回雲端的副本，第四 Pull Request 發送請求，拜託原作者合併。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Shape 104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2" name="Shape 10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協作實戰第一步：Fork 專案與建立開發分支。點擊 Fork 按鈕，把專案複製到自己的帳號下，然後執行 git clone。git branch mission-19 建立一個名為 mission-19 的新分支，git checkout mission-19 切換到該分支開始工作。不要弄亂主幹程式碼，在獨立樹枝上開發。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Shape 10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7" name="Shape 10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協作實戰第二步：推送分支與建立上游 Upstream。直接 git push 會報錯：fatal: The current branch mission-19 has no upstream branch. 第一次推送全新的分支，需告訴 GitHub 建立對應的上游分支：git push --set-upstream origin mission-19。別緊張，通常 Git 會直接把這段指令印在畫面上，你只需要複製貼上按 Enter 即可，不用死記。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Shape 10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2" name="Shape 10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最終步：發送 Pull Request 請求合併。回到你的 GitHub 頁面，點擊出現的綠色提示按鈕。方向檢查：確認是將「你的修改分支」提交給「原作者的主分支」，base 是 main，compare 是 mission-19。填寫修改說明，讓管理者知道你做了什麼，然後勇敢點擊 Create pull request。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Shape 105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7" name="Shape 10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害怕終端機黑畫面？試試 GitHub Desktop。無痛操作：一鍵點擊即可完成 Clone、Commit、Push，免打指令。視覺化歷史：輕鬆查看歷史紀錄與分支圖譜。程式碼對比 Diff：紅底代表刪除，綠底代表新增，一目了然。無論使用指令還是圖形化介面 GUI，背後的 Git 原理完全相同。選擇讓你最安心的工具即可。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Shape 10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62" name="Shape 10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學生專屬：Git 常用指令速查表。初始與下載：git config 設定名稱與信箱，git clone 將雲端專案下載到本機。日常單人開發：git status 檢查檔案異動狀態，git add . 將所有異動加入暫存區，git commit -m 提交並留下紀錄，git push 將進度推送到雲端，git pull 將雲端最新進度拉回本機更新。分支與協作：git branch 建立新分支，git checkout 切換到該分支。練習是掌握版控的唯一途徑，大膽 Commit 吧！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Shape 106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67" name="Shape 10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接下來各組花 5 分鐘上台分享：你的 API 解決什麼問題、demo 一個 endpoint、遇到的最大障礙是什麼。每組 3 分鐘 demo + 2 分鐘 Q&amp;A。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Shape 107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2" name="Shape 107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GitHub 上傳提醒。這是今天課最後一件事，也是最容易被忽略的一件。下課前一定要把 code push 上去。git add、git commit、git push origin main。沒推上去 = 沒交。再三提醒。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Shape 107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7" name="Shape 10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README 是專案的門面。建議結構：專案簡介、安裝步驟、環境變數、API 文件、部署網址、作者。三段話講清楚比寫五百行強。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大標題文字</a:t>
            </a:r>
          </a:p>
        </p:txBody>
      </p:sp>
      <p:sp>
        <p:nvSpPr>
          <p:cNvPr id="3" name="內文層級一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" name="圖片 2" descr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3554" y="3924024"/>
            <a:ext cx="4239833" cy="63629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" y="960120"/>
            <a:ext cx="109728" cy="109728"/>
          </a:xfrm>
          <a:prstGeom prst="ellipse">
            <a:avLst/>
          </a:prstGeom>
          <a:solidFill>
            <a:srgbClr val="C7672A"/>
          </a:solidFill>
          <a:ln w="12700">
            <a:solidFill>
              <a:srgbClr val="C7672A"/>
            </a:solidFill>
            <a:prstDash val="solid"/>
          </a:ln>
        </p:spPr>
        <p:txBody>
          <a:bodyPr/>
          <a:lstStyle/>
          <a:p>
            <a:pPr defTabSz="1371600"/>
            <a:endParaRPr lang="zh-TW" altLang="en-US" sz="2700">
              <a:solidFill>
                <a:prstClr val="black"/>
              </a:solidFill>
              <a:latin typeface="Noto Sans CJK TC"/>
              <a:ea typeface="新細明體" panose="02020500000000000000" pitchFamily="18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61872" y="8503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dirty="0">
                <a:solidFill>
                  <a:srgbClr val="73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dirty="0">
              <a:solidFill>
                <a:prstClr val="black"/>
              </a:solidFill>
              <a:latin typeface="Noto Sans CJK TC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527780" y="850392"/>
            <a:ext cx="1028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371600"/>
            <a:r>
              <a:rPr lang="en-US" dirty="0">
                <a:solidFill>
                  <a:srgbClr val="73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75</a:t>
            </a:r>
            <a:endParaRPr lang="en-US" dirty="0">
              <a:solidFill>
                <a:prstClr val="black"/>
              </a:solidFill>
              <a:latin typeface="Noto Sans CJK TC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2980" y="146688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4500" b="1" dirty="0">
                <a:solidFill>
                  <a:srgbClr val="262421"/>
                </a:solidFill>
                <a:latin typeface="Noto Sans CJK TC" pitchFamily="34" charset="0"/>
                <a:ea typeface="Noto Sans CJK TC" pitchFamily="34" charset="-122"/>
              </a:rPr>
              <a:t>AGENDA</a:t>
            </a:r>
            <a:endParaRPr lang="en-US" sz="4500" dirty="0">
              <a:solidFill>
                <a:prstClr val="black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29868" y="2454433"/>
            <a:ext cx="8915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b="1" dirty="0">
                <a:solidFill>
                  <a:srgbClr val="464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424428" y="2454433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b="1" dirty="0">
                <a:solidFill>
                  <a:srgbClr val="464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40680" y="2454433"/>
            <a:ext cx="11658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b="1" dirty="0">
                <a:solidFill>
                  <a:srgbClr val="464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978408" y="2886123"/>
            <a:ext cx="16322040" cy="0"/>
          </a:xfrm>
          <a:prstGeom prst="line">
            <a:avLst/>
          </a:prstGeom>
          <a:noFill/>
          <a:ln w="12700">
            <a:solidFill>
              <a:srgbClr val="302E2A"/>
            </a:solidFill>
            <a:prstDash val="solid"/>
          </a:ln>
        </p:spPr>
        <p:txBody>
          <a:bodyPr/>
          <a:lstStyle/>
          <a:p>
            <a:pPr defTabSz="1371600"/>
            <a:endParaRPr lang="zh-TW" altLang="en-US" sz="2700">
              <a:solidFill>
                <a:prstClr val="black"/>
              </a:solidFill>
              <a:ea typeface="新細明體" panose="02020500000000000000" pitchFamily="18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4197096"/>
            <a:ext cx="1165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10:40 –</a:t>
            </a:r>
            <a:endParaRPr lang="en-US" sz="1890" dirty="0">
              <a:solidFill>
                <a:prstClr val="black"/>
              </a:solidFill>
            </a:endParaRPr>
          </a:p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11:50</a:t>
            </a:r>
            <a:endParaRPr lang="en-US" sz="1890" dirty="0">
              <a:solidFill>
                <a:prstClr val="black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45252" y="425196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1371600"/>
            <a:r>
              <a:rPr lang="en-US" sz="1875" dirty="0" err="1">
                <a:solidFill>
                  <a:prstClr val="black"/>
                </a:solidFill>
                <a:latin typeface="Noto Sans CJK TC"/>
              </a:rPr>
              <a:t>Streamlit</a:t>
            </a:r>
            <a:r>
              <a:rPr lang="en-US" sz="1875" dirty="0">
                <a:solidFill>
                  <a:prstClr val="black"/>
                </a:solidFill>
                <a:latin typeface="Noto Sans CJK TC"/>
              </a:rPr>
              <a:t> </a:t>
            </a:r>
            <a:r>
              <a:rPr lang="en-US" sz="1875" dirty="0" err="1">
                <a:solidFill>
                  <a:prstClr val="black"/>
                </a:solidFill>
                <a:latin typeface="Noto Sans CJK TC"/>
              </a:rPr>
              <a:t>介紹與操作</a:t>
            </a:r>
            <a:r>
              <a:rPr lang="en-US" sz="1875" dirty="0">
                <a:solidFill>
                  <a:prstClr val="black"/>
                </a:solidFill>
                <a:latin typeface="Noto Sans CJK TC"/>
              </a:rPr>
              <a:t> (</a:t>
            </a:r>
            <a:r>
              <a:rPr lang="en-US" sz="1875" dirty="0" err="1">
                <a:solidFill>
                  <a:prstClr val="black"/>
                </a:solidFill>
                <a:latin typeface="Noto Sans CJK TC"/>
              </a:rPr>
              <a:t>含分工</a:t>
            </a:r>
            <a:r>
              <a:rPr lang="en-US" sz="1875" dirty="0">
                <a:solidFill>
                  <a:prstClr val="black"/>
                </a:solidFill>
                <a:latin typeface="Noto Sans CJK TC"/>
              </a:rPr>
              <a:t>)</a:t>
            </a:r>
          </a:p>
        </p:txBody>
      </p:sp>
      <p:sp>
        <p:nvSpPr>
          <p:cNvPr id="13" name="Shape 11"/>
          <p:cNvSpPr/>
          <p:nvPr/>
        </p:nvSpPr>
        <p:spPr>
          <a:xfrm>
            <a:off x="987552" y="4910328"/>
            <a:ext cx="16322040" cy="0"/>
          </a:xfrm>
          <a:prstGeom prst="line">
            <a:avLst/>
          </a:prstGeom>
          <a:noFill/>
          <a:ln w="6985">
            <a:solidFill>
              <a:srgbClr val="DCD6CB"/>
            </a:solidFill>
            <a:prstDash val="solid"/>
          </a:ln>
        </p:spPr>
        <p:txBody>
          <a:bodyPr/>
          <a:lstStyle/>
          <a:p>
            <a:pPr defTabSz="1371600"/>
            <a:endParaRPr lang="zh-TW" altLang="en-US" sz="2700">
              <a:solidFill>
                <a:prstClr val="black"/>
              </a:solidFill>
              <a:latin typeface="Noto Sans CJK TC"/>
              <a:ea typeface="新細明體" panose="02020500000000000000" pitchFamily="18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4440" y="5157216"/>
            <a:ext cx="1165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12:00 –</a:t>
            </a:r>
            <a:endParaRPr lang="en-US" sz="1890" dirty="0">
              <a:solidFill>
                <a:prstClr val="black"/>
              </a:solidFill>
              <a:latin typeface="Noto Sans CJK TC"/>
            </a:endParaRPr>
          </a:p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</a:t>
            </a:r>
            <a:endParaRPr lang="en-US" sz="1890" dirty="0">
              <a:solidFill>
                <a:prstClr val="black"/>
              </a:solidFill>
              <a:latin typeface="Noto Sans CJK TC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87552" y="5870448"/>
            <a:ext cx="16322040" cy="0"/>
          </a:xfrm>
          <a:prstGeom prst="line">
            <a:avLst/>
          </a:prstGeom>
          <a:noFill/>
          <a:ln w="6985">
            <a:solidFill>
              <a:srgbClr val="DCD6CB"/>
            </a:solidFill>
            <a:prstDash val="solid"/>
          </a:ln>
        </p:spPr>
        <p:txBody>
          <a:bodyPr/>
          <a:lstStyle/>
          <a:p>
            <a:pPr defTabSz="1371600"/>
            <a:endParaRPr lang="zh-TW" altLang="en-US" sz="2700">
              <a:solidFill>
                <a:prstClr val="black"/>
              </a:solidFill>
              <a:latin typeface="Noto Sans CJK TC"/>
              <a:ea typeface="新細明體" panose="02020500000000000000" pitchFamily="18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6117336"/>
            <a:ext cx="1165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 –</a:t>
            </a:r>
            <a:endParaRPr lang="en-US" sz="1890" dirty="0">
              <a:solidFill>
                <a:prstClr val="black"/>
              </a:solidFill>
              <a:latin typeface="Noto Sans CJK TC"/>
            </a:endParaRPr>
          </a:p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14:30</a:t>
            </a:r>
            <a:endParaRPr lang="en-US" sz="1890" dirty="0">
              <a:solidFill>
                <a:prstClr val="black"/>
              </a:solidFill>
              <a:latin typeface="Noto Sans CJK TC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45252" y="61722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1371600"/>
            <a:r>
              <a:rPr lang="en-US" sz="1875" dirty="0">
                <a:solidFill>
                  <a:prstClr val="black"/>
                </a:solidFill>
                <a:latin typeface="Noto Sans CJK TC"/>
              </a:rPr>
              <a:t>Plotly</a:t>
            </a:r>
            <a:r>
              <a:rPr lang="zh-TW" altLang="en-US" sz="1875" dirty="0">
                <a:solidFill>
                  <a:prstClr val="black"/>
                </a:solidFill>
                <a:latin typeface="Noto Sans CJK TC"/>
              </a:rPr>
              <a:t> 介紹</a:t>
            </a:r>
            <a:endParaRPr lang="en-US" sz="1875" dirty="0">
              <a:solidFill>
                <a:prstClr val="black"/>
              </a:solidFill>
              <a:latin typeface="Noto Sans CJK TC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87552" y="6830568"/>
            <a:ext cx="16322040" cy="0"/>
          </a:xfrm>
          <a:prstGeom prst="line">
            <a:avLst/>
          </a:prstGeom>
          <a:noFill/>
          <a:ln w="6985">
            <a:solidFill>
              <a:srgbClr val="DCD6CB"/>
            </a:solidFill>
            <a:prstDash val="solid"/>
          </a:ln>
        </p:spPr>
        <p:txBody>
          <a:bodyPr/>
          <a:lstStyle/>
          <a:p>
            <a:pPr defTabSz="1371600"/>
            <a:endParaRPr lang="zh-TW" altLang="en-US" sz="2700">
              <a:solidFill>
                <a:prstClr val="black"/>
              </a:solidFill>
              <a:latin typeface="Noto Sans CJK TC"/>
              <a:ea typeface="新細明體" panose="02020500000000000000" pitchFamily="18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34440" y="7077456"/>
            <a:ext cx="1165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14:30 –</a:t>
            </a:r>
            <a:endParaRPr lang="en-US" sz="1890" dirty="0">
              <a:solidFill>
                <a:prstClr val="black"/>
              </a:solidFill>
              <a:latin typeface="Noto Sans CJK TC"/>
            </a:endParaRPr>
          </a:p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</a:t>
            </a:r>
            <a:endParaRPr lang="en-US" sz="1890" dirty="0">
              <a:solidFill>
                <a:prstClr val="black"/>
              </a:solidFill>
              <a:latin typeface="Noto Sans CJK TC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87552" y="7790688"/>
            <a:ext cx="16322040" cy="0"/>
          </a:xfrm>
          <a:prstGeom prst="line">
            <a:avLst/>
          </a:prstGeom>
          <a:noFill/>
          <a:ln w="6985">
            <a:solidFill>
              <a:srgbClr val="DCD6CB"/>
            </a:solidFill>
            <a:prstDash val="solid"/>
          </a:ln>
        </p:spPr>
        <p:txBody>
          <a:bodyPr/>
          <a:lstStyle/>
          <a:p>
            <a:pPr defTabSz="1371600"/>
            <a:endParaRPr lang="zh-TW" altLang="en-US" sz="2700">
              <a:solidFill>
                <a:prstClr val="black"/>
              </a:solidFill>
              <a:latin typeface="Noto Sans CJK TC"/>
              <a:ea typeface="新細明體" panose="02020500000000000000" pitchFamily="18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34440" y="8037576"/>
            <a:ext cx="1165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 –</a:t>
            </a:r>
            <a:endParaRPr lang="en-US" sz="1890" dirty="0">
              <a:solidFill>
                <a:prstClr val="black"/>
              </a:solidFill>
              <a:latin typeface="Noto Sans CJK TC"/>
            </a:endParaRPr>
          </a:p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</a:t>
            </a:r>
            <a:endParaRPr lang="en-US" sz="1890" dirty="0">
              <a:solidFill>
                <a:prstClr val="black"/>
              </a:solidFill>
              <a:latin typeface="Noto Sans CJK TC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45252" y="80924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1371600"/>
            <a:r>
              <a:rPr lang="en-US" sz="1875" dirty="0" err="1">
                <a:solidFill>
                  <a:prstClr val="black"/>
                </a:solidFill>
                <a:latin typeface="Noto Sans CJK TC"/>
              </a:rPr>
              <a:t>自由實作</a:t>
            </a:r>
            <a:endParaRPr lang="en-US" sz="1875" dirty="0">
              <a:solidFill>
                <a:prstClr val="black"/>
              </a:solidFill>
              <a:latin typeface="Noto Sans CJK TC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961D89E-A46E-97A0-E22E-33063F20BE42}"/>
              </a:ext>
            </a:extLst>
          </p:cNvPr>
          <p:cNvSpPr txBox="1"/>
          <p:nvPr/>
        </p:nvSpPr>
        <p:spPr>
          <a:xfrm>
            <a:off x="13977257" y="8098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D5D56298-D4BC-1724-ED1D-A62E1ADC0E2E}"/>
              </a:ext>
            </a:extLst>
          </p:cNvPr>
          <p:cNvSpPr/>
          <p:nvPr/>
        </p:nvSpPr>
        <p:spPr>
          <a:xfrm>
            <a:off x="982980" y="3909789"/>
            <a:ext cx="16322040" cy="0"/>
          </a:xfrm>
          <a:prstGeom prst="line">
            <a:avLst/>
          </a:prstGeom>
          <a:noFill/>
          <a:ln w="6985">
            <a:solidFill>
              <a:srgbClr val="DCD6CB"/>
            </a:solidFill>
            <a:prstDash val="solid"/>
          </a:ln>
        </p:spPr>
        <p:txBody>
          <a:bodyPr/>
          <a:lstStyle/>
          <a:p>
            <a:pPr defTabSz="1371600"/>
            <a:endParaRPr lang="zh-TW" altLang="en-US" sz="2700">
              <a:solidFill>
                <a:prstClr val="black"/>
              </a:solidFill>
              <a:latin typeface="Noto Sans CJK TC"/>
              <a:ea typeface="新細明體" panose="02020500000000000000" pitchFamily="18" charset="-120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5340DC58-E883-810B-940D-B9BB4D8C034D}"/>
              </a:ext>
            </a:extLst>
          </p:cNvPr>
          <p:cNvSpPr/>
          <p:nvPr/>
        </p:nvSpPr>
        <p:spPr>
          <a:xfrm>
            <a:off x="1182359" y="3196557"/>
            <a:ext cx="1165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09:30 –</a:t>
            </a:r>
            <a:endParaRPr lang="en-US" sz="1890" dirty="0">
              <a:solidFill>
                <a:prstClr val="black"/>
              </a:solidFill>
            </a:endParaRPr>
          </a:p>
          <a:p>
            <a:pPr defTabSz="1371600"/>
            <a:r>
              <a:rPr lang="en-US" sz="1890" dirty="0">
                <a:solidFill>
                  <a:srgbClr val="A94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10:30</a:t>
            </a:r>
            <a:endParaRPr lang="en-US" sz="1890" dirty="0">
              <a:solidFill>
                <a:prstClr val="black"/>
              </a:solidFill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AEDE8078-92E7-6B5D-CCC7-521F1652C112}"/>
              </a:ext>
            </a:extLst>
          </p:cNvPr>
          <p:cNvSpPr/>
          <p:nvPr/>
        </p:nvSpPr>
        <p:spPr>
          <a:xfrm>
            <a:off x="3376919" y="3251421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875" dirty="0">
                <a:solidFill>
                  <a:prstClr val="black"/>
                </a:solidFill>
                <a:latin typeface="Noto Sans CJK TC"/>
              </a:rPr>
              <a:t>Section 0</a:t>
            </a: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7083C864-D610-9427-479D-BC2BD4F8CE04}"/>
              </a:ext>
            </a:extLst>
          </p:cNvPr>
          <p:cNvSpPr/>
          <p:nvPr/>
        </p:nvSpPr>
        <p:spPr>
          <a:xfrm>
            <a:off x="5393171" y="3251421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1371600"/>
            <a:r>
              <a:rPr lang="en-US" sz="1875" dirty="0">
                <a:solidFill>
                  <a:prstClr val="black"/>
                </a:solidFill>
                <a:latin typeface="Noto Sans CJK TC"/>
              </a:rPr>
              <a:t>LINE </a:t>
            </a:r>
            <a:r>
              <a:rPr lang="en-US" sz="1875" dirty="0" err="1">
                <a:solidFill>
                  <a:prstClr val="black"/>
                </a:solidFill>
                <a:latin typeface="Noto Sans CJK TC"/>
              </a:rPr>
              <a:t>企業介紹</a:t>
            </a:r>
            <a:r>
              <a:rPr lang="zh-TW" altLang="en-US" sz="1875" dirty="0">
                <a:solidFill>
                  <a:prstClr val="black"/>
                </a:solidFill>
                <a:latin typeface="Noto Sans CJK TC"/>
              </a:rPr>
              <a:t> </a:t>
            </a:r>
            <a:r>
              <a:rPr lang="en-US" altLang="zh-TW" sz="1875" dirty="0">
                <a:solidFill>
                  <a:prstClr val="black"/>
                </a:solidFill>
                <a:latin typeface="Noto Sans CJK TC"/>
              </a:rPr>
              <a:t>&amp; </a:t>
            </a:r>
            <a:r>
              <a:rPr lang="zh-TW" altLang="en-US" sz="1875" dirty="0">
                <a:solidFill>
                  <a:prstClr val="black"/>
                </a:solidFill>
                <a:latin typeface="Noto Sans CJK TC"/>
              </a:rPr>
              <a:t>履歷健檢</a:t>
            </a:r>
            <a:endParaRPr lang="en-US" sz="1875" dirty="0">
              <a:solidFill>
                <a:prstClr val="black"/>
              </a:solidFill>
              <a:latin typeface="Noto Sans CJK TC"/>
            </a:endParaRP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81283589-BD2D-0A42-0DC1-42FAF626B6FE}"/>
              </a:ext>
            </a:extLst>
          </p:cNvPr>
          <p:cNvSpPr/>
          <p:nvPr/>
        </p:nvSpPr>
        <p:spPr>
          <a:xfrm>
            <a:off x="3376919" y="42981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875" dirty="0">
                <a:solidFill>
                  <a:prstClr val="black"/>
                </a:solidFill>
                <a:latin typeface="Noto Sans CJK TC"/>
              </a:rPr>
              <a:t>Section 1</a:t>
            </a: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FED4F064-FD46-7C95-6510-855AFEA4B9F9}"/>
              </a:ext>
            </a:extLst>
          </p:cNvPr>
          <p:cNvSpPr/>
          <p:nvPr/>
        </p:nvSpPr>
        <p:spPr>
          <a:xfrm>
            <a:off x="3424428" y="532180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875" dirty="0">
                <a:solidFill>
                  <a:prstClr val="black"/>
                </a:solidFill>
                <a:latin typeface="Noto Sans CJK TC"/>
              </a:rPr>
              <a:t>Section 2</a:t>
            </a: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6952DE19-C869-6E0A-127A-2939C9B4A913}"/>
              </a:ext>
            </a:extLst>
          </p:cNvPr>
          <p:cNvSpPr/>
          <p:nvPr/>
        </p:nvSpPr>
        <p:spPr>
          <a:xfrm>
            <a:off x="3404947" y="6242771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875" dirty="0">
                <a:solidFill>
                  <a:prstClr val="black"/>
                </a:solidFill>
                <a:latin typeface="Noto Sans CJK TC"/>
              </a:rPr>
              <a:t>Section 3</a:t>
            </a: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B763044B-2328-BDF0-08BD-BB6C50F57868}"/>
              </a:ext>
            </a:extLst>
          </p:cNvPr>
          <p:cNvSpPr/>
          <p:nvPr/>
        </p:nvSpPr>
        <p:spPr>
          <a:xfrm>
            <a:off x="3424428" y="715975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875" dirty="0">
                <a:solidFill>
                  <a:prstClr val="black"/>
                </a:solidFill>
                <a:latin typeface="Noto Sans CJK TC"/>
              </a:rPr>
              <a:t>Section 4</a:t>
            </a: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AF702F4D-567F-641A-F5C2-4E0AFADFBEC6}"/>
              </a:ext>
            </a:extLst>
          </p:cNvPr>
          <p:cNvSpPr/>
          <p:nvPr/>
        </p:nvSpPr>
        <p:spPr>
          <a:xfrm>
            <a:off x="3404947" y="8172351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875" dirty="0">
                <a:solidFill>
                  <a:prstClr val="black"/>
                </a:solidFill>
                <a:latin typeface="Noto Sans CJK TC"/>
              </a:rPr>
              <a:t>Section 5</a:t>
            </a:r>
          </a:p>
        </p:txBody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101EAAA4-0DD1-FD76-0158-33B3D51B7D3C}"/>
              </a:ext>
            </a:extLst>
          </p:cNvPr>
          <p:cNvSpPr/>
          <p:nvPr/>
        </p:nvSpPr>
        <p:spPr>
          <a:xfrm>
            <a:off x="5440680" y="7291745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1371600"/>
            <a:r>
              <a:rPr lang="zh-TW" altLang="zh-TW" sz="2000" dirty="0"/>
              <a:t>雲端部署驗證（Cloud Run + Postman）與 GitHub 上傳</a:t>
            </a:r>
          </a:p>
          <a:p>
            <a:pPr defTabSz="1371600"/>
            <a:endParaRPr lang="en-US" sz="1875" dirty="0">
              <a:solidFill>
                <a:prstClr val="black"/>
              </a:solidFill>
              <a:latin typeface="Noto Sans CJK TC"/>
            </a:endParaRPr>
          </a:p>
        </p:txBody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7080D898-5626-D570-59B9-C918F2C69D56}"/>
              </a:ext>
            </a:extLst>
          </p:cNvPr>
          <p:cNvSpPr/>
          <p:nvPr/>
        </p:nvSpPr>
        <p:spPr>
          <a:xfrm>
            <a:off x="5393171" y="5266943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1371600"/>
            <a:r>
              <a:rPr lang="en-US" sz="1875" dirty="0" err="1">
                <a:solidFill>
                  <a:prstClr val="black"/>
                </a:solidFill>
                <a:latin typeface="Noto Sans CJK TC"/>
              </a:rPr>
              <a:t>午休</a:t>
            </a:r>
            <a:endParaRPr lang="en-US" sz="1875" dirty="0">
              <a:solidFill>
                <a:prstClr val="black"/>
              </a:solidFill>
              <a:latin typeface="Noto Sans CJK TC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4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4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4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4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4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4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4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" name="Text 1"/>
          <p:cNvSpPr txBox="1"/>
          <p:nvPr/>
        </p:nvSpPr>
        <p:spPr>
          <a:xfrm>
            <a:off x="1352549" y="914400"/>
            <a:ext cx="1828058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1.1 PROJECT</a:t>
            </a:r>
          </a:p>
        </p:txBody>
      </p:sp>
      <p:sp>
        <p:nvSpPr>
          <p:cNvPr id="47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 / 41</a:t>
            </a:r>
          </a:p>
        </p:txBody>
      </p:sp>
      <p:sp>
        <p:nvSpPr>
          <p:cNvPr id="48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專案背景與目標</a:t>
            </a:r>
          </a:p>
        </p:txBody>
      </p:sp>
      <p:sp>
        <p:nvSpPr>
          <p:cNvPr id="49" name="Text 4"/>
          <p:cNvSpPr txBox="1"/>
          <p:nvPr/>
        </p:nvSpPr>
        <p:spPr>
          <a:xfrm>
            <a:off x="1066800" y="224790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76655">
              <a:lnSpc>
                <a:spcPct val="104999"/>
              </a:lnSpc>
              <a:defRPr sz="4440" b="1" spc="-7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為什麼挑「共享單車」這個題目？</a:t>
            </a:r>
          </a:p>
        </p:txBody>
      </p:sp>
      <p:sp>
        <p:nvSpPr>
          <p:cNvPr id="50" name="Shape 5"/>
          <p:cNvSpPr/>
          <p:nvPr/>
        </p:nvSpPr>
        <p:spPr>
          <a:xfrm>
            <a:off x="1066800" y="3657600"/>
            <a:ext cx="7848600" cy="3428702"/>
          </a:xfrm>
          <a:prstGeom prst="roundRect">
            <a:avLst>
              <a:gd name="adj" fmla="val 5000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" name="Text 6"/>
          <p:cNvSpPr txBox="1"/>
          <p:nvPr/>
        </p:nvSpPr>
        <p:spPr>
          <a:xfrm>
            <a:off x="1371600" y="3924300"/>
            <a:ext cx="7456169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為什麼資料這麼有趣？</a:t>
            </a:r>
          </a:p>
        </p:txBody>
      </p:sp>
      <p:sp>
        <p:nvSpPr>
          <p:cNvPr id="52" name="Text 7"/>
          <p:cNvSpPr txBox="1"/>
          <p:nvPr/>
        </p:nvSpPr>
        <p:spPr>
          <a:xfrm>
            <a:off x="1371600" y="4324349"/>
            <a:ext cx="7456169" cy="982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68095">
              <a:lnSpc>
                <a:spcPct val="155000"/>
              </a:lnSpc>
              <a:defRPr sz="2016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共享單車（YouBike）在台灣各大城市快速擴張，形成龐大的共享出行生態系。</a:t>
            </a:r>
          </a:p>
        </p:txBody>
      </p:sp>
      <p:sp>
        <p:nvSpPr>
          <p:cNvPr id="53" name="Text 8"/>
          <p:cNvSpPr txBox="1"/>
          <p:nvPr/>
        </p:nvSpPr>
        <p:spPr>
          <a:xfrm>
            <a:off x="1371600" y="5402460"/>
            <a:ext cx="7456169" cy="1455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68680">
              <a:lnSpc>
                <a:spcPct val="155000"/>
              </a:lnSpc>
              <a:defRPr sz="228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每一次借車都會留下「時間 × 地點 × 行為」的資料 </a:t>
            </a:r>
            <a:r>
              <a:rPr b="0"/>
              <a:t>，這些資料隱含了城市怎麼動、誰在通勤、哪個站最忙的線索。</a:t>
            </a:r>
          </a:p>
        </p:txBody>
      </p:sp>
      <p:sp>
        <p:nvSpPr>
          <p:cNvPr id="54" name="Shape 9"/>
          <p:cNvSpPr/>
          <p:nvPr/>
        </p:nvSpPr>
        <p:spPr>
          <a:xfrm>
            <a:off x="9372600" y="3657600"/>
            <a:ext cx="7848600" cy="3428702"/>
          </a:xfrm>
          <a:prstGeom prst="roundRect">
            <a:avLst>
              <a:gd name="adj" fmla="val 5000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Text 10"/>
          <p:cNvSpPr txBox="1"/>
          <p:nvPr/>
        </p:nvSpPr>
        <p:spPr>
          <a:xfrm>
            <a:off x="9677400" y="3924300"/>
            <a:ext cx="7456169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為什麼挑這套資料來教？</a:t>
            </a:r>
          </a:p>
        </p:txBody>
      </p:sp>
      <p:sp>
        <p:nvSpPr>
          <p:cNvPr id="56" name="Text 11"/>
          <p:cNvSpPr txBox="1"/>
          <p:nvPr/>
        </p:nvSpPr>
        <p:spPr>
          <a:xfrm>
            <a:off x="9677400" y="4324349"/>
            <a:ext cx="7456169" cy="982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86384">
              <a:lnSpc>
                <a:spcPct val="155000"/>
              </a:lnSpc>
              <a:defRPr sz="206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真實營運資料是機敏資料，學生拿不到，老師也不方便公開教。</a:t>
            </a:r>
          </a:p>
        </p:txBody>
      </p:sp>
      <p:sp>
        <p:nvSpPr>
          <p:cNvPr id="57" name="Text 12"/>
          <p:cNvSpPr txBox="1"/>
          <p:nvPr/>
        </p:nvSpPr>
        <p:spPr>
          <a:xfrm>
            <a:off x="9677400" y="5402460"/>
            <a:ext cx="7456169" cy="1455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77823">
              <a:lnSpc>
                <a:spcPct val="155000"/>
              </a:lnSpc>
              <a:defRPr sz="2304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我們用「合成資料」 </a:t>
            </a:r>
            <a:r>
              <a:rPr b="0"/>
              <a:t>——按真實使用行為的模式產生，可以公開展示、可以全部跑在自己電腦上，沒有資安顧慮。</a:t>
            </a:r>
          </a:p>
        </p:txBody>
      </p:sp>
      <p:sp>
        <p:nvSpPr>
          <p:cNvPr id="58" name="Shape 13"/>
          <p:cNvSpPr/>
          <p:nvPr/>
        </p:nvSpPr>
        <p:spPr>
          <a:xfrm>
            <a:off x="1066800" y="7543502"/>
            <a:ext cx="16154400" cy="1340942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Shape 14"/>
          <p:cNvSpPr/>
          <p:nvPr/>
        </p:nvSpPr>
        <p:spPr>
          <a:xfrm>
            <a:off x="1066800" y="7543502"/>
            <a:ext cx="57150" cy="134094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" name="Text 15"/>
          <p:cNvSpPr txBox="1"/>
          <p:nvPr/>
        </p:nvSpPr>
        <p:spPr>
          <a:xfrm>
            <a:off x="1428749" y="7772102"/>
            <a:ext cx="15972284" cy="921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86384">
              <a:lnSpc>
                <a:spcPct val="145000"/>
              </a:lnSpc>
              <a:defRPr sz="2064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本週目標：</a:t>
            </a:r>
            <a:r>
              <a:rPr b="0">
                <a:solidFill>
                  <a:srgbClr val="1A1714"/>
                </a:solidFill>
              </a:rPr>
              <a:t>把這套合成資料，變成一個老闆／教授／面試官打開就看得懂的</a:t>
            </a:r>
            <a:r>
              <a:t>互動式儀表板 </a:t>
            </a:r>
            <a:r>
              <a:rPr b="0">
                <a:solidFill>
                  <a:srgbClr val="1A1714"/>
                </a:solidFill>
              </a:rPr>
              <a:t>，並且部署到雲端，讓任何人用網址就能打開。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" name="Text 1"/>
          <p:cNvSpPr txBox="1"/>
          <p:nvPr/>
        </p:nvSpPr>
        <p:spPr>
          <a:xfrm>
            <a:off x="1352549" y="914400"/>
            <a:ext cx="135032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1.2 DATA</a:t>
            </a:r>
          </a:p>
        </p:txBody>
      </p:sp>
      <p:sp>
        <p:nvSpPr>
          <p:cNvPr id="66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 / 41</a:t>
            </a:r>
          </a:p>
        </p:txBody>
      </p:sp>
      <p:sp>
        <p:nvSpPr>
          <p:cNvPr id="67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資料集結構（4 個 CSV）</a:t>
            </a:r>
          </a:p>
        </p:txBody>
      </p:sp>
      <p:sp>
        <p:nvSpPr>
          <p:cNvPr id="68" name="Text 4"/>
          <p:cNvSpPr txBox="1"/>
          <p:nvPr/>
        </p:nvSpPr>
        <p:spPr>
          <a:xfrm>
            <a:off x="1066800" y="2247900"/>
            <a:ext cx="14716125" cy="16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4999"/>
              </a:lnSpc>
              <a:defRPr sz="6000" b="1" spc="-1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資料期間 2023-01 ～ 2025-05 · 五個城市</a:t>
            </a:r>
          </a:p>
        </p:txBody>
      </p:sp>
      <p:sp>
        <p:nvSpPr>
          <p:cNvPr id="69" name="Text 5"/>
          <p:cNvSpPr txBox="1"/>
          <p:nvPr/>
        </p:nvSpPr>
        <p:spPr>
          <a:xfrm>
            <a:off x="1066800" y="4000500"/>
            <a:ext cx="13735050" cy="582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41247">
              <a:lnSpc>
                <a:spcPct val="130000"/>
              </a:lnSpc>
              <a:defRPr sz="3036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台北市 · 新北市 · 台中市 · 高雄市 · 新竹市</a:t>
            </a:r>
          </a:p>
        </p:txBody>
      </p:sp>
      <p:sp>
        <p:nvSpPr>
          <p:cNvPr id="70" name="Shape 6"/>
          <p:cNvSpPr/>
          <p:nvPr/>
        </p:nvSpPr>
        <p:spPr>
          <a:xfrm>
            <a:off x="1066800" y="5421510"/>
            <a:ext cx="3881438" cy="3187751"/>
          </a:xfrm>
          <a:prstGeom prst="roundRect">
            <a:avLst>
              <a:gd name="adj" fmla="val 5378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" name="Text 7"/>
          <p:cNvSpPr txBox="1"/>
          <p:nvPr/>
        </p:nvSpPr>
        <p:spPr>
          <a:xfrm>
            <a:off x="1371600" y="5688210"/>
            <a:ext cx="3369993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95527">
              <a:defRPr sz="1392" spc="8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📋 ORDERS.CSV</a:t>
            </a:r>
          </a:p>
        </p:txBody>
      </p:sp>
      <p:sp>
        <p:nvSpPr>
          <p:cNvPr id="72" name="Text 8"/>
          <p:cNvSpPr txBox="1"/>
          <p:nvPr/>
        </p:nvSpPr>
        <p:spPr>
          <a:xfrm>
            <a:off x="1371600" y="6088260"/>
            <a:ext cx="3369993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5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20,000 筆</a:t>
            </a:r>
          </a:p>
        </p:txBody>
      </p:sp>
      <p:sp>
        <p:nvSpPr>
          <p:cNvPr id="73" name="Text 9"/>
          <p:cNvSpPr txBox="1"/>
          <p:nvPr/>
        </p:nvSpPr>
        <p:spPr>
          <a:xfrm>
            <a:off x="1371600" y="6688335"/>
            <a:ext cx="3369993" cy="1692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order_no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訂單編號 </a:t>
            </a:r>
            <a:r>
              <a:t>rent_start/end_dt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取還車時間 </a:t>
            </a:r>
            <a:r>
              <a:t>depart/return_lot_id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取還車站 </a:t>
            </a:r>
            <a:r>
              <a:t>car_series_name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車款 </a:t>
            </a:r>
            <a:r>
              <a:t>mileage_diff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里程</a:t>
            </a:r>
          </a:p>
        </p:txBody>
      </p:sp>
      <p:sp>
        <p:nvSpPr>
          <p:cNvPr id="74" name="Shape 10"/>
          <p:cNvSpPr/>
          <p:nvPr/>
        </p:nvSpPr>
        <p:spPr>
          <a:xfrm>
            <a:off x="5157787" y="5421510"/>
            <a:ext cx="3881439" cy="3187751"/>
          </a:xfrm>
          <a:prstGeom prst="roundRect">
            <a:avLst>
              <a:gd name="adj" fmla="val 5378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" name="Text 11"/>
          <p:cNvSpPr txBox="1"/>
          <p:nvPr/>
        </p:nvSpPr>
        <p:spPr>
          <a:xfrm>
            <a:off x="5462588" y="5688210"/>
            <a:ext cx="3369993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95527">
              <a:defRPr sz="1392" spc="8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📍 PARKING_LOTS.CSV</a:t>
            </a:r>
          </a:p>
        </p:txBody>
      </p:sp>
      <p:sp>
        <p:nvSpPr>
          <p:cNvPr id="76" name="Text 12"/>
          <p:cNvSpPr txBox="1"/>
          <p:nvPr/>
        </p:nvSpPr>
        <p:spPr>
          <a:xfrm>
            <a:off x="5462588" y="6088260"/>
            <a:ext cx="3369993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5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60 個站點</a:t>
            </a:r>
          </a:p>
        </p:txBody>
      </p:sp>
      <p:sp>
        <p:nvSpPr>
          <p:cNvPr id="77" name="Text 13"/>
          <p:cNvSpPr txBox="1"/>
          <p:nvPr/>
        </p:nvSpPr>
        <p:spPr>
          <a:xfrm>
            <a:off x="5462588" y="6688335"/>
            <a:ext cx="3369993" cy="136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parking_lot_id / name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識別 </a:t>
            </a:r>
            <a:r>
              <a:t>city / area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城市 + 行政區 </a:t>
            </a:r>
            <a:r>
              <a:t>longitude / latitude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GPS </a:t>
            </a:r>
            <a:r>
              <a:t>biz_type_desc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場域類型</a:t>
            </a:r>
          </a:p>
        </p:txBody>
      </p:sp>
      <p:sp>
        <p:nvSpPr>
          <p:cNvPr id="78" name="Shape 14"/>
          <p:cNvSpPr/>
          <p:nvPr/>
        </p:nvSpPr>
        <p:spPr>
          <a:xfrm>
            <a:off x="9248775" y="5421510"/>
            <a:ext cx="3881438" cy="3187751"/>
          </a:xfrm>
          <a:prstGeom prst="roundRect">
            <a:avLst>
              <a:gd name="adj" fmla="val 5378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Text 15"/>
          <p:cNvSpPr txBox="1"/>
          <p:nvPr/>
        </p:nvSpPr>
        <p:spPr>
          <a:xfrm>
            <a:off x="9553575" y="5688210"/>
            <a:ext cx="3369993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95527">
              <a:defRPr sz="1392" spc="8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🚲 AVAILABLE_CARS.CSV</a:t>
            </a:r>
          </a:p>
        </p:txBody>
      </p:sp>
      <p:sp>
        <p:nvSpPr>
          <p:cNvPr id="80" name="Text 16"/>
          <p:cNvSpPr txBox="1"/>
          <p:nvPr/>
        </p:nvSpPr>
        <p:spPr>
          <a:xfrm>
            <a:off x="9553575" y="6088260"/>
            <a:ext cx="3369993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5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423,000 筆</a:t>
            </a:r>
          </a:p>
        </p:txBody>
      </p:sp>
      <p:sp>
        <p:nvSpPr>
          <p:cNvPr id="81" name="Text 17"/>
          <p:cNvSpPr txBox="1"/>
          <p:nvPr/>
        </p:nvSpPr>
        <p:spPr>
          <a:xfrm>
            <a:off x="9553575" y="6688335"/>
            <a:ext cx="3369993" cy="136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available_date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日期 </a:t>
            </a:r>
            <a:r>
              <a:t>available_hour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0–23 小時 </a:t>
            </a:r>
            <a:r>
              <a:t>parking_lot_id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站點 </a:t>
            </a:r>
            <a:r>
              <a:t>available_cars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當時可借車輛</a:t>
            </a:r>
          </a:p>
        </p:txBody>
      </p:sp>
      <p:sp>
        <p:nvSpPr>
          <p:cNvPr id="82" name="Shape 18"/>
          <p:cNvSpPr/>
          <p:nvPr/>
        </p:nvSpPr>
        <p:spPr>
          <a:xfrm>
            <a:off x="13339762" y="5421510"/>
            <a:ext cx="3881439" cy="3187751"/>
          </a:xfrm>
          <a:prstGeom prst="roundRect">
            <a:avLst>
              <a:gd name="adj" fmla="val 5378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" name="Text 19"/>
          <p:cNvSpPr txBox="1"/>
          <p:nvPr/>
        </p:nvSpPr>
        <p:spPr>
          <a:xfrm>
            <a:off x="13644562" y="5688210"/>
            <a:ext cx="3369994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95527">
              <a:defRPr sz="1392" spc="8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📱 MAP_BROWSING.CSV</a:t>
            </a:r>
          </a:p>
        </p:txBody>
      </p:sp>
      <p:sp>
        <p:nvSpPr>
          <p:cNvPr id="84" name="Text 20"/>
          <p:cNvSpPr txBox="1"/>
          <p:nvPr/>
        </p:nvSpPr>
        <p:spPr>
          <a:xfrm>
            <a:off x="13644562" y="6088260"/>
            <a:ext cx="3369994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5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423,000 筆</a:t>
            </a:r>
          </a:p>
        </p:txBody>
      </p:sp>
      <p:sp>
        <p:nvSpPr>
          <p:cNvPr id="85" name="Text 21"/>
          <p:cNvSpPr txBox="1"/>
          <p:nvPr/>
        </p:nvSpPr>
        <p:spPr>
          <a:xfrm>
            <a:off x="13644562" y="6688335"/>
            <a:ext cx="3369994" cy="136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click_date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日期 </a:t>
            </a:r>
            <a:r>
              <a:t>click_hour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0–23 小時 </a:t>
            </a:r>
            <a:r>
              <a:t>parking_lot_id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被看的站 </a:t>
            </a:r>
            <a:r>
              <a:t>num_click_times </a:t>
            </a:r>
            <a:r>
              <a: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App 點擊次數</a:t>
            </a:r>
          </a:p>
        </p:txBody>
      </p:sp>
      <p:sp>
        <p:nvSpPr>
          <p:cNvPr id="86" name="Shape 22"/>
          <p:cNvSpPr/>
          <p:nvPr/>
        </p:nvSpPr>
        <p:spPr>
          <a:xfrm>
            <a:off x="1066800" y="8952161"/>
            <a:ext cx="16154400" cy="1340942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" name="Shape 23"/>
          <p:cNvSpPr/>
          <p:nvPr/>
        </p:nvSpPr>
        <p:spPr>
          <a:xfrm>
            <a:off x="1066800" y="8952161"/>
            <a:ext cx="57150" cy="134094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Text 24"/>
          <p:cNvSpPr txBox="1"/>
          <p:nvPr/>
        </p:nvSpPr>
        <p:spPr>
          <a:xfrm>
            <a:off x="1428749" y="9180761"/>
            <a:ext cx="15972284" cy="921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68095">
              <a:lnSpc>
                <a:spcPct val="145000"/>
              </a:lnSpc>
              <a:defRPr sz="201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怎麼讀這四個表？ </a:t>
            </a:r>
            <a:r>
              <a:rPr b="0">
                <a:solidFill>
                  <a:srgbClr val="1A1714"/>
                </a:solidFill>
              </a:rPr>
              <a:t>orders 是「實際發生」，available_cars 是「供給」，map_browsing 是「需求意圖」，parking_lots 是「地理 + 場域」字典。任何分析都是這四張表的某種 join。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" name="Text 1"/>
          <p:cNvSpPr txBox="1"/>
          <p:nvPr/>
        </p:nvSpPr>
        <p:spPr>
          <a:xfrm>
            <a:off x="1352549" y="914400"/>
            <a:ext cx="1828058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1.3 PRODUCT</a:t>
            </a:r>
          </a:p>
        </p:txBody>
      </p:sp>
      <p:sp>
        <p:nvSpPr>
          <p:cNvPr id="94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 / 41</a:t>
            </a:r>
          </a:p>
        </p:txBody>
      </p:sp>
      <p:sp>
        <p:nvSpPr>
          <p:cNvPr id="95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互動式儀表板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1066800" y="224790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76655">
              <a:lnSpc>
                <a:spcPct val="104999"/>
              </a:lnSpc>
              <a:defRPr sz="4440" b="1" spc="-7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四大功能模組（4 個 Tab）</a:t>
            </a:r>
          </a:p>
        </p:txBody>
      </p:sp>
      <p:sp>
        <p:nvSpPr>
          <p:cNvPr id="97" name="Shape 5"/>
          <p:cNvSpPr/>
          <p:nvPr/>
        </p:nvSpPr>
        <p:spPr>
          <a:xfrm>
            <a:off x="1066800" y="3657600"/>
            <a:ext cx="3881438" cy="4069259"/>
          </a:xfrm>
          <a:prstGeom prst="roundRect">
            <a:avLst>
              <a:gd name="adj" fmla="val 4417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Text 6"/>
          <p:cNvSpPr txBox="1"/>
          <p:nvPr/>
        </p:nvSpPr>
        <p:spPr>
          <a:xfrm>
            <a:off x="1371600" y="3924300"/>
            <a:ext cx="3369993" cy="752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defRPr sz="4116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📊</a:t>
            </a:r>
          </a:p>
        </p:txBody>
      </p:sp>
      <p:sp>
        <p:nvSpPr>
          <p:cNvPr id="99" name="Text 7"/>
          <p:cNvSpPr txBox="1"/>
          <p:nvPr/>
        </p:nvSpPr>
        <p:spPr>
          <a:xfrm>
            <a:off x="1371600" y="4686300"/>
            <a:ext cx="336999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TAB 1</a:t>
            </a:r>
          </a:p>
        </p:txBody>
      </p:sp>
      <p:sp>
        <p:nvSpPr>
          <p:cNvPr id="100" name="Text 8"/>
          <p:cNvSpPr txBox="1"/>
          <p:nvPr/>
        </p:nvSpPr>
        <p:spPr>
          <a:xfrm>
            <a:off x="1371600" y="5076825"/>
            <a:ext cx="3369993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2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總覽</a:t>
            </a:r>
          </a:p>
        </p:txBody>
      </p:sp>
      <p:sp>
        <p:nvSpPr>
          <p:cNvPr id="101" name="Text 9"/>
          <p:cNvSpPr txBox="1"/>
          <p:nvPr/>
        </p:nvSpPr>
        <p:spPr>
          <a:xfrm>
            <a:off x="1371600" y="5629275"/>
            <a:ext cx="3369993" cy="1609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50000"/>
              </a:lnSpc>
              <a:def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5 個 KPI 指標卡 月借車趨勢長條圖 熱門車款 Top 10 24 小時借車分布 星期別借車分析</a:t>
            </a:r>
          </a:p>
        </p:txBody>
      </p:sp>
      <p:sp>
        <p:nvSpPr>
          <p:cNvPr id="102" name="Shape 10"/>
          <p:cNvSpPr/>
          <p:nvPr/>
        </p:nvSpPr>
        <p:spPr>
          <a:xfrm>
            <a:off x="5157787" y="3657600"/>
            <a:ext cx="3881439" cy="4069259"/>
          </a:xfrm>
          <a:prstGeom prst="roundRect">
            <a:avLst>
              <a:gd name="adj" fmla="val 4417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" name="Text 11"/>
          <p:cNvSpPr txBox="1"/>
          <p:nvPr/>
        </p:nvSpPr>
        <p:spPr>
          <a:xfrm>
            <a:off x="5462588" y="3924300"/>
            <a:ext cx="3369993" cy="752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defRPr sz="4116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🗺️</a:t>
            </a:r>
          </a:p>
        </p:txBody>
      </p:sp>
      <p:sp>
        <p:nvSpPr>
          <p:cNvPr id="104" name="Text 12"/>
          <p:cNvSpPr txBox="1"/>
          <p:nvPr/>
        </p:nvSpPr>
        <p:spPr>
          <a:xfrm>
            <a:off x="5462588" y="4686300"/>
            <a:ext cx="336999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TAB 2</a:t>
            </a:r>
          </a:p>
        </p:txBody>
      </p:sp>
      <p:sp>
        <p:nvSpPr>
          <p:cNvPr id="105" name="Text 13"/>
          <p:cNvSpPr txBox="1"/>
          <p:nvPr/>
        </p:nvSpPr>
        <p:spPr>
          <a:xfrm>
            <a:off x="5462588" y="5076825"/>
            <a:ext cx="3369993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2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地理分布</a:t>
            </a:r>
          </a:p>
        </p:txBody>
      </p:sp>
      <p:sp>
        <p:nvSpPr>
          <p:cNvPr id="106" name="Text 14"/>
          <p:cNvSpPr txBox="1"/>
          <p:nvPr/>
        </p:nvSpPr>
        <p:spPr>
          <a:xfrm>
            <a:off x="5462588" y="5629275"/>
            <a:ext cx="3369993" cy="129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50000"/>
              </a:lnSpc>
              <a:def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互動地圖（OSM） 城市借車佔比圓餅 熱門行政區 Top 15 場域類型 站點/訂單</a:t>
            </a:r>
          </a:p>
        </p:txBody>
      </p:sp>
      <p:sp>
        <p:nvSpPr>
          <p:cNvPr id="107" name="Shape 15"/>
          <p:cNvSpPr/>
          <p:nvPr/>
        </p:nvSpPr>
        <p:spPr>
          <a:xfrm>
            <a:off x="9248775" y="3657600"/>
            <a:ext cx="3881438" cy="4069259"/>
          </a:xfrm>
          <a:prstGeom prst="roundRect">
            <a:avLst>
              <a:gd name="adj" fmla="val 4417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" name="Text 16"/>
          <p:cNvSpPr txBox="1"/>
          <p:nvPr/>
        </p:nvSpPr>
        <p:spPr>
          <a:xfrm>
            <a:off x="9553575" y="3924300"/>
            <a:ext cx="3369993" cy="752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defRPr sz="4116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📈</a:t>
            </a:r>
          </a:p>
        </p:txBody>
      </p:sp>
      <p:sp>
        <p:nvSpPr>
          <p:cNvPr id="109" name="Text 17"/>
          <p:cNvSpPr txBox="1"/>
          <p:nvPr/>
        </p:nvSpPr>
        <p:spPr>
          <a:xfrm>
            <a:off x="9553575" y="4686300"/>
            <a:ext cx="336999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TAB 3</a:t>
            </a:r>
          </a:p>
        </p:txBody>
      </p:sp>
      <p:sp>
        <p:nvSpPr>
          <p:cNvPr id="110" name="Text 18"/>
          <p:cNvSpPr txBox="1"/>
          <p:nvPr/>
        </p:nvSpPr>
        <p:spPr>
          <a:xfrm>
            <a:off x="9553575" y="5076825"/>
            <a:ext cx="3369993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2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需求分析</a:t>
            </a:r>
          </a:p>
        </p:txBody>
      </p:sp>
      <p:sp>
        <p:nvSpPr>
          <p:cNvPr id="111" name="Text 19"/>
          <p:cNvSpPr txBox="1"/>
          <p:nvPr/>
        </p:nvSpPr>
        <p:spPr>
          <a:xfrm>
            <a:off x="9553575" y="5629275"/>
            <a:ext cx="3369993" cy="129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50000"/>
              </a:lnSpc>
              <a:def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星期 × 小時熱力圖 每日供需雙軸折線 逐小時供需 Bar+Line 時長 &amp; 里程直方圖</a:t>
            </a:r>
          </a:p>
        </p:txBody>
      </p:sp>
      <p:sp>
        <p:nvSpPr>
          <p:cNvPr id="112" name="Shape 20"/>
          <p:cNvSpPr/>
          <p:nvPr/>
        </p:nvSpPr>
        <p:spPr>
          <a:xfrm>
            <a:off x="13339762" y="3657600"/>
            <a:ext cx="3881439" cy="4069259"/>
          </a:xfrm>
          <a:prstGeom prst="roundRect">
            <a:avLst>
              <a:gd name="adj" fmla="val 4417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" name="Text 21"/>
          <p:cNvSpPr txBox="1"/>
          <p:nvPr/>
        </p:nvSpPr>
        <p:spPr>
          <a:xfrm>
            <a:off x="13644562" y="3924300"/>
            <a:ext cx="3369994" cy="752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defRPr sz="4116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🔍</a:t>
            </a:r>
          </a:p>
        </p:txBody>
      </p:sp>
      <p:sp>
        <p:nvSpPr>
          <p:cNvPr id="114" name="Text 22"/>
          <p:cNvSpPr txBox="1"/>
          <p:nvPr/>
        </p:nvSpPr>
        <p:spPr>
          <a:xfrm>
            <a:off x="13644562" y="4686300"/>
            <a:ext cx="3369994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TAB 4</a:t>
            </a:r>
          </a:p>
        </p:txBody>
      </p:sp>
      <p:sp>
        <p:nvSpPr>
          <p:cNvPr id="115" name="Text 23"/>
          <p:cNvSpPr txBox="1"/>
          <p:nvPr/>
        </p:nvSpPr>
        <p:spPr>
          <a:xfrm>
            <a:off x="13644562" y="5076825"/>
            <a:ext cx="3369994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2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站點深探</a:t>
            </a:r>
          </a:p>
        </p:txBody>
      </p:sp>
      <p:sp>
        <p:nvSpPr>
          <p:cNvPr id="116" name="Text 24"/>
          <p:cNvSpPr txBox="1"/>
          <p:nvPr/>
        </p:nvSpPr>
        <p:spPr>
          <a:xfrm>
            <a:off x="13644562" y="5629275"/>
            <a:ext cx="3369994" cy="129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50000"/>
              </a:lnSpc>
              <a:defRPr sz="16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單站借車時段分布 站點供需對比 App → 借車轉換率 熱門還車目的地 Top 10</a:t>
            </a:r>
          </a:p>
        </p:txBody>
      </p:sp>
      <p:sp>
        <p:nvSpPr>
          <p:cNvPr id="117" name="Shape 25"/>
          <p:cNvSpPr/>
          <p:nvPr/>
        </p:nvSpPr>
        <p:spPr>
          <a:xfrm>
            <a:off x="1066800" y="8145959"/>
            <a:ext cx="16154400" cy="1340942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Shape 26"/>
          <p:cNvSpPr/>
          <p:nvPr/>
        </p:nvSpPr>
        <p:spPr>
          <a:xfrm>
            <a:off x="1066800" y="8145959"/>
            <a:ext cx="57150" cy="134094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Text 27"/>
          <p:cNvSpPr txBox="1"/>
          <p:nvPr/>
        </p:nvSpPr>
        <p:spPr>
          <a:xfrm>
            <a:off x="1428749" y="8374559"/>
            <a:ext cx="15972284" cy="921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68095">
              <a:lnSpc>
                <a:spcPct val="145000"/>
              </a:lnSpc>
              <a:defRPr sz="201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為什麼分 4 個 Tab？ </a:t>
            </a:r>
            <a:r>
              <a:rPr b="0">
                <a:solidFill>
                  <a:srgbClr val="1A1714"/>
                </a:solidFill>
              </a:rPr>
              <a:t>決策層先看「總覽」、營運層看「需求」、選址規劃看「地理」、行銷投放看「站點深探」——不同角色、不同問題、不同分頁。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4" name="Text 1"/>
          <p:cNvSpPr txBox="1"/>
          <p:nvPr/>
        </p:nvSpPr>
        <p:spPr>
          <a:xfrm>
            <a:off x="1352550" y="914400"/>
            <a:ext cx="166881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1.4 CHARTS</a:t>
            </a:r>
          </a:p>
        </p:txBody>
      </p:sp>
      <p:sp>
        <p:nvSpPr>
          <p:cNvPr id="125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 / 41</a:t>
            </a:r>
          </a:p>
        </p:txBody>
      </p:sp>
      <p:sp>
        <p:nvSpPr>
          <p:cNvPr id="126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涵蓋 12+ 種視覺化圖表</a:t>
            </a:r>
          </a:p>
        </p:txBody>
      </p:sp>
      <p:sp>
        <p:nvSpPr>
          <p:cNvPr id="127" name="Text 4"/>
          <p:cNvSpPr txBox="1"/>
          <p:nvPr/>
        </p:nvSpPr>
        <p:spPr>
          <a:xfrm>
            <a:off x="1066800" y="2247900"/>
            <a:ext cx="14716125" cy="16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104999"/>
              </a:lnSpc>
              <a:defRPr sz="5880" b="1" spc="-98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全部用 Plotly Express / Graph Objects 實作</a:t>
            </a:r>
          </a:p>
        </p:txBody>
      </p:sp>
      <p:sp>
        <p:nvSpPr>
          <p:cNvPr id="128" name="Text 5"/>
          <p:cNvSpPr txBox="1"/>
          <p:nvPr/>
        </p:nvSpPr>
        <p:spPr>
          <a:xfrm>
            <a:off x="1066800" y="4000500"/>
            <a:ext cx="13735050" cy="582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41247">
              <a:lnSpc>
                <a:spcPct val="130000"/>
              </a:lnSpc>
              <a:defRPr sz="3036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 err="1"/>
              <a:t>支援縮放、篩選、滑鼠懸停</a:t>
            </a:r>
            <a:r>
              <a:rPr dirty="0"/>
              <a:t> — </a:t>
            </a:r>
            <a:r>
              <a:rPr dirty="0" err="1"/>
              <a:t>都是互動式</a:t>
            </a:r>
            <a:r>
              <a:rPr dirty="0"/>
              <a:t>。</a:t>
            </a:r>
          </a:p>
        </p:txBody>
      </p:sp>
      <p:sp>
        <p:nvSpPr>
          <p:cNvPr id="129" name="Shape 6"/>
          <p:cNvSpPr/>
          <p:nvPr/>
        </p:nvSpPr>
        <p:spPr>
          <a:xfrm>
            <a:off x="1066800" y="6329560"/>
            <a:ext cx="24765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Text 7"/>
          <p:cNvSpPr txBox="1"/>
          <p:nvPr/>
        </p:nvSpPr>
        <p:spPr>
          <a:xfrm>
            <a:off x="1257300" y="5592960"/>
            <a:ext cx="2171700" cy="604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圖表類型</a:t>
            </a:r>
          </a:p>
        </p:txBody>
      </p:sp>
      <p:sp>
        <p:nvSpPr>
          <p:cNvPr id="131" name="Shape 8"/>
          <p:cNvSpPr/>
          <p:nvPr/>
        </p:nvSpPr>
        <p:spPr>
          <a:xfrm>
            <a:off x="3543300" y="6329560"/>
            <a:ext cx="19050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" name="Text 9"/>
          <p:cNvSpPr txBox="1"/>
          <p:nvPr/>
        </p:nvSpPr>
        <p:spPr>
          <a:xfrm>
            <a:off x="3733800" y="5592960"/>
            <a:ext cx="1600200" cy="604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這份報告用在哪</a:t>
            </a:r>
          </a:p>
        </p:txBody>
      </p:sp>
      <p:sp>
        <p:nvSpPr>
          <p:cNvPr id="133" name="Shape 10"/>
          <p:cNvSpPr/>
          <p:nvPr/>
        </p:nvSpPr>
        <p:spPr>
          <a:xfrm>
            <a:off x="5448300" y="6329560"/>
            <a:ext cx="117729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" name="Text 11"/>
          <p:cNvSpPr txBox="1"/>
          <p:nvPr/>
        </p:nvSpPr>
        <p:spPr>
          <a:xfrm>
            <a:off x="5638800" y="5592960"/>
            <a:ext cx="11745087" cy="604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看什麼樣的問題</a:t>
            </a:r>
          </a:p>
        </p:txBody>
      </p:sp>
      <p:sp>
        <p:nvSpPr>
          <p:cNvPr id="135" name="Shape 12"/>
          <p:cNvSpPr/>
          <p:nvPr/>
        </p:nvSpPr>
        <p:spPr>
          <a:xfrm>
            <a:off x="1066800" y="7739260"/>
            <a:ext cx="24765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Text 13"/>
          <p:cNvSpPr txBox="1"/>
          <p:nvPr/>
        </p:nvSpPr>
        <p:spPr>
          <a:xfrm>
            <a:off x="1257300" y="6512122"/>
            <a:ext cx="2171700" cy="109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長條圖 </a:t>
            </a:r>
            <a:r>
              <a:rPr b="0"/>
              <a:t>· Bar</a:t>
            </a:r>
          </a:p>
        </p:txBody>
      </p:sp>
      <p:sp>
        <p:nvSpPr>
          <p:cNvPr id="137" name="Shape 14"/>
          <p:cNvSpPr/>
          <p:nvPr/>
        </p:nvSpPr>
        <p:spPr>
          <a:xfrm>
            <a:off x="3543300" y="7739260"/>
            <a:ext cx="19050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" name="Text 15"/>
          <p:cNvSpPr txBox="1"/>
          <p:nvPr/>
        </p:nvSpPr>
        <p:spPr>
          <a:xfrm>
            <a:off x="3733800" y="6512122"/>
            <a:ext cx="1600200" cy="109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月趨勢、Top10、行政區</a:t>
            </a:r>
          </a:p>
        </p:txBody>
      </p:sp>
      <p:sp>
        <p:nvSpPr>
          <p:cNvPr id="139" name="Shape 16"/>
          <p:cNvSpPr/>
          <p:nvPr/>
        </p:nvSpPr>
        <p:spPr>
          <a:xfrm>
            <a:off x="5448300" y="7739260"/>
            <a:ext cx="117729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Text 17"/>
          <p:cNvSpPr txBox="1"/>
          <p:nvPr/>
        </p:nvSpPr>
        <p:spPr>
          <a:xfrm>
            <a:off x="5638800" y="6512122"/>
            <a:ext cx="11745087" cy="109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看「比較」與「排名」</a:t>
            </a:r>
          </a:p>
        </p:txBody>
      </p:sp>
      <p:sp>
        <p:nvSpPr>
          <p:cNvPr id="141" name="Shape 18"/>
          <p:cNvSpPr/>
          <p:nvPr/>
        </p:nvSpPr>
        <p:spPr>
          <a:xfrm>
            <a:off x="1066800" y="8796535"/>
            <a:ext cx="24765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" name="Text 19"/>
          <p:cNvSpPr txBox="1"/>
          <p:nvPr/>
        </p:nvSpPr>
        <p:spPr>
          <a:xfrm>
            <a:off x="1257300" y="7921822"/>
            <a:ext cx="2171700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區域圖 </a:t>
            </a:r>
            <a:r>
              <a:rPr b="0"/>
              <a:t>· Area</a:t>
            </a:r>
          </a:p>
        </p:txBody>
      </p:sp>
      <p:sp>
        <p:nvSpPr>
          <p:cNvPr id="143" name="Shape 20"/>
          <p:cNvSpPr/>
          <p:nvPr/>
        </p:nvSpPr>
        <p:spPr>
          <a:xfrm>
            <a:off x="3543300" y="8796535"/>
            <a:ext cx="19050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Text 21"/>
          <p:cNvSpPr txBox="1"/>
          <p:nvPr/>
        </p:nvSpPr>
        <p:spPr>
          <a:xfrm>
            <a:off x="3733800" y="7921822"/>
            <a:ext cx="1600200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/>
              <a:t>24 </a:t>
            </a:r>
            <a:r>
              <a:rPr dirty="0" err="1"/>
              <a:t>小時借車曲線</a:t>
            </a:r>
            <a:endParaRPr dirty="0"/>
          </a:p>
        </p:txBody>
      </p:sp>
      <p:sp>
        <p:nvSpPr>
          <p:cNvPr id="145" name="Shape 22"/>
          <p:cNvSpPr/>
          <p:nvPr/>
        </p:nvSpPr>
        <p:spPr>
          <a:xfrm>
            <a:off x="5448300" y="8796535"/>
            <a:ext cx="117729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" name="Text 23"/>
          <p:cNvSpPr txBox="1"/>
          <p:nvPr/>
        </p:nvSpPr>
        <p:spPr>
          <a:xfrm>
            <a:off x="5638800" y="7921822"/>
            <a:ext cx="11745087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看「趨勢」與「累積」</a:t>
            </a:r>
          </a:p>
        </p:txBody>
      </p:sp>
      <p:sp>
        <p:nvSpPr>
          <p:cNvPr id="147" name="Shape 24"/>
          <p:cNvSpPr/>
          <p:nvPr/>
        </p:nvSpPr>
        <p:spPr>
          <a:xfrm>
            <a:off x="1066800" y="9853810"/>
            <a:ext cx="24765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Text 25"/>
          <p:cNvSpPr txBox="1"/>
          <p:nvPr/>
        </p:nvSpPr>
        <p:spPr>
          <a:xfrm>
            <a:off x="1257300" y="8979097"/>
            <a:ext cx="2171700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熱力圖 </a:t>
            </a:r>
            <a:r>
              <a:rPr b="0"/>
              <a:t>· Heatmap</a:t>
            </a:r>
          </a:p>
        </p:txBody>
      </p:sp>
      <p:sp>
        <p:nvSpPr>
          <p:cNvPr id="149" name="Shape 26"/>
          <p:cNvSpPr/>
          <p:nvPr/>
        </p:nvSpPr>
        <p:spPr>
          <a:xfrm>
            <a:off x="3543300" y="9853810"/>
            <a:ext cx="19050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" name="Text 27"/>
          <p:cNvSpPr txBox="1"/>
          <p:nvPr/>
        </p:nvSpPr>
        <p:spPr>
          <a:xfrm>
            <a:off x="3733800" y="8979097"/>
            <a:ext cx="1600200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星期 × 小時 借車熱度</a:t>
            </a:r>
          </a:p>
        </p:txBody>
      </p:sp>
      <p:sp>
        <p:nvSpPr>
          <p:cNvPr id="151" name="Shape 28"/>
          <p:cNvSpPr/>
          <p:nvPr/>
        </p:nvSpPr>
        <p:spPr>
          <a:xfrm>
            <a:off x="5448300" y="9853810"/>
            <a:ext cx="117729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2" name="Text 29"/>
          <p:cNvSpPr txBox="1"/>
          <p:nvPr/>
        </p:nvSpPr>
        <p:spPr>
          <a:xfrm>
            <a:off x="5638800" y="8979097"/>
            <a:ext cx="11745087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看「兩個維度」的密度</a:t>
            </a:r>
          </a:p>
        </p:txBody>
      </p:sp>
      <p:sp>
        <p:nvSpPr>
          <p:cNvPr id="153" name="Shape 30"/>
          <p:cNvSpPr/>
          <p:nvPr/>
        </p:nvSpPr>
        <p:spPr>
          <a:xfrm>
            <a:off x="1066800" y="10911085"/>
            <a:ext cx="24765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" name="Text 31"/>
          <p:cNvSpPr txBox="1"/>
          <p:nvPr/>
        </p:nvSpPr>
        <p:spPr>
          <a:xfrm>
            <a:off x="1257300" y="10036372"/>
            <a:ext cx="2171700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圓餅 / 甜甜圈 </a:t>
            </a:r>
            <a:r>
              <a:rPr b="0"/>
              <a:t>· Pie</a:t>
            </a:r>
          </a:p>
        </p:txBody>
      </p:sp>
      <p:sp>
        <p:nvSpPr>
          <p:cNvPr id="155" name="Shape 32"/>
          <p:cNvSpPr/>
          <p:nvPr/>
        </p:nvSpPr>
        <p:spPr>
          <a:xfrm>
            <a:off x="3543300" y="10911085"/>
            <a:ext cx="19050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Text 33"/>
          <p:cNvSpPr txBox="1"/>
          <p:nvPr/>
        </p:nvSpPr>
        <p:spPr>
          <a:xfrm>
            <a:off x="3733800" y="10036372"/>
            <a:ext cx="1600200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城市佔比、場域類型佔比</a:t>
            </a:r>
          </a:p>
        </p:txBody>
      </p:sp>
      <p:sp>
        <p:nvSpPr>
          <p:cNvPr id="157" name="Shape 34"/>
          <p:cNvSpPr/>
          <p:nvPr/>
        </p:nvSpPr>
        <p:spPr>
          <a:xfrm>
            <a:off x="5448300" y="10911085"/>
            <a:ext cx="117729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Text 35"/>
          <p:cNvSpPr txBox="1"/>
          <p:nvPr/>
        </p:nvSpPr>
        <p:spPr>
          <a:xfrm>
            <a:off x="5638800" y="10036372"/>
            <a:ext cx="11745087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看「結構性占比」</a:t>
            </a:r>
          </a:p>
        </p:txBody>
      </p:sp>
      <p:sp>
        <p:nvSpPr>
          <p:cNvPr id="159" name="Shape 36"/>
          <p:cNvSpPr/>
          <p:nvPr/>
        </p:nvSpPr>
        <p:spPr>
          <a:xfrm>
            <a:off x="1066800" y="11968360"/>
            <a:ext cx="24765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" name="Text 37"/>
          <p:cNvSpPr txBox="1"/>
          <p:nvPr/>
        </p:nvSpPr>
        <p:spPr>
          <a:xfrm>
            <a:off x="1257300" y="11093647"/>
            <a:ext cx="2171700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散點地圖 </a:t>
            </a:r>
            <a:r>
              <a:rPr b="0"/>
              <a:t>· Mapbox</a:t>
            </a:r>
          </a:p>
        </p:txBody>
      </p:sp>
      <p:sp>
        <p:nvSpPr>
          <p:cNvPr id="161" name="Shape 38"/>
          <p:cNvSpPr/>
          <p:nvPr/>
        </p:nvSpPr>
        <p:spPr>
          <a:xfrm>
            <a:off x="3543300" y="11968360"/>
            <a:ext cx="19050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2" name="Text 39"/>
          <p:cNvSpPr txBox="1"/>
          <p:nvPr/>
        </p:nvSpPr>
        <p:spPr>
          <a:xfrm>
            <a:off x="3733800" y="11093647"/>
            <a:ext cx="1600200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全台站點 + 借車次數泡泡</a:t>
            </a:r>
          </a:p>
        </p:txBody>
      </p:sp>
      <p:sp>
        <p:nvSpPr>
          <p:cNvPr id="163" name="Shape 40"/>
          <p:cNvSpPr/>
          <p:nvPr/>
        </p:nvSpPr>
        <p:spPr>
          <a:xfrm>
            <a:off x="5448300" y="11968360"/>
            <a:ext cx="117729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Text 41"/>
          <p:cNvSpPr txBox="1"/>
          <p:nvPr/>
        </p:nvSpPr>
        <p:spPr>
          <a:xfrm>
            <a:off x="5638800" y="11093647"/>
            <a:ext cx="11745087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看「地理分佈」</a:t>
            </a:r>
          </a:p>
        </p:txBody>
      </p:sp>
      <p:sp>
        <p:nvSpPr>
          <p:cNvPr id="165" name="Shape 42"/>
          <p:cNvSpPr/>
          <p:nvPr/>
        </p:nvSpPr>
        <p:spPr>
          <a:xfrm>
            <a:off x="1066800" y="13025635"/>
            <a:ext cx="24765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Text 43"/>
          <p:cNvSpPr txBox="1"/>
          <p:nvPr/>
        </p:nvSpPr>
        <p:spPr>
          <a:xfrm>
            <a:off x="1257300" y="12150922"/>
            <a:ext cx="2171700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雙軸複合圖 </a:t>
            </a:r>
            <a:r>
              <a:rPr b="0"/>
              <a:t>· Bar+Line</a:t>
            </a:r>
          </a:p>
        </p:txBody>
      </p:sp>
      <p:sp>
        <p:nvSpPr>
          <p:cNvPr id="167" name="Shape 44"/>
          <p:cNvSpPr/>
          <p:nvPr/>
        </p:nvSpPr>
        <p:spPr>
          <a:xfrm>
            <a:off x="3543300" y="13025635"/>
            <a:ext cx="19050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Text 45"/>
          <p:cNvSpPr txBox="1"/>
          <p:nvPr/>
        </p:nvSpPr>
        <p:spPr>
          <a:xfrm>
            <a:off x="3733800" y="12150922"/>
            <a:ext cx="1600200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供給 vs 需求疊加</a:t>
            </a:r>
          </a:p>
        </p:txBody>
      </p:sp>
      <p:sp>
        <p:nvSpPr>
          <p:cNvPr id="169" name="Shape 46"/>
          <p:cNvSpPr/>
          <p:nvPr/>
        </p:nvSpPr>
        <p:spPr>
          <a:xfrm>
            <a:off x="5448300" y="13025635"/>
            <a:ext cx="117729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0" name="Text 47"/>
          <p:cNvSpPr txBox="1"/>
          <p:nvPr/>
        </p:nvSpPr>
        <p:spPr>
          <a:xfrm>
            <a:off x="5638800" y="12150922"/>
            <a:ext cx="11745087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看「量級差很大」的對照</a:t>
            </a:r>
          </a:p>
        </p:txBody>
      </p:sp>
      <p:sp>
        <p:nvSpPr>
          <p:cNvPr id="171" name="Text 48"/>
          <p:cNvSpPr txBox="1"/>
          <p:nvPr/>
        </p:nvSpPr>
        <p:spPr>
          <a:xfrm>
            <a:off x="1257300" y="13208198"/>
            <a:ext cx="2171700" cy="747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直方圖 </a:t>
            </a:r>
            <a:r>
              <a:rPr b="0"/>
              <a:t>· Histogram</a:t>
            </a:r>
          </a:p>
        </p:txBody>
      </p:sp>
      <p:sp>
        <p:nvSpPr>
          <p:cNvPr id="172" name="Text 49"/>
          <p:cNvSpPr txBox="1"/>
          <p:nvPr/>
        </p:nvSpPr>
        <p:spPr>
          <a:xfrm>
            <a:off x="3733800" y="13208198"/>
            <a:ext cx="1600200" cy="747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時長 / 里程分布</a:t>
            </a:r>
          </a:p>
        </p:txBody>
      </p:sp>
      <p:sp>
        <p:nvSpPr>
          <p:cNvPr id="173" name="Text 50"/>
          <p:cNvSpPr txBox="1"/>
          <p:nvPr/>
        </p:nvSpPr>
        <p:spPr>
          <a:xfrm>
            <a:off x="5638800" y="13208198"/>
            <a:ext cx="11745087" cy="747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看「單一變數」的分布形狀</a:t>
            </a:r>
          </a:p>
        </p:txBody>
      </p:sp>
      <p:sp>
        <p:nvSpPr>
          <p:cNvPr id="174" name="Shape 51"/>
          <p:cNvSpPr/>
          <p:nvPr/>
        </p:nvSpPr>
        <p:spPr>
          <a:xfrm>
            <a:off x="1066800" y="14432160"/>
            <a:ext cx="16154400" cy="1340942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5" name="Shape 52"/>
          <p:cNvSpPr/>
          <p:nvPr/>
        </p:nvSpPr>
        <p:spPr>
          <a:xfrm>
            <a:off x="1066800" y="14432160"/>
            <a:ext cx="57150" cy="134094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" name="Text 53"/>
          <p:cNvSpPr txBox="1"/>
          <p:nvPr/>
        </p:nvSpPr>
        <p:spPr>
          <a:xfrm>
            <a:off x="1428749" y="14660760"/>
            <a:ext cx="15972284" cy="921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96111">
              <a:lnSpc>
                <a:spcPct val="145000"/>
              </a:lnSpc>
              <a:defRPr sz="2352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選圖原則： </a:t>
            </a:r>
            <a:r>
              <a:rPr b="0">
                <a:solidFill>
                  <a:srgbClr val="1A1714"/>
                </a:solidFill>
              </a:rPr>
              <a:t>先問「我想回答什麼問題」，再決定要用哪個圖。同一個問題用對的圖一張就講完，用錯的圖三張還說不清。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Text 1"/>
          <p:cNvSpPr txBox="1"/>
          <p:nvPr/>
        </p:nvSpPr>
        <p:spPr>
          <a:xfrm>
            <a:off x="1352549" y="914400"/>
            <a:ext cx="1828058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2.0 OUTLINE</a:t>
            </a:r>
          </a:p>
        </p:txBody>
      </p:sp>
      <p:sp>
        <p:nvSpPr>
          <p:cNvPr id="182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 / 41</a:t>
            </a:r>
          </a:p>
        </p:txBody>
      </p:sp>
      <p:sp>
        <p:nvSpPr>
          <p:cNvPr id="183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本節涵蓋</a:t>
            </a:r>
          </a:p>
        </p:txBody>
      </p:sp>
      <p:sp>
        <p:nvSpPr>
          <p:cNvPr id="184" name="Text 4"/>
          <p:cNvSpPr txBox="1"/>
          <p:nvPr/>
        </p:nvSpPr>
        <p:spPr>
          <a:xfrm>
            <a:off x="1066800" y="224790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76655">
              <a:lnSpc>
                <a:spcPct val="104999"/>
              </a:lnSpc>
              <a:defRPr sz="4440" b="1" spc="-7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課程大綱：函式與圖表</a:t>
            </a:r>
          </a:p>
        </p:txBody>
      </p:sp>
      <p:sp>
        <p:nvSpPr>
          <p:cNvPr id="185" name="Shape 5"/>
          <p:cNvSpPr/>
          <p:nvPr/>
        </p:nvSpPr>
        <p:spPr>
          <a:xfrm>
            <a:off x="1066800" y="3657600"/>
            <a:ext cx="7905750" cy="2362200"/>
          </a:xfrm>
          <a:prstGeom prst="roundRect">
            <a:avLst>
              <a:gd name="adj" fmla="val 7258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" name="Text 6"/>
          <p:cNvSpPr txBox="1"/>
          <p:nvPr/>
        </p:nvSpPr>
        <p:spPr>
          <a:xfrm>
            <a:off x="1371599" y="3924300"/>
            <a:ext cx="556322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31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87" name="Text 7"/>
          <p:cNvSpPr txBox="1"/>
          <p:nvPr/>
        </p:nvSpPr>
        <p:spPr>
          <a:xfrm>
            <a:off x="2080319" y="4000500"/>
            <a:ext cx="2547343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2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Streamlit 基礎元件</a:t>
            </a:r>
          </a:p>
        </p:txBody>
      </p:sp>
      <p:sp>
        <p:nvSpPr>
          <p:cNvPr id="188" name="Shape 8"/>
          <p:cNvSpPr/>
          <p:nvPr/>
        </p:nvSpPr>
        <p:spPr>
          <a:xfrm>
            <a:off x="1371600" y="4591050"/>
            <a:ext cx="257175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" name="Text 9"/>
          <p:cNvSpPr txBox="1"/>
          <p:nvPr/>
        </p:nvSpPr>
        <p:spPr>
          <a:xfrm>
            <a:off x="1543049" y="4686300"/>
            <a:ext cx="2306005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set_page_config</a:t>
            </a:r>
          </a:p>
        </p:txBody>
      </p:sp>
      <p:sp>
        <p:nvSpPr>
          <p:cNvPr id="190" name="Shape 10"/>
          <p:cNvSpPr/>
          <p:nvPr/>
        </p:nvSpPr>
        <p:spPr>
          <a:xfrm>
            <a:off x="4057650" y="4591050"/>
            <a:ext cx="182880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Text 11"/>
          <p:cNvSpPr txBox="1"/>
          <p:nvPr/>
        </p:nvSpPr>
        <p:spPr>
          <a:xfrm>
            <a:off x="4229100" y="4686300"/>
            <a:ext cx="15621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cache_data</a:t>
            </a:r>
          </a:p>
        </p:txBody>
      </p:sp>
      <p:sp>
        <p:nvSpPr>
          <p:cNvPr id="192" name="Shape 12"/>
          <p:cNvSpPr/>
          <p:nvPr/>
        </p:nvSpPr>
        <p:spPr>
          <a:xfrm>
            <a:off x="6000750" y="4591050"/>
            <a:ext cx="138306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3" name="Text 13"/>
          <p:cNvSpPr txBox="1"/>
          <p:nvPr/>
        </p:nvSpPr>
        <p:spPr>
          <a:xfrm>
            <a:off x="6172200" y="4686300"/>
            <a:ext cx="111636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spinner</a:t>
            </a:r>
          </a:p>
        </p:txBody>
      </p:sp>
      <p:sp>
        <p:nvSpPr>
          <p:cNvPr id="194" name="Shape 14"/>
          <p:cNvSpPr/>
          <p:nvPr/>
        </p:nvSpPr>
        <p:spPr>
          <a:xfrm>
            <a:off x="1371600" y="5229225"/>
            <a:ext cx="138306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5" name="Text 15"/>
          <p:cNvSpPr txBox="1"/>
          <p:nvPr/>
        </p:nvSpPr>
        <p:spPr>
          <a:xfrm>
            <a:off x="1543050" y="5324475"/>
            <a:ext cx="111636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sidebar</a:t>
            </a:r>
          </a:p>
        </p:txBody>
      </p:sp>
      <p:sp>
        <p:nvSpPr>
          <p:cNvPr id="196" name="Shape 16"/>
          <p:cNvSpPr/>
          <p:nvPr/>
        </p:nvSpPr>
        <p:spPr>
          <a:xfrm>
            <a:off x="2868959" y="5229225"/>
            <a:ext cx="123453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7" name="Text 17"/>
          <p:cNvSpPr txBox="1"/>
          <p:nvPr/>
        </p:nvSpPr>
        <p:spPr>
          <a:xfrm>
            <a:off x="3040409" y="5324475"/>
            <a:ext cx="96783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metric</a:t>
            </a:r>
          </a:p>
        </p:txBody>
      </p:sp>
      <p:sp>
        <p:nvSpPr>
          <p:cNvPr id="198" name="Shape 18"/>
          <p:cNvSpPr/>
          <p:nvPr/>
        </p:nvSpPr>
        <p:spPr>
          <a:xfrm>
            <a:off x="4217789" y="5229225"/>
            <a:ext cx="93732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Text 19"/>
          <p:cNvSpPr txBox="1"/>
          <p:nvPr/>
        </p:nvSpPr>
        <p:spPr>
          <a:xfrm>
            <a:off x="4389239" y="5324475"/>
            <a:ext cx="67062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info</a:t>
            </a:r>
          </a:p>
        </p:txBody>
      </p:sp>
      <p:sp>
        <p:nvSpPr>
          <p:cNvPr id="200" name="Shape 20"/>
          <p:cNvSpPr/>
          <p:nvPr/>
        </p:nvSpPr>
        <p:spPr>
          <a:xfrm>
            <a:off x="5269408" y="5229225"/>
            <a:ext cx="153174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Text 21"/>
          <p:cNvSpPr txBox="1"/>
          <p:nvPr/>
        </p:nvSpPr>
        <p:spPr>
          <a:xfrm>
            <a:off x="5440858" y="5324475"/>
            <a:ext cx="126504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markdown</a:t>
            </a:r>
          </a:p>
        </p:txBody>
      </p:sp>
      <p:sp>
        <p:nvSpPr>
          <p:cNvPr id="202" name="Shape 22"/>
          <p:cNvSpPr/>
          <p:nvPr/>
        </p:nvSpPr>
        <p:spPr>
          <a:xfrm>
            <a:off x="9315450" y="3657600"/>
            <a:ext cx="7905750" cy="2362200"/>
          </a:xfrm>
          <a:prstGeom prst="roundRect">
            <a:avLst>
              <a:gd name="adj" fmla="val 7258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" name="Text 23"/>
          <p:cNvSpPr txBox="1"/>
          <p:nvPr/>
        </p:nvSpPr>
        <p:spPr>
          <a:xfrm>
            <a:off x="9620249" y="3924300"/>
            <a:ext cx="556322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31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204" name="Text 24"/>
          <p:cNvSpPr txBox="1"/>
          <p:nvPr/>
        </p:nvSpPr>
        <p:spPr>
          <a:xfrm>
            <a:off x="10328970" y="4000500"/>
            <a:ext cx="2691826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2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版面配置 &amp; 互動元件</a:t>
            </a:r>
          </a:p>
        </p:txBody>
      </p:sp>
      <p:sp>
        <p:nvSpPr>
          <p:cNvPr id="205" name="Shape 25"/>
          <p:cNvSpPr/>
          <p:nvPr/>
        </p:nvSpPr>
        <p:spPr>
          <a:xfrm>
            <a:off x="9620250" y="4591050"/>
            <a:ext cx="93732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" name="Text 26"/>
          <p:cNvSpPr txBox="1"/>
          <p:nvPr/>
        </p:nvSpPr>
        <p:spPr>
          <a:xfrm>
            <a:off x="9791699" y="4686300"/>
            <a:ext cx="670622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tabs</a:t>
            </a:r>
          </a:p>
        </p:txBody>
      </p:sp>
      <p:sp>
        <p:nvSpPr>
          <p:cNvPr id="207" name="Shape 27"/>
          <p:cNvSpPr/>
          <p:nvPr/>
        </p:nvSpPr>
        <p:spPr>
          <a:xfrm>
            <a:off x="10671870" y="4591050"/>
            <a:ext cx="138306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Text 28"/>
          <p:cNvSpPr txBox="1"/>
          <p:nvPr/>
        </p:nvSpPr>
        <p:spPr>
          <a:xfrm>
            <a:off x="10843320" y="4686300"/>
            <a:ext cx="111636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columns</a:t>
            </a:r>
          </a:p>
        </p:txBody>
      </p:sp>
      <p:sp>
        <p:nvSpPr>
          <p:cNvPr id="209" name="Shape 29"/>
          <p:cNvSpPr/>
          <p:nvPr/>
        </p:nvSpPr>
        <p:spPr>
          <a:xfrm>
            <a:off x="12169229" y="4591050"/>
            <a:ext cx="108585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" name="Text 30"/>
          <p:cNvSpPr txBox="1"/>
          <p:nvPr/>
        </p:nvSpPr>
        <p:spPr>
          <a:xfrm>
            <a:off x="12340679" y="4686300"/>
            <a:ext cx="81915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radio</a:t>
            </a:r>
          </a:p>
        </p:txBody>
      </p:sp>
      <p:sp>
        <p:nvSpPr>
          <p:cNvPr id="211" name="Shape 31"/>
          <p:cNvSpPr/>
          <p:nvPr/>
        </p:nvSpPr>
        <p:spPr>
          <a:xfrm>
            <a:off x="13369379" y="4591050"/>
            <a:ext cx="123453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2" name="Text 32"/>
          <p:cNvSpPr txBox="1"/>
          <p:nvPr/>
        </p:nvSpPr>
        <p:spPr>
          <a:xfrm>
            <a:off x="13540829" y="4686300"/>
            <a:ext cx="96783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slider</a:t>
            </a:r>
          </a:p>
        </p:txBody>
      </p:sp>
      <p:sp>
        <p:nvSpPr>
          <p:cNvPr id="213" name="Shape 33"/>
          <p:cNvSpPr/>
          <p:nvPr/>
        </p:nvSpPr>
        <p:spPr>
          <a:xfrm>
            <a:off x="14718208" y="4591050"/>
            <a:ext cx="153174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Text 34"/>
          <p:cNvSpPr txBox="1"/>
          <p:nvPr/>
        </p:nvSpPr>
        <p:spPr>
          <a:xfrm>
            <a:off x="14889658" y="4686300"/>
            <a:ext cx="126504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checkbox</a:t>
            </a:r>
          </a:p>
        </p:txBody>
      </p:sp>
      <p:sp>
        <p:nvSpPr>
          <p:cNvPr id="215" name="Shape 35"/>
          <p:cNvSpPr/>
          <p:nvPr/>
        </p:nvSpPr>
        <p:spPr>
          <a:xfrm>
            <a:off x="9620250" y="5229225"/>
            <a:ext cx="168027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" name="Text 36"/>
          <p:cNvSpPr txBox="1"/>
          <p:nvPr/>
        </p:nvSpPr>
        <p:spPr>
          <a:xfrm>
            <a:off x="9791699" y="5324475"/>
            <a:ext cx="1413572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selectbox</a:t>
            </a:r>
          </a:p>
        </p:txBody>
      </p:sp>
      <p:sp>
        <p:nvSpPr>
          <p:cNvPr id="217" name="Shape 37"/>
          <p:cNvSpPr/>
          <p:nvPr/>
        </p:nvSpPr>
        <p:spPr>
          <a:xfrm>
            <a:off x="11414820" y="5229225"/>
            <a:ext cx="182880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8" name="Text 38"/>
          <p:cNvSpPr txBox="1"/>
          <p:nvPr/>
        </p:nvSpPr>
        <p:spPr>
          <a:xfrm>
            <a:off x="11586270" y="5324475"/>
            <a:ext cx="156210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date_input</a:t>
            </a:r>
          </a:p>
        </p:txBody>
      </p:sp>
      <p:sp>
        <p:nvSpPr>
          <p:cNvPr id="219" name="Shape 39"/>
          <p:cNvSpPr/>
          <p:nvPr/>
        </p:nvSpPr>
        <p:spPr>
          <a:xfrm>
            <a:off x="1066800" y="6362700"/>
            <a:ext cx="7905750" cy="2362200"/>
          </a:xfrm>
          <a:prstGeom prst="roundRect">
            <a:avLst>
              <a:gd name="adj" fmla="val 7258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0" name="Text 40"/>
          <p:cNvSpPr txBox="1"/>
          <p:nvPr/>
        </p:nvSpPr>
        <p:spPr>
          <a:xfrm>
            <a:off x="1371599" y="6629400"/>
            <a:ext cx="556322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31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221" name="Text 41"/>
          <p:cNvSpPr txBox="1"/>
          <p:nvPr/>
        </p:nvSpPr>
        <p:spPr>
          <a:xfrm>
            <a:off x="2080319" y="6762750"/>
            <a:ext cx="2689679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2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Plotly Express (px)</a:t>
            </a:r>
          </a:p>
        </p:txBody>
      </p:sp>
      <p:sp>
        <p:nvSpPr>
          <p:cNvPr id="222" name="Shape 42"/>
          <p:cNvSpPr/>
          <p:nvPr/>
        </p:nvSpPr>
        <p:spPr>
          <a:xfrm>
            <a:off x="1371600" y="7296150"/>
            <a:ext cx="78879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3" name="Text 43"/>
          <p:cNvSpPr txBox="1"/>
          <p:nvPr/>
        </p:nvSpPr>
        <p:spPr>
          <a:xfrm>
            <a:off x="1543049" y="7391400"/>
            <a:ext cx="52209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bar</a:t>
            </a:r>
          </a:p>
        </p:txBody>
      </p:sp>
      <p:sp>
        <p:nvSpPr>
          <p:cNvPr id="224" name="Shape 44"/>
          <p:cNvSpPr/>
          <p:nvPr/>
        </p:nvSpPr>
        <p:spPr>
          <a:xfrm>
            <a:off x="2274689" y="7296150"/>
            <a:ext cx="93732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5" name="Text 45"/>
          <p:cNvSpPr txBox="1"/>
          <p:nvPr/>
        </p:nvSpPr>
        <p:spPr>
          <a:xfrm>
            <a:off x="2446139" y="7391400"/>
            <a:ext cx="67062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area</a:t>
            </a:r>
          </a:p>
        </p:txBody>
      </p:sp>
      <p:sp>
        <p:nvSpPr>
          <p:cNvPr id="226" name="Shape 46"/>
          <p:cNvSpPr/>
          <p:nvPr/>
        </p:nvSpPr>
        <p:spPr>
          <a:xfrm>
            <a:off x="3326308" y="7296150"/>
            <a:ext cx="78879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7" name="Text 47"/>
          <p:cNvSpPr txBox="1"/>
          <p:nvPr/>
        </p:nvSpPr>
        <p:spPr>
          <a:xfrm>
            <a:off x="3497758" y="7391400"/>
            <a:ext cx="52209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pie</a:t>
            </a:r>
          </a:p>
        </p:txBody>
      </p:sp>
      <p:sp>
        <p:nvSpPr>
          <p:cNvPr id="228" name="Shape 48"/>
          <p:cNvSpPr/>
          <p:nvPr/>
        </p:nvSpPr>
        <p:spPr>
          <a:xfrm>
            <a:off x="4229398" y="7296150"/>
            <a:ext cx="168027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" name="Text 49"/>
          <p:cNvSpPr txBox="1"/>
          <p:nvPr/>
        </p:nvSpPr>
        <p:spPr>
          <a:xfrm>
            <a:off x="4400848" y="7391400"/>
            <a:ext cx="141357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histogram</a:t>
            </a:r>
          </a:p>
        </p:txBody>
      </p:sp>
      <p:sp>
        <p:nvSpPr>
          <p:cNvPr id="230" name="Shape 50"/>
          <p:cNvSpPr/>
          <p:nvPr/>
        </p:nvSpPr>
        <p:spPr>
          <a:xfrm>
            <a:off x="6023967" y="7296150"/>
            <a:ext cx="123453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Text 51"/>
          <p:cNvSpPr txBox="1"/>
          <p:nvPr/>
        </p:nvSpPr>
        <p:spPr>
          <a:xfrm>
            <a:off x="6195417" y="7391400"/>
            <a:ext cx="96783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imshow</a:t>
            </a:r>
          </a:p>
        </p:txBody>
      </p:sp>
      <p:sp>
        <p:nvSpPr>
          <p:cNvPr id="232" name="Shape 52"/>
          <p:cNvSpPr/>
          <p:nvPr/>
        </p:nvSpPr>
        <p:spPr>
          <a:xfrm>
            <a:off x="1371600" y="7934325"/>
            <a:ext cx="242322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3" name="Text 53"/>
          <p:cNvSpPr txBox="1"/>
          <p:nvPr/>
        </p:nvSpPr>
        <p:spPr>
          <a:xfrm>
            <a:off x="1543050" y="8029575"/>
            <a:ext cx="215652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scatter_mapbox</a:t>
            </a:r>
          </a:p>
        </p:txBody>
      </p:sp>
      <p:sp>
        <p:nvSpPr>
          <p:cNvPr id="234" name="Shape 54"/>
          <p:cNvSpPr/>
          <p:nvPr/>
        </p:nvSpPr>
        <p:spPr>
          <a:xfrm>
            <a:off x="9315450" y="6362700"/>
            <a:ext cx="7905750" cy="2362200"/>
          </a:xfrm>
          <a:prstGeom prst="roundRect">
            <a:avLst>
              <a:gd name="adj" fmla="val 7258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5" name="Text 55"/>
          <p:cNvSpPr txBox="1"/>
          <p:nvPr/>
        </p:nvSpPr>
        <p:spPr>
          <a:xfrm>
            <a:off x="9620249" y="6629400"/>
            <a:ext cx="556322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31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236" name="Text 56"/>
          <p:cNvSpPr txBox="1"/>
          <p:nvPr/>
        </p:nvSpPr>
        <p:spPr>
          <a:xfrm>
            <a:off x="10328970" y="6762750"/>
            <a:ext cx="2946598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2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Plotly Graph Objects</a:t>
            </a:r>
          </a:p>
        </p:txBody>
      </p:sp>
      <p:sp>
        <p:nvSpPr>
          <p:cNvPr id="237" name="Shape 57"/>
          <p:cNvSpPr/>
          <p:nvPr/>
        </p:nvSpPr>
        <p:spPr>
          <a:xfrm>
            <a:off x="9620250" y="7296150"/>
            <a:ext cx="168027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8" name="Text 58"/>
          <p:cNvSpPr txBox="1"/>
          <p:nvPr/>
        </p:nvSpPr>
        <p:spPr>
          <a:xfrm>
            <a:off x="9791699" y="7391400"/>
            <a:ext cx="1413572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go.Figure</a:t>
            </a:r>
          </a:p>
        </p:txBody>
      </p:sp>
      <p:sp>
        <p:nvSpPr>
          <p:cNvPr id="239" name="Shape 59"/>
          <p:cNvSpPr/>
          <p:nvPr/>
        </p:nvSpPr>
        <p:spPr>
          <a:xfrm>
            <a:off x="11414820" y="7296150"/>
            <a:ext cx="182880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0" name="Text 60"/>
          <p:cNvSpPr txBox="1"/>
          <p:nvPr/>
        </p:nvSpPr>
        <p:spPr>
          <a:xfrm>
            <a:off x="11586270" y="7391400"/>
            <a:ext cx="156210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go.Scatter</a:t>
            </a:r>
          </a:p>
        </p:txBody>
      </p:sp>
      <p:sp>
        <p:nvSpPr>
          <p:cNvPr id="241" name="Shape 61"/>
          <p:cNvSpPr/>
          <p:nvPr/>
        </p:nvSpPr>
        <p:spPr>
          <a:xfrm>
            <a:off x="13357919" y="7296150"/>
            <a:ext cx="123453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2" name="Text 62"/>
          <p:cNvSpPr txBox="1"/>
          <p:nvPr/>
        </p:nvSpPr>
        <p:spPr>
          <a:xfrm>
            <a:off x="13529369" y="7391400"/>
            <a:ext cx="96783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go.Bar</a:t>
            </a:r>
          </a:p>
        </p:txBody>
      </p:sp>
      <p:sp>
        <p:nvSpPr>
          <p:cNvPr id="243" name="Shape 63"/>
          <p:cNvSpPr/>
          <p:nvPr/>
        </p:nvSpPr>
        <p:spPr>
          <a:xfrm>
            <a:off x="9620250" y="7934325"/>
            <a:ext cx="227469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4" name="Text 64"/>
          <p:cNvSpPr txBox="1"/>
          <p:nvPr/>
        </p:nvSpPr>
        <p:spPr>
          <a:xfrm>
            <a:off x="9791699" y="8029575"/>
            <a:ext cx="200799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make_subplots</a:t>
            </a:r>
          </a:p>
        </p:txBody>
      </p:sp>
      <p:sp>
        <p:nvSpPr>
          <p:cNvPr id="245" name="Shape 65"/>
          <p:cNvSpPr/>
          <p:nvPr/>
        </p:nvSpPr>
        <p:spPr>
          <a:xfrm>
            <a:off x="12009239" y="7934325"/>
            <a:ext cx="227469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6" name="Text 66"/>
          <p:cNvSpPr txBox="1"/>
          <p:nvPr/>
        </p:nvSpPr>
        <p:spPr>
          <a:xfrm>
            <a:off x="12180689" y="8029575"/>
            <a:ext cx="200799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update_layout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1066800" y="1000125"/>
            <a:ext cx="114300" cy="114300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4" name="Text 1"/>
          <p:cNvSpPr txBox="1"/>
          <p:nvPr/>
        </p:nvSpPr>
        <p:spPr>
          <a:xfrm>
            <a:off x="1352549" y="914400"/>
            <a:ext cx="2797292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2.1 STREAMLIT 基礎</a:t>
            </a:r>
          </a:p>
        </p:txBody>
      </p:sp>
      <p:sp>
        <p:nvSpPr>
          <p:cNvPr id="255" name="Text 2"/>
          <p:cNvSpPr txBox="1"/>
          <p:nvPr/>
        </p:nvSpPr>
        <p:spPr>
          <a:xfrm>
            <a:off x="16135647" y="919162"/>
            <a:ext cx="1161753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 / 41</a:t>
            </a:r>
          </a:p>
        </p:txBody>
      </p:sp>
      <p:sp>
        <p:nvSpPr>
          <p:cNvPr id="256" name="Text 3"/>
          <p:cNvSpPr txBox="1"/>
          <p:nvPr/>
        </p:nvSpPr>
        <p:spPr>
          <a:xfrm>
            <a:off x="1066799" y="1733550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每支 STREAMLIT 腳本最先呼叫的兩件事</a:t>
            </a:r>
          </a:p>
        </p:txBody>
      </p:sp>
      <p:sp>
        <p:nvSpPr>
          <p:cNvPr id="257" name="Text 4"/>
          <p:cNvSpPr txBox="1"/>
          <p:nvPr/>
        </p:nvSpPr>
        <p:spPr>
          <a:xfrm>
            <a:off x="1066800" y="2257425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95527">
              <a:lnSpc>
                <a:spcPct val="104999"/>
              </a:lnSpc>
              <a:defRPr sz="5220" b="1" spc="-87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set_page_config &amp; cache_data</a:t>
            </a:r>
          </a:p>
        </p:txBody>
      </p:sp>
      <p:sp>
        <p:nvSpPr>
          <p:cNvPr id="258" name="Shape 5"/>
          <p:cNvSpPr/>
          <p:nvPr/>
        </p:nvSpPr>
        <p:spPr>
          <a:xfrm>
            <a:off x="1066799" y="3228975"/>
            <a:ext cx="7772400" cy="7594700"/>
          </a:xfrm>
          <a:prstGeom prst="roundRect">
            <a:avLst>
              <a:gd name="adj" fmla="val 2759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59" name="Text 6"/>
          <p:cNvSpPr txBox="1"/>
          <p:nvPr/>
        </p:nvSpPr>
        <p:spPr>
          <a:xfrm>
            <a:off x="1485898" y="3571874"/>
            <a:ext cx="7142228" cy="694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22376">
              <a:lnSpc>
                <a:spcPct val="155000"/>
              </a:lnSpc>
              <a:defRPr sz="1501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放在腳本最頂端，第一個 st 呼叫 </a:t>
            </a:r>
            <a:r>
              <a:rPr i="0">
                <a:solidFill>
                  <a:srgbClr val="E8E0D0"/>
                </a:solidFill>
              </a:rPr>
              <a:t>st.</a:t>
            </a:r>
            <a:r>
              <a:rPr i="0">
                <a:solidFill>
                  <a:srgbClr val="87B8DD"/>
                </a:solidFill>
              </a:rPr>
              <a:t>set_page_config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page_title= 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"台灣共享單車 儀表板"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page_icon= 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"🚲"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layout= 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"wide"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initial_sidebar_state=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"expanded"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 </a:t>
            </a:r>
          </a:p>
          <a:p>
            <a:pPr defTabSz="722376">
              <a:lnSpc>
                <a:spcPct val="155000"/>
              </a:lnSpc>
              <a:defRPr sz="1501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快取裝飾器：結果存在記憶體，互動時不重跑 </a:t>
            </a:r>
            <a:r>
              <a:rPr i="0">
                <a:solidFill>
                  <a:srgbClr val="E89A5A"/>
                </a:solidFill>
              </a:rPr>
              <a:t>@st.cache_data def</a:t>
            </a:r>
            <a:r>
              <a:rPr i="0">
                <a:solidFill>
                  <a:srgbClr val="E8E0D0"/>
                </a:solidFill>
              </a:rPr>
              <a:t> </a:t>
            </a:r>
            <a:r>
              <a:rPr i="0">
                <a:solidFill>
                  <a:srgbClr val="87B8DD"/>
                </a:solidFill>
              </a:rPr>
              <a:t>load_orders </a:t>
            </a:r>
            <a:r>
              <a:rPr i="0">
                <a:solidFill>
                  <a:srgbClr val="E8E0D0"/>
                </a:solidFill>
              </a:rPr>
              <a:t>() -&gt; pd.DataFrame: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df = pd. 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read_csv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"orders.csv" </a:t>
            </a:r>
            <a:r>
              <a:rPr>
                <a:solidFill>
                  <a:srgbClr val="E8E0D0"/>
                </a:solidFill>
              </a:rPr>
              <a:t>)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df[ 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"hour"</a:t>
            </a:r>
            <a:r>
              <a:rPr>
                <a:solidFill>
                  <a:srgbClr val="E8E0D0"/>
                </a:solidFill>
              </a:rPr>
              <a:t>] = df[</a:t>
            </a:r>
            <a:r>
              <a:t>"rent_start_dt" </a:t>
            </a:r>
            <a:r>
              <a:rPr>
                <a:solidFill>
                  <a:srgbClr val="E8E0D0"/>
                </a:solidFill>
              </a:rPr>
              <a:t>].dt.hour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</a:t>
            </a:r>
          </a:p>
          <a:p>
            <a:pPr defTabSz="722376">
              <a:lnSpc>
                <a:spcPct val="155000"/>
              </a:lnSpc>
              <a:defRPr sz="1501">
                <a:solidFill>
                  <a:srgbClr val="E89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return</a:t>
            </a:r>
            <a:r>
              <a:rPr>
                <a:solidFill>
                  <a:srgbClr val="E8E0D0"/>
                </a:solidFill>
              </a:rPr>
              <a:t> df </a:t>
            </a:r>
            <a:r>
              <a:rPr i="1">
                <a:solidFill>
                  <a:srgbClr val="6B6258"/>
                </a:solidFill>
              </a:rPr>
              <a:t># ttl=3600 → 快取 1 小時後自動失效 </a:t>
            </a:r>
            <a:r>
              <a:t>@st.cache_data</a:t>
            </a:r>
            <a:r>
              <a:rPr>
                <a:solidFill>
                  <a:srgbClr val="E8E0D0"/>
                </a:solidFill>
              </a:rPr>
              <a:t>(ttl=</a:t>
            </a:r>
            <a:r>
              <a:rPr>
                <a:solidFill>
                  <a:srgbClr val="9EC58A"/>
                </a:solidFill>
              </a:rPr>
              <a:t>3600</a:t>
            </a:r>
            <a:r>
              <a:rPr>
                <a:solidFill>
                  <a:srgbClr val="E8E0D0"/>
                </a:solidFill>
              </a:rPr>
              <a:t>) </a:t>
            </a:r>
            <a:r>
              <a:t>def</a:t>
            </a:r>
            <a:r>
              <a:rPr>
                <a:solidFill>
                  <a:srgbClr val="E8E0D0"/>
                </a:solidFill>
              </a:rPr>
              <a:t> </a:t>
            </a:r>
            <a:r>
              <a:rPr>
                <a:solidFill>
                  <a:srgbClr val="87B8DD"/>
                </a:solidFill>
              </a:rPr>
              <a:t>load_from_bq</a:t>
            </a:r>
            <a:r>
              <a:rPr>
                <a:solidFill>
                  <a:srgbClr val="E8E0D0"/>
                </a:solidFill>
              </a:rPr>
              <a:t>(): ...</a:t>
            </a:r>
          </a:p>
        </p:txBody>
      </p:sp>
      <p:sp>
        <p:nvSpPr>
          <p:cNvPr id="260" name="Shape 7"/>
          <p:cNvSpPr/>
          <p:nvPr/>
        </p:nvSpPr>
        <p:spPr>
          <a:xfrm>
            <a:off x="9448799" y="3228975"/>
            <a:ext cx="7772400" cy="2136655"/>
          </a:xfrm>
          <a:prstGeom prst="roundRect">
            <a:avLst>
              <a:gd name="adj" fmla="val 7063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1" name="Text 8"/>
          <p:cNvSpPr txBox="1"/>
          <p:nvPr/>
        </p:nvSpPr>
        <p:spPr>
          <a:xfrm>
            <a:off x="9753599" y="3495675"/>
            <a:ext cx="7377684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ST.SET_PAGE_CONFIG()</a:t>
            </a:r>
          </a:p>
        </p:txBody>
      </p:sp>
      <p:sp>
        <p:nvSpPr>
          <p:cNvPr id="262" name="Text 9"/>
          <p:cNvSpPr txBox="1"/>
          <p:nvPr/>
        </p:nvSpPr>
        <p:spPr>
          <a:xfrm>
            <a:off x="9753599" y="3886200"/>
            <a:ext cx="7377684" cy="993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04672">
              <a:lnSpc>
                <a:spcPct val="155000"/>
              </a:lnSpc>
              <a:defRPr sz="2112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dirty="0" err="1"/>
              <a:t>設定頁面標題、icon、版面寬度。</a:t>
            </a:r>
            <a:r>
              <a:rPr sz="1584" dirty="0" err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layout</a:t>
            </a:r>
            <a:r>
              <a:rPr sz="1584" dirty="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="wide" </a:t>
            </a:r>
            <a:r>
              <a:rPr dirty="0" err="1"/>
              <a:t>讓圖表能完整伸展</a:t>
            </a:r>
            <a:endParaRPr dirty="0"/>
          </a:p>
        </p:txBody>
      </p:sp>
      <p:sp>
        <p:nvSpPr>
          <p:cNvPr id="263" name="Text 10"/>
          <p:cNvSpPr txBox="1"/>
          <p:nvPr/>
        </p:nvSpPr>
        <p:spPr>
          <a:xfrm>
            <a:off x="9753599" y="4624090"/>
            <a:ext cx="7377684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55000"/>
              </a:lnSpc>
              <a:defRPr sz="2400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/>
              <a:t>⚡ </a:t>
            </a:r>
            <a:r>
              <a:rPr dirty="0" err="1"/>
              <a:t>必須是腳本中第一個</a:t>
            </a:r>
            <a:r>
              <a:rPr dirty="0"/>
              <a:t> st </a:t>
            </a:r>
            <a:r>
              <a:rPr dirty="0" err="1"/>
              <a:t>呼叫</a:t>
            </a:r>
            <a:r>
              <a:rPr dirty="0"/>
              <a:t>。</a:t>
            </a:r>
          </a:p>
        </p:txBody>
      </p:sp>
      <p:sp>
        <p:nvSpPr>
          <p:cNvPr id="264" name="Shape 11"/>
          <p:cNvSpPr/>
          <p:nvPr/>
        </p:nvSpPr>
        <p:spPr>
          <a:xfrm>
            <a:off x="9448799" y="5523458"/>
            <a:ext cx="7772400" cy="2889649"/>
          </a:xfrm>
          <a:prstGeom prst="roundRect">
            <a:avLst>
              <a:gd name="adj" fmla="val 5933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5" name="Text 12"/>
          <p:cNvSpPr txBox="1"/>
          <p:nvPr/>
        </p:nvSpPr>
        <p:spPr>
          <a:xfrm>
            <a:off x="9753599" y="5790158"/>
            <a:ext cx="7377684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@ST.CACHE_DATA</a:t>
            </a:r>
          </a:p>
        </p:txBody>
      </p:sp>
      <p:sp>
        <p:nvSpPr>
          <p:cNvPr id="266" name="Text 13"/>
          <p:cNvSpPr txBox="1"/>
          <p:nvPr/>
        </p:nvSpPr>
        <p:spPr>
          <a:xfrm>
            <a:off x="9753599" y="6180684"/>
            <a:ext cx="7377684" cy="982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68095">
              <a:lnSpc>
                <a:spcPct val="155000"/>
              </a:lnSpc>
              <a:defRPr sz="2016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 err="1"/>
              <a:t>把</a:t>
            </a:r>
            <a:r>
              <a:rPr dirty="0"/>
              <a:t> function </a:t>
            </a:r>
            <a:r>
              <a:rPr dirty="0" err="1"/>
              <a:t>的回傳值記下來，下次「同樣參數」直接吃快取，不重跑</a:t>
            </a:r>
            <a:r>
              <a:rPr dirty="0"/>
              <a:t>。</a:t>
            </a:r>
          </a:p>
        </p:txBody>
      </p:sp>
      <p:sp>
        <p:nvSpPr>
          <p:cNvPr id="267" name="Text 14"/>
          <p:cNvSpPr txBox="1"/>
          <p:nvPr/>
        </p:nvSpPr>
        <p:spPr>
          <a:xfrm>
            <a:off x="9753599" y="7201643"/>
            <a:ext cx="7377684" cy="982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68095">
              <a:lnSpc>
                <a:spcPct val="155000"/>
              </a:lnSpc>
              <a:defRPr sz="2016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Streamlit 每次互動都會從頭跑整個腳本， </a:t>
            </a:r>
            <a:r>
              <a:rPr b="1"/>
              <a:t>不快取就會每次重讀檔 </a:t>
            </a:r>
            <a:r>
              <a:t>，dashboard 會卡。</a:t>
            </a:r>
          </a:p>
        </p:txBody>
      </p:sp>
      <p:sp>
        <p:nvSpPr>
          <p:cNvPr id="268" name="Shape 15"/>
          <p:cNvSpPr/>
          <p:nvPr/>
        </p:nvSpPr>
        <p:spPr>
          <a:xfrm>
            <a:off x="9448799" y="8679805"/>
            <a:ext cx="7772400" cy="1378596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9" name="Shape 16"/>
          <p:cNvSpPr/>
          <p:nvPr/>
        </p:nvSpPr>
        <p:spPr>
          <a:xfrm>
            <a:off x="9448799" y="8679804"/>
            <a:ext cx="45719" cy="1378597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0" name="Text 17"/>
          <p:cNvSpPr txBox="1"/>
          <p:nvPr/>
        </p:nvSpPr>
        <p:spPr>
          <a:xfrm>
            <a:off x="9810749" y="8908404"/>
            <a:ext cx="7338822" cy="1378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45000"/>
              </a:lnSpc>
              <a:defRPr sz="2400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dirty="0" err="1"/>
              <a:t>實戰原則：</a:t>
            </a:r>
            <a:r>
              <a:rPr b="0" dirty="0" err="1">
                <a:solidFill>
                  <a:srgbClr val="1A1714"/>
                </a:solidFill>
              </a:rPr>
              <a:t>所有</a:t>
            </a:r>
            <a:r>
              <a:rPr b="0" dirty="0">
                <a:solidFill>
                  <a:srgbClr val="1A1714"/>
                </a:solidFill>
              </a:rPr>
              <a:t> </a:t>
            </a:r>
            <a:r>
              <a:rPr sz="1800" b="0" dirty="0" err="1">
                <a:latin typeface="JetBrains Mono"/>
                <a:ea typeface="JetBrains Mono"/>
                <a:cs typeface="JetBrains Mono"/>
                <a:sym typeface="JetBrains Mono"/>
              </a:rPr>
              <a:t>read_csv</a:t>
            </a:r>
            <a:r>
              <a:rPr sz="1800" b="0" dirty="0">
                <a:latin typeface="JetBrains Mono"/>
                <a:ea typeface="JetBrains Mono"/>
                <a:cs typeface="JetBrains Mono"/>
                <a:sym typeface="JetBrains Mono"/>
              </a:rPr>
              <a:t> / </a:t>
            </a:r>
            <a:r>
              <a:rPr sz="1800" b="0" dirty="0" err="1">
                <a:latin typeface="JetBrains Mono"/>
                <a:ea typeface="JetBrains Mono"/>
                <a:cs typeface="JetBrains Mono"/>
                <a:sym typeface="JetBrains Mono"/>
              </a:rPr>
              <a:t>read_parquet</a:t>
            </a:r>
            <a:r>
              <a:rPr sz="1800" b="0" dirty="0">
                <a:latin typeface="JetBrains Mono"/>
                <a:ea typeface="JetBrains Mono"/>
                <a:cs typeface="JetBrains Mono"/>
                <a:sym typeface="JetBrains Mono"/>
              </a:rPr>
              <a:t> / </a:t>
            </a:r>
            <a:r>
              <a:rPr sz="1800" b="0" dirty="0" err="1">
                <a:latin typeface="JetBrains Mono"/>
                <a:ea typeface="JetBrains Mono"/>
                <a:cs typeface="JetBrains Mono"/>
                <a:sym typeface="JetBrains Mono"/>
              </a:rPr>
              <a:t>BigQuery</a:t>
            </a:r>
            <a:r>
              <a:rPr sz="1800" b="0" dirty="0"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dirty="0" err="1">
                <a:solidFill>
                  <a:srgbClr val="1A1714"/>
                </a:solidFill>
              </a:rPr>
              <a:t>一律加</a:t>
            </a:r>
            <a:r>
              <a:rPr b="0" dirty="0">
                <a:solidFill>
                  <a:srgbClr val="1A1714"/>
                </a:solidFill>
              </a:rPr>
              <a:t> </a:t>
            </a:r>
            <a:r>
              <a:rPr sz="1800" b="0" dirty="0">
                <a:latin typeface="JetBrains Mono"/>
                <a:ea typeface="JetBrains Mono"/>
                <a:cs typeface="JetBrains Mono"/>
                <a:sym typeface="JetBrains Mono"/>
              </a:rPr>
              <a:t>@</a:t>
            </a:r>
            <a:r>
              <a:rPr sz="1800" b="0" dirty="0" err="1">
                <a:latin typeface="JetBrains Mono"/>
                <a:ea typeface="JetBrains Mono"/>
                <a:cs typeface="JetBrains Mono"/>
                <a:sym typeface="JetBrains Mono"/>
              </a:rPr>
              <a:t>st.cache_data</a:t>
            </a:r>
            <a:r>
              <a:rPr b="0" dirty="0">
                <a:solidFill>
                  <a:srgbClr val="1A1714"/>
                </a:solidFill>
              </a:rPr>
              <a:t>。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0"/>
          <p:cNvSpPr/>
          <p:nvPr/>
        </p:nvSpPr>
        <p:spPr>
          <a:xfrm>
            <a:off x="1066800" y="1000125"/>
            <a:ext cx="114300" cy="114300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5" name="Text 1"/>
          <p:cNvSpPr txBox="1"/>
          <p:nvPr/>
        </p:nvSpPr>
        <p:spPr>
          <a:xfrm>
            <a:off x="1352549" y="914400"/>
            <a:ext cx="2797292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2.2 STREAMLIT 基礎</a:t>
            </a:r>
          </a:p>
        </p:txBody>
      </p:sp>
      <p:sp>
        <p:nvSpPr>
          <p:cNvPr id="276" name="Text 2"/>
          <p:cNvSpPr txBox="1"/>
          <p:nvPr/>
        </p:nvSpPr>
        <p:spPr>
          <a:xfrm>
            <a:off x="16135647" y="919162"/>
            <a:ext cx="1161753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 / 41</a:t>
            </a:r>
          </a:p>
        </p:txBody>
      </p:sp>
      <p:sp>
        <p:nvSpPr>
          <p:cNvPr id="277" name="Text 3"/>
          <p:cNvSpPr txBox="1"/>
          <p:nvPr/>
        </p:nvSpPr>
        <p:spPr>
          <a:xfrm>
            <a:off x="1066799" y="1733550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SIDEBAR 元件</a:t>
            </a:r>
          </a:p>
        </p:txBody>
      </p:sp>
      <p:sp>
        <p:nvSpPr>
          <p:cNvPr id="278" name="Text 4"/>
          <p:cNvSpPr txBox="1"/>
          <p:nvPr/>
        </p:nvSpPr>
        <p:spPr>
          <a:xfrm>
            <a:off x="1066800" y="2257425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76655">
              <a:lnSpc>
                <a:spcPct val="104999"/>
              </a:lnSpc>
              <a:defRPr sz="4440" b="1" spc="-7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過濾器與篩選器</a:t>
            </a:r>
          </a:p>
        </p:txBody>
      </p:sp>
      <p:sp>
        <p:nvSpPr>
          <p:cNvPr id="279" name="Shape 5"/>
          <p:cNvSpPr/>
          <p:nvPr/>
        </p:nvSpPr>
        <p:spPr>
          <a:xfrm>
            <a:off x="1066799" y="4137025"/>
            <a:ext cx="30429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0" name="Text 6"/>
          <p:cNvSpPr txBox="1"/>
          <p:nvPr/>
        </p:nvSpPr>
        <p:spPr>
          <a:xfrm>
            <a:off x="1257299" y="3686174"/>
            <a:ext cx="2753230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函式</a:t>
            </a:r>
          </a:p>
        </p:txBody>
      </p:sp>
      <p:sp>
        <p:nvSpPr>
          <p:cNvPr id="281" name="Shape 7"/>
          <p:cNvSpPr/>
          <p:nvPr/>
        </p:nvSpPr>
        <p:spPr>
          <a:xfrm>
            <a:off x="4109739" y="4137025"/>
            <a:ext cx="441320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2" name="Text 8"/>
          <p:cNvSpPr txBox="1"/>
          <p:nvPr/>
        </p:nvSpPr>
        <p:spPr>
          <a:xfrm>
            <a:off x="4300239" y="3686174"/>
            <a:ext cx="4164597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用途</a:t>
            </a:r>
          </a:p>
        </p:txBody>
      </p:sp>
      <p:sp>
        <p:nvSpPr>
          <p:cNvPr id="283" name="Shape 9"/>
          <p:cNvSpPr/>
          <p:nvPr/>
        </p:nvSpPr>
        <p:spPr>
          <a:xfrm>
            <a:off x="1066799" y="4841875"/>
            <a:ext cx="30429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4" name="Shape 10"/>
          <p:cNvSpPr/>
          <p:nvPr/>
        </p:nvSpPr>
        <p:spPr>
          <a:xfrm>
            <a:off x="1257300" y="4324350"/>
            <a:ext cx="2063204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5" name="Text 11"/>
          <p:cNvSpPr txBox="1"/>
          <p:nvPr/>
        </p:nvSpPr>
        <p:spPr>
          <a:xfrm>
            <a:off x="1390650" y="4362450"/>
            <a:ext cx="1872703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sidebar.title()</a:t>
            </a:r>
          </a:p>
        </p:txBody>
      </p:sp>
      <p:sp>
        <p:nvSpPr>
          <p:cNvPr id="286" name="Shape 12"/>
          <p:cNvSpPr/>
          <p:nvPr/>
        </p:nvSpPr>
        <p:spPr>
          <a:xfrm>
            <a:off x="4109739" y="4841875"/>
            <a:ext cx="441320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7" name="Text 13"/>
          <p:cNvSpPr txBox="1"/>
          <p:nvPr/>
        </p:nvSpPr>
        <p:spPr>
          <a:xfrm>
            <a:off x="4300239" y="4319587"/>
            <a:ext cx="4164597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側欄標題</a:t>
            </a:r>
          </a:p>
        </p:txBody>
      </p:sp>
      <p:sp>
        <p:nvSpPr>
          <p:cNvPr id="288" name="Shape 14"/>
          <p:cNvSpPr/>
          <p:nvPr/>
        </p:nvSpPr>
        <p:spPr>
          <a:xfrm>
            <a:off x="1066799" y="5546725"/>
            <a:ext cx="30429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9" name="Shape 15"/>
          <p:cNvSpPr/>
          <p:nvPr/>
        </p:nvSpPr>
        <p:spPr>
          <a:xfrm>
            <a:off x="1257300" y="5029200"/>
            <a:ext cx="2542283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0" name="Text 16"/>
          <p:cNvSpPr txBox="1"/>
          <p:nvPr/>
        </p:nvSpPr>
        <p:spPr>
          <a:xfrm>
            <a:off x="1390649" y="5067300"/>
            <a:ext cx="2351852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sidebar.selectbox()</a:t>
            </a:r>
          </a:p>
        </p:txBody>
      </p:sp>
      <p:sp>
        <p:nvSpPr>
          <p:cNvPr id="291" name="Shape 17"/>
          <p:cNvSpPr/>
          <p:nvPr/>
        </p:nvSpPr>
        <p:spPr>
          <a:xfrm>
            <a:off x="4109739" y="5546725"/>
            <a:ext cx="441320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2" name="Text 18"/>
          <p:cNvSpPr txBox="1"/>
          <p:nvPr/>
        </p:nvSpPr>
        <p:spPr>
          <a:xfrm>
            <a:off x="4300239" y="5024437"/>
            <a:ext cx="4164597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下拉選單</a:t>
            </a:r>
          </a:p>
        </p:txBody>
      </p:sp>
      <p:sp>
        <p:nvSpPr>
          <p:cNvPr id="293" name="Shape 19"/>
          <p:cNvSpPr/>
          <p:nvPr/>
        </p:nvSpPr>
        <p:spPr>
          <a:xfrm>
            <a:off x="1066799" y="6251575"/>
            <a:ext cx="30429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4" name="Shape 20"/>
          <p:cNvSpPr/>
          <p:nvPr/>
        </p:nvSpPr>
        <p:spPr>
          <a:xfrm>
            <a:off x="1257300" y="5734050"/>
            <a:ext cx="266194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5" name="Text 21"/>
          <p:cNvSpPr txBox="1"/>
          <p:nvPr/>
        </p:nvSpPr>
        <p:spPr>
          <a:xfrm>
            <a:off x="1390650" y="5772150"/>
            <a:ext cx="2475098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sidebar.date_input()</a:t>
            </a:r>
          </a:p>
        </p:txBody>
      </p:sp>
      <p:sp>
        <p:nvSpPr>
          <p:cNvPr id="296" name="Shape 22"/>
          <p:cNvSpPr/>
          <p:nvPr/>
        </p:nvSpPr>
        <p:spPr>
          <a:xfrm>
            <a:off x="4109739" y="6251575"/>
            <a:ext cx="441320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7" name="Text 23"/>
          <p:cNvSpPr txBox="1"/>
          <p:nvPr/>
        </p:nvSpPr>
        <p:spPr>
          <a:xfrm>
            <a:off x="4300239" y="5729287"/>
            <a:ext cx="4164597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日期範圍選擇器</a:t>
            </a:r>
          </a:p>
        </p:txBody>
      </p:sp>
      <p:sp>
        <p:nvSpPr>
          <p:cNvPr id="298" name="Shape 24"/>
          <p:cNvSpPr/>
          <p:nvPr/>
        </p:nvSpPr>
        <p:spPr>
          <a:xfrm>
            <a:off x="1066799" y="6956425"/>
            <a:ext cx="30429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9" name="Shape 25"/>
          <p:cNvSpPr/>
          <p:nvPr/>
        </p:nvSpPr>
        <p:spPr>
          <a:xfrm>
            <a:off x="1257300" y="6438900"/>
            <a:ext cx="218301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0" name="Text 26"/>
          <p:cNvSpPr txBox="1"/>
          <p:nvPr/>
        </p:nvSpPr>
        <p:spPr>
          <a:xfrm>
            <a:off x="1390650" y="6477000"/>
            <a:ext cx="1992511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sidebar.metric()</a:t>
            </a:r>
          </a:p>
        </p:txBody>
      </p:sp>
      <p:sp>
        <p:nvSpPr>
          <p:cNvPr id="301" name="Shape 27"/>
          <p:cNvSpPr/>
          <p:nvPr/>
        </p:nvSpPr>
        <p:spPr>
          <a:xfrm>
            <a:off x="4109739" y="6956425"/>
            <a:ext cx="441320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2" name="Text 28"/>
          <p:cNvSpPr txBox="1"/>
          <p:nvPr/>
        </p:nvSpPr>
        <p:spPr>
          <a:xfrm>
            <a:off x="4300239" y="6434137"/>
            <a:ext cx="4164597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KPI 數字卡片</a:t>
            </a:r>
          </a:p>
        </p:txBody>
      </p:sp>
      <p:sp>
        <p:nvSpPr>
          <p:cNvPr id="303" name="Shape 29"/>
          <p:cNvSpPr/>
          <p:nvPr/>
        </p:nvSpPr>
        <p:spPr>
          <a:xfrm>
            <a:off x="1257300" y="7143750"/>
            <a:ext cx="2302669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4" name="Text 30"/>
          <p:cNvSpPr txBox="1"/>
          <p:nvPr/>
        </p:nvSpPr>
        <p:spPr>
          <a:xfrm>
            <a:off x="1390650" y="7181850"/>
            <a:ext cx="2112169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sidebar.caption()</a:t>
            </a:r>
          </a:p>
        </p:txBody>
      </p:sp>
      <p:sp>
        <p:nvSpPr>
          <p:cNvPr id="305" name="Text 31"/>
          <p:cNvSpPr txBox="1"/>
          <p:nvPr/>
        </p:nvSpPr>
        <p:spPr>
          <a:xfrm>
            <a:off x="4300239" y="7138988"/>
            <a:ext cx="4164597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小字說明文字</a:t>
            </a:r>
          </a:p>
        </p:txBody>
      </p:sp>
      <p:sp>
        <p:nvSpPr>
          <p:cNvPr id="306" name="Shape 32"/>
          <p:cNvSpPr/>
          <p:nvPr/>
        </p:nvSpPr>
        <p:spPr>
          <a:xfrm>
            <a:off x="1066799" y="7820025"/>
            <a:ext cx="7456142" cy="1782811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7" name="Shape 33"/>
          <p:cNvSpPr/>
          <p:nvPr/>
        </p:nvSpPr>
        <p:spPr>
          <a:xfrm>
            <a:off x="1066800" y="7820025"/>
            <a:ext cx="57150" cy="1782811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Text 34"/>
          <p:cNvSpPr txBox="1"/>
          <p:nvPr/>
        </p:nvSpPr>
        <p:spPr>
          <a:xfrm>
            <a:off x="1428750" y="8048624"/>
            <a:ext cx="7013074" cy="136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49808">
              <a:lnSpc>
                <a:spcPct val="145000"/>
              </a:lnSpc>
              <a:defRPr sz="1968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側邊欄 = dashboard 的「廚房」 </a:t>
            </a:r>
            <a:r>
              <a:rPr b="0">
                <a:solidFill>
                  <a:srgbClr val="1A1714"/>
                </a:solidFill>
              </a:rPr>
              <a:t>。把所有篩選都收在這裡，主畫面留給「上菜」的圖表，老闆才不會被一堆下拉選單嚇到。</a:t>
            </a:r>
          </a:p>
        </p:txBody>
      </p:sp>
      <p:sp>
        <p:nvSpPr>
          <p:cNvPr id="309" name="Shape 35"/>
          <p:cNvSpPr/>
          <p:nvPr/>
        </p:nvSpPr>
        <p:spPr>
          <a:xfrm>
            <a:off x="9080678" y="2071216"/>
            <a:ext cx="8088660" cy="7594700"/>
          </a:xfrm>
          <a:prstGeom prst="roundRect">
            <a:avLst>
              <a:gd name="adj" fmla="val 2759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10" name="Text 36"/>
          <p:cNvSpPr txBox="1"/>
          <p:nvPr/>
        </p:nvSpPr>
        <p:spPr>
          <a:xfrm>
            <a:off x="9499778" y="2414115"/>
            <a:ext cx="7467974" cy="694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77240">
              <a:lnSpc>
                <a:spcPct val="155000"/>
              </a:lnSpc>
              <a:defRPr sz="1615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st.sidebar.</a:t>
            </a:r>
            <a:r>
              <a:rPr>
                <a:solidFill>
                  <a:srgbClr val="87B8DD"/>
                </a:solidFill>
              </a:rPr>
              <a:t>title</a:t>
            </a:r>
            <a:r>
              <a:t>(</a:t>
            </a:r>
            <a:r>
              <a:rPr>
                <a:solidFill>
                  <a:srgbClr val="9EC58A"/>
                </a:solidFill>
              </a:rPr>
              <a:t>"🚲 共享單車分析平台" </a:t>
            </a:r>
            <a:r>
              <a:t>)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st.sidebar. 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markdown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"---"</a:t>
            </a:r>
            <a:r>
              <a:rPr>
                <a:solidFill>
                  <a:srgbClr val="E8E0D0"/>
                </a:solidFill>
              </a:rPr>
              <a:t>) </a:t>
            </a:r>
            <a:r>
              <a:rPr i="1">
                <a:solidFill>
                  <a:srgbClr val="6B6258"/>
                </a:solidFill>
              </a:rPr>
              <a:t># 下拉選單（行政區過濾） </a:t>
            </a:r>
            <a:r>
              <a:rPr>
                <a:solidFill>
                  <a:srgbClr val="E8E0D0"/>
                </a:solidFill>
              </a:rPr>
              <a:t>areas = [</a:t>
            </a:r>
            <a:r>
              <a:rPr>
                <a:solidFill>
                  <a:srgbClr val="9EC58A"/>
                </a:solidFill>
              </a:rPr>
              <a:t>"全部" </a:t>
            </a:r>
            <a:r>
              <a:rPr>
                <a:solidFill>
                  <a:srgbClr val="E8E0D0"/>
                </a:solidFill>
              </a:rPr>
              <a:t>] + sorted(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df[ 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"parking_lot_area" </a:t>
            </a:r>
            <a:r>
              <a:rPr>
                <a:solidFill>
                  <a:srgbClr val="E8E0D0"/>
                </a:solidFill>
              </a:rPr>
              <a:t>].dropna().unique())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area = st.sidebar. 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selectbox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"行政區篩選"</a:t>
            </a:r>
            <a:r>
              <a:rPr>
                <a:solidFill>
                  <a:srgbClr val="E8E0D0"/>
                </a:solidFill>
              </a:rPr>
              <a:t>, areas) </a:t>
            </a:r>
            <a:r>
              <a:rPr i="1">
                <a:solidFill>
                  <a:srgbClr val="6B6258"/>
                </a:solidFill>
              </a:rPr>
              <a:t># 日期範圍選擇 </a:t>
            </a:r>
            <a:r>
              <a:rPr>
                <a:solidFill>
                  <a:srgbClr val="E8E0D0"/>
                </a:solidFill>
              </a:rPr>
              <a:t>dates = st.sidebar.</a:t>
            </a:r>
            <a:r>
              <a:t>date_input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"日期範圍"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value=(min_d, max_d),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min_value=min_d,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 </a:t>
            </a:r>
          </a:p>
          <a:p>
            <a:pPr defTabSz="777240">
              <a:lnSpc>
                <a:spcPct val="155000"/>
              </a:lnSpc>
              <a:defRPr sz="1615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KPI 數字卡片 </a:t>
            </a:r>
            <a:r>
              <a:rPr i="0">
                <a:solidFill>
                  <a:srgbClr val="E8E0D0"/>
                </a:solidFill>
              </a:rPr>
              <a:t>st.sidebar.</a:t>
            </a:r>
            <a:r>
              <a:rPr i="0">
                <a:solidFill>
                  <a:srgbClr val="87B8DD"/>
                </a:solidFill>
              </a:rPr>
              <a:t>metric</a:t>
            </a:r>
            <a:r>
              <a:rPr i="0">
                <a:solidFill>
                  <a:srgbClr val="E8E0D0"/>
                </a:solidFill>
              </a:rPr>
              <a:t>(</a:t>
            </a:r>
            <a:r>
              <a:rPr i="0">
                <a:solidFill>
                  <a:srgbClr val="9EC58A"/>
                </a:solidFill>
              </a:rPr>
              <a:t>"篩選後借車次數"</a:t>
            </a:r>
            <a:r>
              <a:rPr i="0">
                <a:solidFill>
                  <a:srgbClr val="E8E0D0"/>
                </a:solidFill>
              </a:rPr>
              <a:t>, f</a:t>
            </a:r>
            <a:r>
              <a:rPr i="0">
                <a:solidFill>
                  <a:srgbClr val="9EC58A"/>
                </a:solidFill>
              </a:rPr>
              <a:t>"{len(fo):,}" </a:t>
            </a:r>
            <a:r>
              <a:rPr i="0">
                <a:solidFill>
                  <a:srgbClr val="E8E0D0"/>
                </a:solidFill>
              </a:rPr>
              <a:t>)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st.sidebar. </a:t>
            </a:r>
          </a:p>
          <a:p>
            <a:pPr defTabSz="777240">
              <a:lnSpc>
                <a:spcPct val="155000"/>
              </a:lnSpc>
              <a:defRPr sz="1615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caption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"資料期間：2023～2025"</a:t>
            </a:r>
            <a:r>
              <a:rPr>
                <a:solidFill>
                  <a:srgbClr val="E8E0D0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1066800" y="1000125"/>
            <a:ext cx="114300" cy="114300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5" name="Text 1"/>
          <p:cNvSpPr txBox="1"/>
          <p:nvPr/>
        </p:nvSpPr>
        <p:spPr>
          <a:xfrm>
            <a:off x="1352549" y="914400"/>
            <a:ext cx="2797292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2.3 STREAMLIT 版面</a:t>
            </a:r>
          </a:p>
        </p:txBody>
      </p:sp>
      <p:sp>
        <p:nvSpPr>
          <p:cNvPr id="316" name="Text 2"/>
          <p:cNvSpPr txBox="1"/>
          <p:nvPr/>
        </p:nvSpPr>
        <p:spPr>
          <a:xfrm>
            <a:off x="16135647" y="919162"/>
            <a:ext cx="1161753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10 / 41</a:t>
            </a:r>
          </a:p>
        </p:txBody>
      </p:sp>
      <p:sp>
        <p:nvSpPr>
          <p:cNvPr id="317" name="Text 3"/>
          <p:cNvSpPr txBox="1"/>
          <p:nvPr/>
        </p:nvSpPr>
        <p:spPr>
          <a:xfrm>
            <a:off x="1066799" y="1733550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版面分割</a:t>
            </a:r>
          </a:p>
        </p:txBody>
      </p:sp>
      <p:sp>
        <p:nvSpPr>
          <p:cNvPr id="318" name="Text 4"/>
          <p:cNvSpPr txBox="1"/>
          <p:nvPr/>
        </p:nvSpPr>
        <p:spPr>
          <a:xfrm>
            <a:off x="1066800" y="2257425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95527">
              <a:lnSpc>
                <a:spcPct val="104999"/>
              </a:lnSpc>
              <a:defRPr sz="5220" b="1" spc="-87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tabs() &amp; columns()</a:t>
            </a:r>
          </a:p>
        </p:txBody>
      </p:sp>
      <p:sp>
        <p:nvSpPr>
          <p:cNvPr id="319" name="Shape 5"/>
          <p:cNvSpPr/>
          <p:nvPr/>
        </p:nvSpPr>
        <p:spPr>
          <a:xfrm>
            <a:off x="1066800" y="3514725"/>
            <a:ext cx="7772400" cy="1945631"/>
          </a:xfrm>
          <a:prstGeom prst="roundRect">
            <a:avLst>
              <a:gd name="adj" fmla="val 8812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0" name="Text 6"/>
          <p:cNvSpPr txBox="1"/>
          <p:nvPr/>
        </p:nvSpPr>
        <p:spPr>
          <a:xfrm>
            <a:off x="1371600" y="3781425"/>
            <a:ext cx="7377684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ST.TABS() — 建立分頁</a:t>
            </a:r>
          </a:p>
        </p:txBody>
      </p:sp>
      <p:sp>
        <p:nvSpPr>
          <p:cNvPr id="321" name="Text 7"/>
          <p:cNvSpPr txBox="1"/>
          <p:nvPr/>
        </p:nvSpPr>
        <p:spPr>
          <a:xfrm>
            <a:off x="1371600" y="4181474"/>
            <a:ext cx="7377684" cy="51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55000"/>
              </a:lnSpc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接收頁籤名稱清單，回傳等數的 context 物件。</a:t>
            </a:r>
          </a:p>
        </p:txBody>
      </p:sp>
      <p:sp>
        <p:nvSpPr>
          <p:cNvPr id="322" name="Text 8"/>
          <p:cNvSpPr txBox="1"/>
          <p:nvPr/>
        </p:nvSpPr>
        <p:spPr>
          <a:xfrm>
            <a:off x="1371600" y="4711005"/>
            <a:ext cx="7377684" cy="520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>
              <a:lnSpc>
                <a:spcPct val="155000"/>
              </a:lnSpc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用 </a:t>
            </a:r>
            <a:r>
              <a:rPr sz="18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tab: </a:t>
            </a:r>
            <a:r>
              <a:t>區塊放置內容。名稱支援 emoji。</a:t>
            </a:r>
          </a:p>
        </p:txBody>
      </p:sp>
      <p:sp>
        <p:nvSpPr>
          <p:cNvPr id="323" name="Shape 9"/>
          <p:cNvSpPr/>
          <p:nvPr/>
        </p:nvSpPr>
        <p:spPr>
          <a:xfrm>
            <a:off x="1066800" y="5612755"/>
            <a:ext cx="7772400" cy="2418012"/>
          </a:xfrm>
          <a:prstGeom prst="roundRect">
            <a:avLst>
              <a:gd name="adj" fmla="val 7091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4" name="Text 10"/>
          <p:cNvSpPr txBox="1"/>
          <p:nvPr/>
        </p:nvSpPr>
        <p:spPr>
          <a:xfrm>
            <a:off x="1371600" y="5879455"/>
            <a:ext cx="7377684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ST.COLUMNS() — 欄位分割</a:t>
            </a:r>
          </a:p>
        </p:txBody>
      </p:sp>
      <p:sp>
        <p:nvSpPr>
          <p:cNvPr id="325" name="Text 11"/>
          <p:cNvSpPr txBox="1"/>
          <p:nvPr/>
        </p:nvSpPr>
        <p:spPr>
          <a:xfrm>
            <a:off x="1371600" y="6279505"/>
            <a:ext cx="7377684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55000"/>
              </a:lnSpc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傳入數字（等寬）或列表（比例寬度）。</a:t>
            </a:r>
          </a:p>
        </p:txBody>
      </p:sp>
      <p:sp>
        <p:nvSpPr>
          <p:cNvPr id="326" name="Text 12"/>
          <p:cNvSpPr txBox="1"/>
          <p:nvPr/>
        </p:nvSpPr>
        <p:spPr>
          <a:xfrm>
            <a:off x="1371600" y="6809036"/>
            <a:ext cx="7377684" cy="993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04672">
              <a:lnSpc>
                <a:spcPct val="155000"/>
              </a:lnSpc>
              <a:defRPr sz="1584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columns([2,1,1]) </a:t>
            </a:r>
            <a:r>
              <a:rPr sz="2112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→ 左欄 50%，右兩欄各 25%。巢狀使用可做出複雜格線。</a:t>
            </a:r>
          </a:p>
        </p:txBody>
      </p:sp>
      <p:sp>
        <p:nvSpPr>
          <p:cNvPr id="327" name="Shape 13"/>
          <p:cNvSpPr/>
          <p:nvPr/>
        </p:nvSpPr>
        <p:spPr>
          <a:xfrm>
            <a:off x="1066800" y="8183165"/>
            <a:ext cx="7772400" cy="1782812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8" name="Shape 14"/>
          <p:cNvSpPr/>
          <p:nvPr/>
        </p:nvSpPr>
        <p:spPr>
          <a:xfrm>
            <a:off x="1066800" y="8183165"/>
            <a:ext cx="57150" cy="178281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9" name="Text 15"/>
          <p:cNvSpPr txBox="1"/>
          <p:nvPr/>
        </p:nvSpPr>
        <p:spPr>
          <a:xfrm>
            <a:off x="1428750" y="8411765"/>
            <a:ext cx="7338822" cy="136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68680">
              <a:lnSpc>
                <a:spcPct val="145000"/>
              </a:lnSpc>
              <a:defRPr sz="2280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分頁 vs 分欄怎麼選？ </a:t>
            </a:r>
            <a:r>
              <a:rPr b="0">
                <a:solidFill>
                  <a:srgbClr val="1A1714"/>
                </a:solidFill>
              </a:rPr>
              <a:t>不同主題 → 用 tabs（總覽 / 地圖 / 需求 / 站點）。同一主題的多個指標 → 用 columns。</a:t>
            </a:r>
          </a:p>
        </p:txBody>
      </p:sp>
      <p:sp>
        <p:nvSpPr>
          <p:cNvPr id="330" name="Shape 16"/>
          <p:cNvSpPr/>
          <p:nvPr/>
        </p:nvSpPr>
        <p:spPr>
          <a:xfrm>
            <a:off x="9448802" y="1431577"/>
            <a:ext cx="7772400" cy="8362355"/>
          </a:xfrm>
          <a:prstGeom prst="roundRect">
            <a:avLst>
              <a:gd name="adj" fmla="val 2696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31" name="Text 17"/>
          <p:cNvSpPr txBox="1"/>
          <p:nvPr/>
        </p:nvSpPr>
        <p:spPr>
          <a:xfrm>
            <a:off x="9867901" y="1774477"/>
            <a:ext cx="7142228" cy="7714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694944">
              <a:lnSpc>
                <a:spcPct val="155000"/>
              </a:lnSpc>
              <a:defRPr sz="1444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── tabs：建立分頁 ────────────────── </a:t>
            </a:r>
            <a:r>
              <a:rPr i="0">
                <a:solidFill>
                  <a:srgbClr val="E8E0D0"/>
                </a:solidFill>
              </a:rPr>
              <a:t>tab1, tab2, tab3, tab4 = st.</a:t>
            </a:r>
            <a:r>
              <a:rPr i="0">
                <a:solidFill>
                  <a:srgbClr val="87B8DD"/>
                </a:solidFill>
              </a:rPr>
              <a:t>tabs </a:t>
            </a:r>
            <a:r>
              <a:rPr i="0">
                <a:solidFill>
                  <a:srgbClr val="E8E0D0"/>
                </a:solidFill>
              </a:rPr>
              <a:t>([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"📊 總覽"</a:t>
            </a:r>
            <a:r>
              <a:rPr>
                <a:solidFill>
                  <a:srgbClr val="E8E0D0"/>
                </a:solidFill>
              </a:rPr>
              <a:t>,  </a:t>
            </a:r>
            <a:r>
              <a:t>"🗺️ 地圖"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"📈 需求分析"</a:t>
            </a:r>
            <a:r>
              <a:rPr>
                <a:solidFill>
                  <a:srgbClr val="E8E0D0"/>
                </a:solidFill>
              </a:rPr>
              <a:t>, </a:t>
            </a:r>
            <a:r>
              <a:t>"🔍 站點深探"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]) 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9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with </a:t>
            </a:r>
            <a:r>
              <a:rPr>
                <a:solidFill>
                  <a:srgbClr val="E8E0D0"/>
                </a:solidFill>
              </a:rPr>
              <a:t> tab1: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st. 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subheader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"總覽" </a:t>
            </a:r>
            <a:r>
              <a:rPr>
                <a:solidFill>
                  <a:srgbClr val="E8E0D0"/>
                </a:solidFill>
              </a:rPr>
              <a:t>)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... </a:t>
            </a:r>
          </a:p>
          <a:p>
            <a:pPr defTabSz="694944">
              <a:lnSpc>
                <a:spcPct val="155000"/>
              </a:lnSpc>
              <a:defRPr sz="1444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── columns：欄位分割 ─────────────── </a:t>
            </a:r>
            <a:r>
              <a:rPr i="0">
                <a:solidFill>
                  <a:srgbClr val="E8E0D0"/>
                </a:solidFill>
              </a:rPr>
              <a:t>col1, col2, col3 = st.</a:t>
            </a:r>
            <a:r>
              <a:rPr i="0">
                <a:solidFill>
                  <a:srgbClr val="87B8DD"/>
                </a:solidFill>
              </a:rPr>
              <a:t>columns</a:t>
            </a:r>
            <a:r>
              <a:rPr i="0">
                <a:solidFill>
                  <a:srgbClr val="E8E0D0"/>
                </a:solidFill>
              </a:rPr>
              <a:t>(</a:t>
            </a:r>
            <a:r>
              <a:rPr i="0">
                <a:solidFill>
                  <a:srgbClr val="9EC58A"/>
                </a:solidFill>
              </a:rPr>
              <a:t>3</a:t>
            </a:r>
            <a:r>
              <a:rPr i="0">
                <a:solidFill>
                  <a:srgbClr val="E8E0D0"/>
                </a:solidFill>
              </a:rPr>
              <a:t>) </a:t>
            </a:r>
            <a:r>
              <a:rPr i="0">
                <a:solidFill>
                  <a:srgbClr val="E89A5A"/>
                </a:solidFill>
              </a:rPr>
              <a:t>with </a:t>
            </a:r>
            <a:r>
              <a:rPr i="0">
                <a:solidFill>
                  <a:srgbClr val="E8E0D0"/>
                </a:solidFill>
              </a:rPr>
              <a:t> col1: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st. 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metric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"總借車次數"</a:t>
            </a:r>
            <a:r>
              <a:rPr>
                <a:solidFill>
                  <a:srgbClr val="E8E0D0"/>
                </a:solidFill>
              </a:rPr>
              <a:t>, f</a:t>
            </a:r>
            <a:r>
              <a:rPr>
                <a:solidFill>
                  <a:srgbClr val="9EC58A"/>
                </a:solidFill>
              </a:rPr>
              <a:t>"{len(fo):,}"</a:t>
            </a:r>
            <a:r>
              <a:rPr>
                <a:solidFill>
                  <a:srgbClr val="E8E0D0"/>
                </a:solidFill>
              </a:rPr>
              <a:t>) </a:t>
            </a:r>
            <a:r>
              <a:rPr i="1">
                <a:solidFill>
                  <a:srgbClr val="6B6258"/>
                </a:solidFill>
              </a:rPr>
              <a:t># 比例欄位寬度（左寬右窄） </a:t>
            </a:r>
            <a:r>
              <a:rPr>
                <a:solidFill>
                  <a:srgbClr val="E8E0D0"/>
                </a:solidFill>
              </a:rPr>
              <a:t>mc1, mc2, mc3 = st.</a:t>
            </a:r>
            <a:r>
              <a:t>columns</a:t>
            </a:r>
            <a:r>
              <a:rPr>
                <a:solidFill>
                  <a:srgbClr val="E8E0D0"/>
                </a:solidFill>
              </a:rPr>
              <a:t>([</a:t>
            </a:r>
            <a:r>
              <a:rPr>
                <a:solidFill>
                  <a:srgbClr val="9EC58A"/>
                </a:solidFill>
              </a:rPr>
              <a:t>2</a:t>
            </a:r>
            <a:r>
              <a:rPr>
                <a:solidFill>
                  <a:srgbClr val="E8E0D0"/>
                </a:solidFill>
              </a:rPr>
              <a:t>, </a:t>
            </a:r>
            <a:r>
              <a:rPr>
                <a:solidFill>
                  <a:srgbClr val="9EC58A"/>
                </a:solidFill>
              </a:rPr>
              <a:t>1</a:t>
            </a:r>
            <a:r>
              <a:rPr>
                <a:solidFill>
                  <a:srgbClr val="E8E0D0"/>
                </a:solidFill>
              </a:rPr>
              <a:t>, </a:t>
            </a:r>
            <a:r>
              <a:rPr>
                <a:solidFill>
                  <a:srgbClr val="9EC58A"/>
                </a:solidFill>
              </a:rPr>
              <a:t>1</a:t>
            </a:r>
            <a:r>
              <a:rPr>
                <a:solidFill>
                  <a:srgbClr val="E8E0D0"/>
                </a:solidFill>
              </a:rPr>
              <a:t>]) </a:t>
            </a:r>
            <a:r>
              <a:rPr>
                <a:solidFill>
                  <a:srgbClr val="E89A5A"/>
                </a:solidFill>
              </a:rPr>
              <a:t>with </a:t>
            </a:r>
            <a:r>
              <a:rPr>
                <a:solidFill>
                  <a:srgbClr val="E8E0D0"/>
                </a:solidFill>
              </a:rPr>
              <a:t> mc1: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map_color = st.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radio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"顏色依據"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[ 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"行政區"</a:t>
            </a:r>
            <a:r>
              <a:rPr>
                <a:solidFill>
                  <a:srgbClr val="E8E0D0"/>
                </a:solidFill>
              </a:rPr>
              <a:t>, </a:t>
            </a:r>
            <a:r>
              <a:t>"場域類型" </a:t>
            </a:r>
            <a:r>
              <a:rPr>
                <a:solidFill>
                  <a:srgbClr val="E8E0D0"/>
                </a:solidFill>
              </a:rPr>
              <a:t>],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horizontal= </a:t>
            </a:r>
          </a:p>
          <a:p>
            <a:pPr defTabSz="694944">
              <a:lnSpc>
                <a:spcPct val="155000"/>
              </a:lnSpc>
              <a:defRPr sz="1444">
                <a:solidFill>
                  <a:srgbClr val="E89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True</a:t>
            </a:r>
            <a:r>
              <a:rPr>
                <a:solidFill>
                  <a:srgbClr val="E8E0D0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1066800" y="1000125"/>
            <a:ext cx="114300" cy="114300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6" name="Text 1"/>
          <p:cNvSpPr txBox="1"/>
          <p:nvPr/>
        </p:nvSpPr>
        <p:spPr>
          <a:xfrm>
            <a:off x="1352549" y="914400"/>
            <a:ext cx="2797292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2.4 STREAMLIT 互動</a:t>
            </a:r>
          </a:p>
        </p:txBody>
      </p:sp>
      <p:sp>
        <p:nvSpPr>
          <p:cNvPr id="337" name="Text 2"/>
          <p:cNvSpPr txBox="1"/>
          <p:nvPr/>
        </p:nvSpPr>
        <p:spPr>
          <a:xfrm>
            <a:off x="16135647" y="919162"/>
            <a:ext cx="1161753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11 / 41</a:t>
            </a:r>
          </a:p>
        </p:txBody>
      </p:sp>
      <p:sp>
        <p:nvSpPr>
          <p:cNvPr id="338" name="Text 3"/>
          <p:cNvSpPr txBox="1"/>
          <p:nvPr/>
        </p:nvSpPr>
        <p:spPr>
          <a:xfrm>
            <a:off x="1066799" y="1733550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使用者輸入</a:t>
            </a:r>
          </a:p>
        </p:txBody>
      </p:sp>
      <p:sp>
        <p:nvSpPr>
          <p:cNvPr id="339" name="Text 4"/>
          <p:cNvSpPr txBox="1"/>
          <p:nvPr/>
        </p:nvSpPr>
        <p:spPr>
          <a:xfrm>
            <a:off x="2784278" y="1476374"/>
            <a:ext cx="14716125" cy="168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95527">
              <a:lnSpc>
                <a:spcPct val="104999"/>
              </a:lnSpc>
              <a:defRPr sz="5220" b="1" spc="-87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/>
              <a:t>radio · slider · </a:t>
            </a:r>
            <a:br>
              <a:rPr lang="en-US" dirty="0"/>
            </a:br>
            <a:r>
              <a:rPr dirty="0"/>
              <a:t>checkbox · </a:t>
            </a:r>
            <a:r>
              <a:rPr dirty="0" err="1"/>
              <a:t>selectbox</a:t>
            </a:r>
            <a:endParaRPr dirty="0"/>
          </a:p>
        </p:txBody>
      </p:sp>
      <p:sp>
        <p:nvSpPr>
          <p:cNvPr id="340" name="Shape 5"/>
          <p:cNvSpPr/>
          <p:nvPr/>
        </p:nvSpPr>
        <p:spPr>
          <a:xfrm>
            <a:off x="1066799" y="4137025"/>
            <a:ext cx="2324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1" name="Text 6"/>
          <p:cNvSpPr txBox="1"/>
          <p:nvPr/>
        </p:nvSpPr>
        <p:spPr>
          <a:xfrm>
            <a:off x="1257299" y="3686174"/>
            <a:ext cx="2019600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函式</a:t>
            </a:r>
          </a:p>
        </p:txBody>
      </p:sp>
      <p:sp>
        <p:nvSpPr>
          <p:cNvPr id="342" name="Shape 7"/>
          <p:cNvSpPr/>
          <p:nvPr/>
        </p:nvSpPr>
        <p:spPr>
          <a:xfrm>
            <a:off x="3391198" y="4137025"/>
            <a:ext cx="5448003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3" name="Text 8"/>
          <p:cNvSpPr txBox="1"/>
          <p:nvPr/>
        </p:nvSpPr>
        <p:spPr>
          <a:xfrm>
            <a:off x="3581698" y="3686174"/>
            <a:ext cx="5230443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說明</a:t>
            </a:r>
          </a:p>
        </p:txBody>
      </p:sp>
      <p:sp>
        <p:nvSpPr>
          <p:cNvPr id="344" name="Shape 9"/>
          <p:cNvSpPr/>
          <p:nvPr/>
        </p:nvSpPr>
        <p:spPr>
          <a:xfrm>
            <a:off x="1066799" y="5194300"/>
            <a:ext cx="2324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5" name="Shape 10"/>
          <p:cNvSpPr/>
          <p:nvPr/>
        </p:nvSpPr>
        <p:spPr>
          <a:xfrm>
            <a:off x="1257300" y="4324350"/>
            <a:ext cx="146432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6" name="Text 11"/>
          <p:cNvSpPr txBox="1"/>
          <p:nvPr/>
        </p:nvSpPr>
        <p:spPr>
          <a:xfrm>
            <a:off x="1390649" y="4362450"/>
            <a:ext cx="1273822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st.radio()</a:t>
            </a:r>
          </a:p>
        </p:txBody>
      </p:sp>
      <p:sp>
        <p:nvSpPr>
          <p:cNvPr id="347" name="Shape 12"/>
          <p:cNvSpPr/>
          <p:nvPr/>
        </p:nvSpPr>
        <p:spPr>
          <a:xfrm>
            <a:off x="3391198" y="5194300"/>
            <a:ext cx="5448003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8" name="Text 13"/>
          <p:cNvSpPr txBox="1"/>
          <p:nvPr/>
        </p:nvSpPr>
        <p:spPr>
          <a:xfrm>
            <a:off x="3581698" y="4319587"/>
            <a:ext cx="5230443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水平 / 垂直單選按鈕 </a:t>
            </a:r>
            <a:r>
              <a:rPr>
                <a:solidFill>
                  <a:srgbClr val="4A4036"/>
                </a:solidFill>
              </a:rPr>
              <a:t>horizontal=True 橫排</a:t>
            </a:r>
          </a:p>
        </p:txBody>
      </p:sp>
      <p:sp>
        <p:nvSpPr>
          <p:cNvPr id="349" name="Shape 14"/>
          <p:cNvSpPr/>
          <p:nvPr/>
        </p:nvSpPr>
        <p:spPr>
          <a:xfrm>
            <a:off x="1066799" y="6194425"/>
            <a:ext cx="2324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0" name="Shape 15"/>
          <p:cNvSpPr/>
          <p:nvPr/>
        </p:nvSpPr>
        <p:spPr>
          <a:xfrm>
            <a:off x="1257300" y="5381625"/>
            <a:ext cx="1584128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1" name="Text 16"/>
          <p:cNvSpPr txBox="1"/>
          <p:nvPr/>
        </p:nvSpPr>
        <p:spPr>
          <a:xfrm>
            <a:off x="1390649" y="5419725"/>
            <a:ext cx="1393629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st.slider()</a:t>
            </a:r>
          </a:p>
        </p:txBody>
      </p:sp>
      <p:sp>
        <p:nvSpPr>
          <p:cNvPr id="352" name="Shape 17"/>
          <p:cNvSpPr/>
          <p:nvPr/>
        </p:nvSpPr>
        <p:spPr>
          <a:xfrm>
            <a:off x="3391198" y="6194425"/>
            <a:ext cx="5448003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3" name="Text 18"/>
          <p:cNvSpPr txBox="1"/>
          <p:nvPr/>
        </p:nvSpPr>
        <p:spPr>
          <a:xfrm>
            <a:off x="3581698" y="5376862"/>
            <a:ext cx="5230443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數值範圍拖曳 </a:t>
            </a:r>
            <a:r>
              <a:rPr>
                <a:solidFill>
                  <a:srgbClr val="4A4036"/>
                </a:solidFill>
              </a:rPr>
              <a:t>(min, max, default, step)</a:t>
            </a:r>
          </a:p>
        </p:txBody>
      </p:sp>
      <p:sp>
        <p:nvSpPr>
          <p:cNvPr id="354" name="Shape 19"/>
          <p:cNvSpPr/>
          <p:nvPr/>
        </p:nvSpPr>
        <p:spPr>
          <a:xfrm>
            <a:off x="1066799" y="7251700"/>
            <a:ext cx="2324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5" name="Shape 20"/>
          <p:cNvSpPr/>
          <p:nvPr/>
        </p:nvSpPr>
        <p:spPr>
          <a:xfrm>
            <a:off x="1257300" y="6381750"/>
            <a:ext cx="182374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6" name="Text 21"/>
          <p:cNvSpPr txBox="1"/>
          <p:nvPr/>
        </p:nvSpPr>
        <p:spPr>
          <a:xfrm>
            <a:off x="1390649" y="6419850"/>
            <a:ext cx="1633242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st.checkbox()</a:t>
            </a:r>
          </a:p>
        </p:txBody>
      </p:sp>
      <p:sp>
        <p:nvSpPr>
          <p:cNvPr id="357" name="Shape 22"/>
          <p:cNvSpPr/>
          <p:nvPr/>
        </p:nvSpPr>
        <p:spPr>
          <a:xfrm>
            <a:off x="3391198" y="7251700"/>
            <a:ext cx="5448003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8" name="Text 23"/>
          <p:cNvSpPr txBox="1"/>
          <p:nvPr/>
        </p:nvSpPr>
        <p:spPr>
          <a:xfrm>
            <a:off x="3581698" y="6376987"/>
            <a:ext cx="5230443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勾選框 </a:t>
            </a:r>
            <a:r>
              <a:rPr>
                <a:solidFill>
                  <a:srgbClr val="4A4036"/>
                </a:solidFill>
              </a:rPr>
              <a:t>value= 設預設值</a:t>
            </a:r>
          </a:p>
        </p:txBody>
      </p:sp>
      <p:sp>
        <p:nvSpPr>
          <p:cNvPr id="359" name="Shape 24"/>
          <p:cNvSpPr/>
          <p:nvPr/>
        </p:nvSpPr>
        <p:spPr>
          <a:xfrm>
            <a:off x="1257300" y="7439025"/>
            <a:ext cx="1943399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0" name="Text 25"/>
          <p:cNvSpPr txBox="1"/>
          <p:nvPr/>
        </p:nvSpPr>
        <p:spPr>
          <a:xfrm>
            <a:off x="1390649" y="7477125"/>
            <a:ext cx="17529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st.selectbox()</a:t>
            </a:r>
          </a:p>
        </p:txBody>
      </p:sp>
      <p:sp>
        <p:nvSpPr>
          <p:cNvPr id="361" name="Text 26"/>
          <p:cNvSpPr txBox="1"/>
          <p:nvPr/>
        </p:nvSpPr>
        <p:spPr>
          <a:xfrm>
            <a:off x="3581698" y="7434261"/>
            <a:ext cx="5230443" cy="747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下拉選單 </a:t>
            </a:r>
            <a:r>
              <a:rPr>
                <a:solidFill>
                  <a:srgbClr val="4A4036"/>
                </a:solidFill>
              </a:rPr>
              <a:t>format_func= 自訂顯示文字</a:t>
            </a:r>
          </a:p>
        </p:txBody>
      </p:sp>
      <p:sp>
        <p:nvSpPr>
          <p:cNvPr id="362" name="Shape 27"/>
          <p:cNvSpPr/>
          <p:nvPr/>
        </p:nvSpPr>
        <p:spPr>
          <a:xfrm>
            <a:off x="1066800" y="8582025"/>
            <a:ext cx="7772400" cy="1592313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3" name="Shape 28"/>
          <p:cNvSpPr/>
          <p:nvPr/>
        </p:nvSpPr>
        <p:spPr>
          <a:xfrm>
            <a:off x="1066799" y="8582026"/>
            <a:ext cx="68581" cy="150341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4" name="Text 29"/>
          <p:cNvSpPr txBox="1"/>
          <p:nvPr/>
        </p:nvSpPr>
        <p:spPr>
          <a:xfrm>
            <a:off x="1428750" y="8810624"/>
            <a:ext cx="7338822" cy="136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45000"/>
              </a:lnSpc>
              <a:defRPr sz="2400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選元件的口訣： </a:t>
            </a:r>
            <a:r>
              <a:rPr b="0">
                <a:solidFill>
                  <a:srgbClr val="1A1714"/>
                </a:solidFill>
              </a:rPr>
              <a:t>選項 2–3 個用 radio，選項 4+ 用 selectbox，連續數字用 slider，開關用 checkbox。</a:t>
            </a:r>
          </a:p>
        </p:txBody>
      </p:sp>
      <p:sp>
        <p:nvSpPr>
          <p:cNvPr id="365" name="Shape 30"/>
          <p:cNvSpPr/>
          <p:nvPr/>
        </p:nvSpPr>
        <p:spPr>
          <a:xfrm>
            <a:off x="9684799" y="2073399"/>
            <a:ext cx="7772400" cy="7978527"/>
          </a:xfrm>
          <a:prstGeom prst="roundRect">
            <a:avLst>
              <a:gd name="adj" fmla="val 2696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6" name="Text 31"/>
          <p:cNvSpPr txBox="1"/>
          <p:nvPr/>
        </p:nvSpPr>
        <p:spPr>
          <a:xfrm>
            <a:off x="10103898" y="2416299"/>
            <a:ext cx="7142228" cy="7330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877823">
              <a:lnSpc>
                <a:spcPct val="155000"/>
              </a:lnSpc>
              <a:defRPr sz="1824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水平單選按鈕 </a:t>
            </a:r>
            <a:r>
              <a:rPr i="0">
                <a:solidFill>
                  <a:srgbClr val="E8E0D0"/>
                </a:solidFill>
              </a:rPr>
              <a:t>map_color = st.</a:t>
            </a:r>
            <a:r>
              <a:rPr i="0">
                <a:solidFill>
                  <a:srgbClr val="87B8DD"/>
                </a:solidFill>
              </a:rPr>
              <a:t>radio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"顏色依據"</a:t>
            </a:r>
            <a:r>
              <a:rPr>
                <a:solidFill>
                  <a:srgbClr val="E8E0D0"/>
                </a:solidFill>
              </a:rPr>
              <a:t>, [</a:t>
            </a:r>
            <a:r>
              <a:t>"行政區"</a:t>
            </a:r>
            <a:r>
              <a:rPr>
                <a:solidFill>
                  <a:srgbClr val="E8E0D0"/>
                </a:solidFill>
              </a:rPr>
              <a:t>, </a:t>
            </a:r>
            <a:r>
              <a:t>"場域類型" </a:t>
            </a:r>
            <a:r>
              <a:rPr>
                <a:solidFill>
                  <a:srgbClr val="E8E0D0"/>
                </a:solidFill>
              </a:rPr>
              <a:t>],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horizontal= 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E89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True</a:t>
            </a:r>
            <a:r>
              <a:rPr>
                <a:solidFill>
                  <a:srgbClr val="E8E0D0"/>
                </a:solidFill>
              </a:rPr>
              <a:t>) </a:t>
            </a:r>
            <a:r>
              <a:rPr i="1">
                <a:solidFill>
                  <a:srgbClr val="6B6258"/>
                </a:solidFill>
              </a:rPr>
              <a:t># 數值 Slider </a:t>
            </a:r>
            <a:r>
              <a:rPr>
                <a:solidFill>
                  <a:srgbClr val="E8E0D0"/>
                </a:solidFill>
              </a:rPr>
              <a:t>min_slots = st.</a:t>
            </a:r>
            <a:r>
              <a:rPr>
                <a:solidFill>
                  <a:srgbClr val="87B8DD"/>
                </a:solidFill>
              </a:rPr>
              <a:t>slider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"最低停車格數篩選"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0</a:t>
            </a:r>
            <a:r>
              <a:rPr>
                <a:solidFill>
                  <a:srgbClr val="E8E0D0"/>
                </a:solidFill>
              </a:rPr>
              <a:t>, </a:t>
            </a:r>
            <a:r>
              <a:t>60</a:t>
            </a:r>
            <a:r>
              <a:rPr>
                <a:solidFill>
                  <a:srgbClr val="E8E0D0"/>
                </a:solidFill>
              </a:rPr>
              <a:t>, </a:t>
            </a:r>
            <a:r>
              <a:t>0</a:t>
            </a:r>
            <a:r>
              <a:rPr>
                <a:solidFill>
                  <a:srgbClr val="E8E0D0"/>
                </a:solidFill>
              </a:rPr>
              <a:t>, </a:t>
            </a:r>
            <a:r>
              <a:t>5</a:t>
            </a:r>
            <a:r>
              <a:rPr>
                <a:solidFill>
                  <a:srgbClr val="E8E0D0"/>
                </a:solidFill>
              </a:rPr>
              <a:t>  </a:t>
            </a:r>
            <a:r>
              <a:rPr i="1">
                <a:solidFill>
                  <a:srgbClr val="6B6258"/>
                </a:solidFill>
              </a:rPr>
              <a:t># min, max, default, step </a:t>
            </a:r>
            <a:r>
              <a:rPr>
                <a:solidFill>
                  <a:srgbClr val="E8E0D0"/>
                </a:solidFill>
              </a:rPr>
              <a:t>) </a:t>
            </a:r>
            <a:r>
              <a:rPr i="1">
                <a:solidFill>
                  <a:srgbClr val="6B6258"/>
                </a:solidFill>
              </a:rPr>
              <a:t># 勾選框 </a:t>
            </a:r>
            <a:r>
              <a:rPr>
                <a:solidFill>
                  <a:srgbClr val="E8E0D0"/>
                </a:solidFill>
              </a:rPr>
              <a:t>show_zero = st.</a:t>
            </a:r>
            <a:r>
              <a:rPr>
                <a:solidFill>
                  <a:srgbClr val="87B8DD"/>
                </a:solidFill>
              </a:rPr>
              <a:t>checkbox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"顯示不活躍站點"</a:t>
            </a:r>
            <a:r>
              <a:rPr>
                <a:solidFill>
                  <a:srgbClr val="E8E0D0"/>
                </a:solidFill>
              </a:rPr>
              <a:t>, value=</a:t>
            </a:r>
            <a:r>
              <a:rPr>
                <a:solidFill>
                  <a:srgbClr val="E89A5A"/>
                </a:solidFill>
              </a:rPr>
              <a:t>True</a:t>
            </a:r>
            <a:r>
              <a:rPr>
                <a:solidFill>
                  <a:srgbClr val="E8E0D0"/>
                </a:solidFill>
              </a:rPr>
              <a:t>) </a:t>
            </a:r>
            <a:r>
              <a:rPr i="1">
                <a:solidFill>
                  <a:srgbClr val="6B6258"/>
                </a:solidFill>
              </a:rPr>
              <a:t># 下拉選單（自訂顯示文字） </a:t>
            </a:r>
            <a:r>
              <a:rPr>
                <a:solidFill>
                  <a:srgbClr val="E8E0D0"/>
                </a:solidFill>
              </a:rPr>
              <a:t>sel_id = st.</a:t>
            </a:r>
            <a:r>
              <a:rPr>
                <a:solidFill>
                  <a:srgbClr val="87B8DD"/>
                </a:solidFill>
              </a:rPr>
              <a:t>selectbox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"選擇站點" </a:t>
            </a:r>
            <a:r>
              <a:rPr>
                <a:solidFill>
                  <a:srgbClr val="E8E0D0"/>
                </a:solidFill>
              </a:rPr>
              <a:t>, options=lot_ids,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format_func= </a:t>
            </a:r>
          </a:p>
          <a:p>
            <a:pPr defTabSz="877823">
              <a:lnSpc>
                <a:spcPct val="155000"/>
              </a:lnSpc>
              <a:defRPr sz="1824">
                <a:solidFill>
                  <a:srgbClr val="E89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lambda</a:t>
            </a:r>
            <a:r>
              <a:rPr>
                <a:solidFill>
                  <a:srgbClr val="E8E0D0"/>
                </a:solidFill>
              </a:rPr>
              <a:t> x: names[x])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1066800" y="1000125"/>
            <a:ext cx="114300" cy="114300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1" name="Text 1"/>
          <p:cNvSpPr txBox="1"/>
          <p:nvPr/>
        </p:nvSpPr>
        <p:spPr>
          <a:xfrm>
            <a:off x="1352549" y="914400"/>
            <a:ext cx="2797292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2.5 STREAMLIT 顯示</a:t>
            </a:r>
          </a:p>
        </p:txBody>
      </p:sp>
      <p:sp>
        <p:nvSpPr>
          <p:cNvPr id="372" name="Text 2"/>
          <p:cNvSpPr txBox="1"/>
          <p:nvPr/>
        </p:nvSpPr>
        <p:spPr>
          <a:xfrm>
            <a:off x="16135647" y="919162"/>
            <a:ext cx="1161753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12 / 41</a:t>
            </a:r>
          </a:p>
        </p:txBody>
      </p:sp>
      <p:sp>
        <p:nvSpPr>
          <p:cNvPr id="373" name="Text 3"/>
          <p:cNvSpPr txBox="1"/>
          <p:nvPr/>
        </p:nvSpPr>
        <p:spPr>
          <a:xfrm>
            <a:off x="1066799" y="1733550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輸出與呈現</a:t>
            </a:r>
          </a:p>
        </p:txBody>
      </p:sp>
      <p:sp>
        <p:nvSpPr>
          <p:cNvPr id="374" name="Text 4"/>
          <p:cNvSpPr txBox="1"/>
          <p:nvPr/>
        </p:nvSpPr>
        <p:spPr>
          <a:xfrm>
            <a:off x="1066800" y="2257425"/>
            <a:ext cx="14716125" cy="16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104999"/>
              </a:lnSpc>
              <a:defRPr sz="5280" b="1" spc="-88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metric · info · markdown · spinner · plotly_chart</a:t>
            </a:r>
          </a:p>
        </p:txBody>
      </p:sp>
      <p:sp>
        <p:nvSpPr>
          <p:cNvPr id="375" name="Shape 5"/>
          <p:cNvSpPr/>
          <p:nvPr/>
        </p:nvSpPr>
        <p:spPr>
          <a:xfrm>
            <a:off x="1066799" y="3850197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6" name="Text 6"/>
          <p:cNvSpPr txBox="1"/>
          <p:nvPr/>
        </p:nvSpPr>
        <p:spPr>
          <a:xfrm>
            <a:off x="1257299" y="3399346"/>
            <a:ext cx="2383179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函式</a:t>
            </a:r>
          </a:p>
        </p:txBody>
      </p:sp>
      <p:sp>
        <p:nvSpPr>
          <p:cNvPr id="377" name="Shape 7"/>
          <p:cNvSpPr/>
          <p:nvPr/>
        </p:nvSpPr>
        <p:spPr>
          <a:xfrm>
            <a:off x="3750468" y="3850197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8" name="Text 8"/>
          <p:cNvSpPr txBox="1"/>
          <p:nvPr/>
        </p:nvSpPr>
        <p:spPr>
          <a:xfrm>
            <a:off x="3940968" y="3399346"/>
            <a:ext cx="4860394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說明</a:t>
            </a:r>
          </a:p>
        </p:txBody>
      </p:sp>
      <p:sp>
        <p:nvSpPr>
          <p:cNvPr id="379" name="Shape 9"/>
          <p:cNvSpPr/>
          <p:nvPr/>
        </p:nvSpPr>
        <p:spPr>
          <a:xfrm>
            <a:off x="1066799" y="4793172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0" name="Shape 10"/>
          <p:cNvSpPr/>
          <p:nvPr/>
        </p:nvSpPr>
        <p:spPr>
          <a:xfrm>
            <a:off x="1257299" y="4037522"/>
            <a:ext cx="2302669" cy="590550"/>
          </a:xfrm>
          <a:prstGeom prst="roundRect">
            <a:avLst>
              <a:gd name="adj" fmla="val 12903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1" name="Text 11"/>
          <p:cNvSpPr txBox="1"/>
          <p:nvPr/>
        </p:nvSpPr>
        <p:spPr>
          <a:xfrm>
            <a:off x="1390649" y="4075622"/>
            <a:ext cx="2112169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st.metric(label, value, delta)</a:t>
            </a:r>
          </a:p>
        </p:txBody>
      </p:sp>
      <p:sp>
        <p:nvSpPr>
          <p:cNvPr id="382" name="Shape 12"/>
          <p:cNvSpPr/>
          <p:nvPr/>
        </p:nvSpPr>
        <p:spPr>
          <a:xfrm>
            <a:off x="3750468" y="4793172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3" name="Text 13"/>
          <p:cNvSpPr txBox="1"/>
          <p:nvPr/>
        </p:nvSpPr>
        <p:spPr>
          <a:xfrm>
            <a:off x="3940968" y="4032759"/>
            <a:ext cx="4860394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KPI 卡片，支援 delta 增減箭頭</a:t>
            </a:r>
          </a:p>
        </p:txBody>
      </p:sp>
      <p:sp>
        <p:nvSpPr>
          <p:cNvPr id="384" name="Shape 14"/>
          <p:cNvSpPr/>
          <p:nvPr/>
        </p:nvSpPr>
        <p:spPr>
          <a:xfrm>
            <a:off x="1066799" y="5812347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5" name="Text 15"/>
          <p:cNvSpPr txBox="1"/>
          <p:nvPr/>
        </p:nvSpPr>
        <p:spPr>
          <a:xfrm>
            <a:off x="1257299" y="4975734"/>
            <a:ext cx="2383179" cy="70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st.info() </a:t>
            </a:r>
            <a:r>
              <a: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· </a:t>
            </a:r>
            <a:r>
              <a:t>st.error()</a:t>
            </a:r>
          </a:p>
        </p:txBody>
      </p:sp>
      <p:sp>
        <p:nvSpPr>
          <p:cNvPr id="386" name="Shape 16"/>
          <p:cNvSpPr/>
          <p:nvPr/>
        </p:nvSpPr>
        <p:spPr>
          <a:xfrm>
            <a:off x="3750468" y="5812347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7" name="Text 17"/>
          <p:cNvSpPr txBox="1"/>
          <p:nvPr/>
        </p:nvSpPr>
        <p:spPr>
          <a:xfrm>
            <a:off x="3940968" y="4975734"/>
            <a:ext cx="4860394" cy="70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藍色資訊框 / 紅色錯誤框</a:t>
            </a:r>
          </a:p>
        </p:txBody>
      </p:sp>
      <p:sp>
        <p:nvSpPr>
          <p:cNvPr id="388" name="Shape 18"/>
          <p:cNvSpPr/>
          <p:nvPr/>
        </p:nvSpPr>
        <p:spPr>
          <a:xfrm>
            <a:off x="1066799" y="6517197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9" name="Shape 19"/>
          <p:cNvSpPr/>
          <p:nvPr/>
        </p:nvSpPr>
        <p:spPr>
          <a:xfrm>
            <a:off x="1257299" y="5999672"/>
            <a:ext cx="182374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0" name="Text 20"/>
          <p:cNvSpPr txBox="1"/>
          <p:nvPr/>
        </p:nvSpPr>
        <p:spPr>
          <a:xfrm>
            <a:off x="1390648" y="6037772"/>
            <a:ext cx="1633242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st.markdown()</a:t>
            </a:r>
          </a:p>
        </p:txBody>
      </p:sp>
      <p:sp>
        <p:nvSpPr>
          <p:cNvPr id="391" name="Shape 21"/>
          <p:cNvSpPr/>
          <p:nvPr/>
        </p:nvSpPr>
        <p:spPr>
          <a:xfrm>
            <a:off x="3750468" y="6517197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2" name="Text 22"/>
          <p:cNvSpPr txBox="1"/>
          <p:nvPr/>
        </p:nvSpPr>
        <p:spPr>
          <a:xfrm>
            <a:off x="3940968" y="5994910"/>
            <a:ext cx="486039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Markdown 語法（粗體 / 分隔線 / 表格）</a:t>
            </a:r>
          </a:p>
        </p:txBody>
      </p:sp>
      <p:sp>
        <p:nvSpPr>
          <p:cNvPr id="393" name="Shape 23"/>
          <p:cNvSpPr/>
          <p:nvPr/>
        </p:nvSpPr>
        <p:spPr>
          <a:xfrm>
            <a:off x="1066799" y="7222046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4" name="Shape 24"/>
          <p:cNvSpPr/>
          <p:nvPr/>
        </p:nvSpPr>
        <p:spPr>
          <a:xfrm>
            <a:off x="1257299" y="6704522"/>
            <a:ext cx="1703934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5" name="Text 25"/>
          <p:cNvSpPr txBox="1"/>
          <p:nvPr/>
        </p:nvSpPr>
        <p:spPr>
          <a:xfrm>
            <a:off x="1390648" y="6742622"/>
            <a:ext cx="1513435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st.spinner()</a:t>
            </a:r>
          </a:p>
        </p:txBody>
      </p:sp>
      <p:sp>
        <p:nvSpPr>
          <p:cNvPr id="396" name="Shape 26"/>
          <p:cNvSpPr/>
          <p:nvPr/>
        </p:nvSpPr>
        <p:spPr>
          <a:xfrm>
            <a:off x="3750468" y="7222046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7" name="Text 27"/>
          <p:cNvSpPr txBox="1"/>
          <p:nvPr/>
        </p:nvSpPr>
        <p:spPr>
          <a:xfrm>
            <a:off x="3940968" y="6699760"/>
            <a:ext cx="486039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with 區塊內顯示讀取動畫</a:t>
            </a:r>
          </a:p>
        </p:txBody>
      </p:sp>
      <p:sp>
        <p:nvSpPr>
          <p:cNvPr id="398" name="Shape 28"/>
          <p:cNvSpPr/>
          <p:nvPr/>
        </p:nvSpPr>
        <p:spPr>
          <a:xfrm>
            <a:off x="1257299" y="7409372"/>
            <a:ext cx="2302669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9" name="Text 29"/>
          <p:cNvSpPr txBox="1"/>
          <p:nvPr/>
        </p:nvSpPr>
        <p:spPr>
          <a:xfrm>
            <a:off x="1390649" y="7447472"/>
            <a:ext cx="2112169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st.plotly_chart()</a:t>
            </a:r>
          </a:p>
        </p:txBody>
      </p:sp>
      <p:sp>
        <p:nvSpPr>
          <p:cNvPr id="400" name="Text 30"/>
          <p:cNvSpPr txBox="1"/>
          <p:nvPr/>
        </p:nvSpPr>
        <p:spPr>
          <a:xfrm>
            <a:off x="3940968" y="7404610"/>
            <a:ext cx="4860394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渲染 Plotly 圖表</a:t>
            </a:r>
          </a:p>
        </p:txBody>
      </p:sp>
      <p:sp>
        <p:nvSpPr>
          <p:cNvPr id="401" name="Shape 31"/>
          <p:cNvSpPr/>
          <p:nvPr/>
        </p:nvSpPr>
        <p:spPr>
          <a:xfrm>
            <a:off x="1066799" y="8199947"/>
            <a:ext cx="7772400" cy="1797694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2" name="Shape 32"/>
          <p:cNvSpPr/>
          <p:nvPr/>
        </p:nvSpPr>
        <p:spPr>
          <a:xfrm>
            <a:off x="1066799" y="8199947"/>
            <a:ext cx="57150" cy="1797694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3" name="Text 33"/>
          <p:cNvSpPr txBox="1"/>
          <p:nvPr/>
        </p:nvSpPr>
        <p:spPr>
          <a:xfrm>
            <a:off x="1428749" y="8428546"/>
            <a:ext cx="7338822" cy="1378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45000"/>
              </a:lnSpc>
              <a:defRPr sz="2400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plotly_chart 的兩個必要參數： </a:t>
            </a:r>
            <a:r>
              <a:rPr sz="1800" b="0">
                <a:latin typeface="JetBrains Mono"/>
                <a:ea typeface="JetBrains Mono"/>
                <a:cs typeface="JetBrains Mono"/>
                <a:sym typeface="JetBrains Mono"/>
              </a:rPr>
              <a:t>use_container_width=True </a:t>
            </a:r>
            <a:r>
              <a:rPr b="0">
                <a:solidFill>
                  <a:srgbClr val="1A1714"/>
                </a:solidFill>
              </a:rPr>
              <a:t>自動填滿欄位寬度； </a:t>
            </a:r>
            <a:r>
              <a:rPr sz="1800" b="0">
                <a:latin typeface="JetBrains Mono"/>
                <a:ea typeface="JetBrains Mono"/>
                <a:cs typeface="JetBrains Mono"/>
                <a:sym typeface="JetBrains Mono"/>
              </a:rPr>
              <a:t>key= </a:t>
            </a:r>
            <a:r>
              <a:rPr b="0">
                <a:solidFill>
                  <a:srgbClr val="1A1714"/>
                </a:solidFill>
              </a:rPr>
              <a:t>多張圖時防止重複 ID。</a:t>
            </a:r>
          </a:p>
        </p:txBody>
      </p:sp>
      <p:sp>
        <p:nvSpPr>
          <p:cNvPr id="404" name="Shape 34"/>
          <p:cNvSpPr/>
          <p:nvPr/>
        </p:nvSpPr>
        <p:spPr>
          <a:xfrm>
            <a:off x="9448799" y="3227897"/>
            <a:ext cx="7772400" cy="7210871"/>
          </a:xfrm>
          <a:prstGeom prst="roundRect">
            <a:avLst>
              <a:gd name="adj" fmla="val 2906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05" name="Text 35"/>
          <p:cNvSpPr txBox="1"/>
          <p:nvPr/>
        </p:nvSpPr>
        <p:spPr>
          <a:xfrm>
            <a:off x="9867898" y="3570797"/>
            <a:ext cx="7142228" cy="6563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86384">
              <a:lnSpc>
                <a:spcPct val="155000"/>
              </a:lnSpc>
              <a:defRPr sz="1634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KPI 卡片（支援增減標示） </a:t>
            </a:r>
            <a:r>
              <a:rPr i="0">
                <a:solidFill>
                  <a:srgbClr val="E8E0D0"/>
                </a:solidFill>
              </a:rPr>
              <a:t>c1, c2, c3 = st.</a:t>
            </a:r>
            <a:r>
              <a:rPr i="0">
                <a:solidFill>
                  <a:srgbClr val="87B8DD"/>
                </a:solidFill>
              </a:rPr>
              <a:t>columns</a:t>
            </a:r>
            <a:r>
              <a:rPr i="0">
                <a:solidFill>
                  <a:srgbClr val="E8E0D0"/>
                </a:solidFill>
              </a:rPr>
              <a:t>(</a:t>
            </a:r>
            <a:r>
              <a:rPr i="0">
                <a:solidFill>
                  <a:srgbClr val="9EC58A"/>
                </a:solidFill>
              </a:rPr>
              <a:t>3 </a:t>
            </a:r>
            <a:r>
              <a:rPr i="0">
                <a:solidFill>
                  <a:srgbClr val="E8E0D0"/>
                </a:solidFill>
              </a:rPr>
              <a:t>)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c1. 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metric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"總借車次數"</a:t>
            </a:r>
            <a:r>
              <a:rPr>
                <a:solidFill>
                  <a:srgbClr val="E8E0D0"/>
                </a:solidFill>
              </a:rPr>
              <a:t>, f</a:t>
            </a:r>
            <a:r>
              <a:rPr>
                <a:solidFill>
                  <a:srgbClr val="9EC58A"/>
                </a:solidFill>
              </a:rPr>
              <a:t>"{n:,}" </a:t>
            </a:r>
            <a:r>
              <a:rPr>
                <a:solidFill>
                  <a:srgbClr val="E8E0D0"/>
                </a:solidFill>
              </a:rPr>
              <a:t>)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c2. 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metric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"里程"</a:t>
            </a:r>
            <a:r>
              <a:rPr>
                <a:solidFill>
                  <a:srgbClr val="E8E0D0"/>
                </a:solidFill>
              </a:rPr>
              <a:t>, </a:t>
            </a:r>
            <a:r>
              <a:rPr>
                <a:solidFill>
                  <a:srgbClr val="9EC58A"/>
                </a:solidFill>
              </a:rPr>
              <a:t>"35 km"</a:t>
            </a:r>
            <a:r>
              <a:rPr>
                <a:solidFill>
                  <a:srgbClr val="E8E0D0"/>
                </a:solidFill>
              </a:rPr>
              <a:t>, delta=</a:t>
            </a:r>
            <a:r>
              <a:rPr>
                <a:solidFill>
                  <a:srgbClr val="9EC58A"/>
                </a:solidFill>
              </a:rPr>
              <a:t>"+5%"</a:t>
            </a:r>
            <a:r>
              <a:rPr>
                <a:solidFill>
                  <a:srgbClr val="E8E0D0"/>
                </a:solidFill>
              </a:rPr>
              <a:t>) </a:t>
            </a:r>
            <a:r>
              <a:rPr i="1">
                <a:solidFill>
                  <a:srgbClr val="6B6258"/>
                </a:solidFill>
              </a:rPr>
              <a:t># 資訊框 / Markdown </a:t>
            </a:r>
            <a:r>
              <a:rPr>
                <a:solidFill>
                  <a:srgbClr val="E8E0D0"/>
                </a:solidFill>
              </a:rPr>
              <a:t>st.</a:t>
            </a:r>
            <a:r>
              <a:t>info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"**行政區**: 信義區" </a:t>
            </a:r>
            <a:r>
              <a:rPr>
                <a:solidFill>
                  <a:srgbClr val="E8E0D0"/>
                </a:solidFill>
              </a:rPr>
              <a:t>)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st. 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markdown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"---" </a:t>
            </a:r>
            <a:r>
              <a:rPr>
                <a:solidFill>
                  <a:srgbClr val="E8E0D0"/>
                </a:solidFill>
              </a:rPr>
              <a:t>)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st. 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markdown</a:t>
            </a:r>
            <a:r>
              <a:rPr>
                <a:solidFill>
                  <a:srgbClr val="E8E0D0"/>
                </a:solidFill>
              </a:rPr>
              <a:t>(f</a:t>
            </a:r>
            <a:r>
              <a:rPr>
                <a:solidFill>
                  <a:srgbClr val="9EC58A"/>
                </a:solidFill>
              </a:rPr>
              <a:t>"共 **{len(fo):,}** 筆借車"</a:t>
            </a:r>
            <a:r>
              <a:rPr>
                <a:solidFill>
                  <a:srgbClr val="E8E0D0"/>
                </a:solidFill>
              </a:rPr>
              <a:t>) </a:t>
            </a:r>
            <a:r>
              <a:rPr i="1">
                <a:solidFill>
                  <a:srgbClr val="6B6258"/>
                </a:solidFill>
              </a:rPr>
              <a:t># 讀取動畫 </a:t>
            </a:r>
            <a:r>
              <a:rPr>
                <a:solidFill>
                  <a:srgbClr val="E89A5A"/>
                </a:solidFill>
              </a:rPr>
              <a:t>with</a:t>
            </a:r>
            <a:r>
              <a:rPr>
                <a:solidFill>
                  <a:srgbClr val="E8E0D0"/>
                </a:solidFill>
              </a:rPr>
              <a:t> st.</a:t>
            </a:r>
            <a:r>
              <a:t>spinner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"載入資料中…" </a:t>
            </a:r>
            <a:r>
              <a:rPr>
                <a:solidFill>
                  <a:srgbClr val="E8E0D0"/>
                </a:solidFill>
              </a:rPr>
              <a:t>):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orders =  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load_orders</a:t>
            </a:r>
            <a:r>
              <a:rPr>
                <a:solidFill>
                  <a:srgbClr val="E8E0D0"/>
                </a:solidFill>
              </a:rPr>
              <a:t>() </a:t>
            </a:r>
            <a:r>
              <a:rPr i="1">
                <a:solidFill>
                  <a:srgbClr val="6B6258"/>
                </a:solidFill>
              </a:rPr>
              <a:t># 渲染 Plotly 圖表 </a:t>
            </a:r>
            <a:r>
              <a:rPr>
                <a:solidFill>
                  <a:srgbClr val="E8E0D0"/>
                </a:solidFill>
              </a:rPr>
              <a:t>fig = px.</a:t>
            </a:r>
            <a:r>
              <a:t>bar</a:t>
            </a:r>
            <a:r>
              <a:rPr>
                <a:solidFill>
                  <a:srgbClr val="E8E0D0"/>
                </a:solidFill>
              </a:rPr>
              <a:t>(df, x=</a:t>
            </a:r>
            <a:r>
              <a:rPr>
                <a:solidFill>
                  <a:srgbClr val="9EC58A"/>
                </a:solidFill>
              </a:rPr>
              <a:t>"month"</a:t>
            </a:r>
            <a:r>
              <a:rPr>
                <a:solidFill>
                  <a:srgbClr val="E8E0D0"/>
                </a:solidFill>
              </a:rPr>
              <a:t>, y=</a:t>
            </a:r>
            <a:r>
              <a:rPr>
                <a:solidFill>
                  <a:srgbClr val="9EC58A"/>
                </a:solidFill>
              </a:rPr>
              <a:t>"借車次數" </a:t>
            </a:r>
            <a:r>
              <a:rPr>
                <a:solidFill>
                  <a:srgbClr val="E8E0D0"/>
                </a:solidFill>
              </a:rPr>
              <a:t>)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st. </a:t>
            </a:r>
          </a:p>
          <a:p>
            <a:pPr defTabSz="786384">
              <a:lnSpc>
                <a:spcPct val="155000"/>
              </a:lnSpc>
              <a:defRPr sz="163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plotly_chart</a:t>
            </a:r>
            <a:r>
              <a:rPr>
                <a:solidFill>
                  <a:srgbClr val="E8E0D0"/>
                </a:solidFill>
              </a:rPr>
              <a:t>(fig, use_container_width=</a:t>
            </a:r>
            <a:r>
              <a:rPr>
                <a:solidFill>
                  <a:srgbClr val="E89A5A"/>
                </a:solidFill>
              </a:rPr>
              <a:t>True</a:t>
            </a:r>
            <a:r>
              <a:rPr>
                <a:solidFill>
                  <a:srgbClr val="E8E0D0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0" name="Text 1"/>
          <p:cNvSpPr txBox="1"/>
          <p:nvPr/>
        </p:nvSpPr>
        <p:spPr>
          <a:xfrm>
            <a:off x="1352550" y="914400"/>
            <a:ext cx="1987302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2.6 INSIGHTS</a:t>
            </a:r>
          </a:p>
        </p:txBody>
      </p:sp>
      <p:sp>
        <p:nvSpPr>
          <p:cNvPr id="411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13 / 41</a:t>
            </a:r>
          </a:p>
        </p:txBody>
      </p:sp>
      <p:sp>
        <p:nvSpPr>
          <p:cNvPr id="412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從合成資料中觀察到的規律</a:t>
            </a:r>
          </a:p>
        </p:txBody>
      </p:sp>
      <p:sp>
        <p:nvSpPr>
          <p:cNvPr id="413" name="Text 4"/>
          <p:cNvSpPr txBox="1"/>
          <p:nvPr/>
        </p:nvSpPr>
        <p:spPr>
          <a:xfrm>
            <a:off x="1066800" y="224790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76655">
              <a:lnSpc>
                <a:spcPct val="104999"/>
              </a:lnSpc>
              <a:defRPr sz="4440" b="1" spc="-7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這份資料能講出哪些「故事」？</a:t>
            </a:r>
          </a:p>
        </p:txBody>
      </p:sp>
      <p:sp>
        <p:nvSpPr>
          <p:cNvPr id="414" name="Text 5"/>
          <p:cNvSpPr txBox="1"/>
          <p:nvPr/>
        </p:nvSpPr>
        <p:spPr>
          <a:xfrm>
            <a:off x="1066800" y="3200400"/>
            <a:ext cx="13735050" cy="1127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0000"/>
              </a:lnSpc>
              <a:defRPr sz="3300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以下洞察基於合成資料，設計上反映台灣共享單車的真實使用行為模式。</a:t>
            </a:r>
          </a:p>
        </p:txBody>
      </p:sp>
      <p:sp>
        <p:nvSpPr>
          <p:cNvPr id="415" name="Shape 6"/>
          <p:cNvSpPr/>
          <p:nvPr/>
        </p:nvSpPr>
        <p:spPr>
          <a:xfrm>
            <a:off x="911525" y="4086381"/>
            <a:ext cx="5206902" cy="2584848"/>
          </a:xfrm>
          <a:prstGeom prst="roundRect">
            <a:avLst>
              <a:gd name="adj" fmla="val 6633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6" name="Text 7"/>
          <p:cNvSpPr txBox="1"/>
          <p:nvPr/>
        </p:nvSpPr>
        <p:spPr>
          <a:xfrm>
            <a:off x="1216325" y="4353081"/>
            <a:ext cx="473522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58951">
              <a:defRPr sz="4731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40%+</a:t>
            </a:r>
          </a:p>
        </p:txBody>
      </p:sp>
      <p:sp>
        <p:nvSpPr>
          <p:cNvPr id="417" name="Text 8"/>
          <p:cNvSpPr txBox="1"/>
          <p:nvPr/>
        </p:nvSpPr>
        <p:spPr>
          <a:xfrm>
            <a:off x="1216325" y="5191281"/>
            <a:ext cx="4735220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b="1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通勤高峰佔比</a:t>
            </a:r>
          </a:p>
        </p:txBody>
      </p:sp>
      <p:sp>
        <p:nvSpPr>
          <p:cNvPr id="418" name="Text 9"/>
          <p:cNvSpPr txBox="1"/>
          <p:nvPr/>
        </p:nvSpPr>
        <p:spPr>
          <a:xfrm>
            <a:off x="1216325" y="5696106"/>
            <a:ext cx="4735220" cy="746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86384">
              <a:lnSpc>
                <a:spcPct val="155000"/>
              </a:lnSpc>
              <a:defRPr sz="1548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早上 7–9 點、傍晚 17–19 點借車合計超過全日 40%。</a:t>
            </a:r>
          </a:p>
        </p:txBody>
      </p:sp>
      <p:sp>
        <p:nvSpPr>
          <p:cNvPr id="419" name="Shape 10"/>
          <p:cNvSpPr/>
          <p:nvPr/>
        </p:nvSpPr>
        <p:spPr>
          <a:xfrm>
            <a:off x="6385125" y="4086381"/>
            <a:ext cx="5207051" cy="2584848"/>
          </a:xfrm>
          <a:prstGeom prst="roundRect">
            <a:avLst>
              <a:gd name="adj" fmla="val 6633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0" name="Text 11"/>
          <p:cNvSpPr txBox="1"/>
          <p:nvPr/>
        </p:nvSpPr>
        <p:spPr>
          <a:xfrm>
            <a:off x="6689925" y="4353081"/>
            <a:ext cx="473537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58951">
              <a:defRPr sz="4731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50%</a:t>
            </a:r>
          </a:p>
        </p:txBody>
      </p:sp>
      <p:sp>
        <p:nvSpPr>
          <p:cNvPr id="421" name="Text 12"/>
          <p:cNvSpPr txBox="1"/>
          <p:nvPr/>
        </p:nvSpPr>
        <p:spPr>
          <a:xfrm>
            <a:off x="6689925" y="5191281"/>
            <a:ext cx="473537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b="1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電輔版占比</a:t>
            </a:r>
          </a:p>
        </p:txBody>
      </p:sp>
      <p:sp>
        <p:nvSpPr>
          <p:cNvPr id="422" name="Text 13"/>
          <p:cNvSpPr txBox="1"/>
          <p:nvPr/>
        </p:nvSpPr>
        <p:spPr>
          <a:xfrm>
            <a:off x="6689925" y="5696106"/>
            <a:ext cx="4735374" cy="746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86384">
              <a:lnSpc>
                <a:spcPct val="155000"/>
              </a:lnSpc>
              <a:defRPr sz="1548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YouBike 2.0 電輔版為最熱門車款，顯示電動輔助需求旺盛。</a:t>
            </a:r>
          </a:p>
        </p:txBody>
      </p:sp>
      <p:sp>
        <p:nvSpPr>
          <p:cNvPr id="423" name="Shape 14"/>
          <p:cNvSpPr/>
          <p:nvPr/>
        </p:nvSpPr>
        <p:spPr>
          <a:xfrm>
            <a:off x="11858874" y="4086381"/>
            <a:ext cx="5207051" cy="2584848"/>
          </a:xfrm>
          <a:prstGeom prst="roundRect">
            <a:avLst>
              <a:gd name="adj" fmla="val 6633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4" name="Text 15"/>
          <p:cNvSpPr txBox="1"/>
          <p:nvPr/>
        </p:nvSpPr>
        <p:spPr>
          <a:xfrm>
            <a:off x="12163674" y="4353081"/>
            <a:ext cx="473537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58951">
              <a:defRPr sz="4731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40%</a:t>
            </a:r>
          </a:p>
        </p:txBody>
      </p:sp>
      <p:sp>
        <p:nvSpPr>
          <p:cNvPr id="425" name="Text 16"/>
          <p:cNvSpPr txBox="1"/>
          <p:nvPr/>
        </p:nvSpPr>
        <p:spPr>
          <a:xfrm>
            <a:off x="12163674" y="5191281"/>
            <a:ext cx="473537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b="1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台北市占比</a:t>
            </a:r>
          </a:p>
        </p:txBody>
      </p:sp>
      <p:sp>
        <p:nvSpPr>
          <p:cNvPr id="426" name="Text 17"/>
          <p:cNvSpPr txBox="1"/>
          <p:nvPr/>
        </p:nvSpPr>
        <p:spPr>
          <a:xfrm>
            <a:off x="12163674" y="5696106"/>
            <a:ext cx="4735374" cy="39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55000"/>
              </a:lnSpc>
              <a:defRPr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台北市訂單佔整體 40%，為最大需求城市。</a:t>
            </a:r>
          </a:p>
        </p:txBody>
      </p:sp>
      <p:sp>
        <p:nvSpPr>
          <p:cNvPr id="427" name="Shape 18"/>
          <p:cNvSpPr/>
          <p:nvPr/>
        </p:nvSpPr>
        <p:spPr>
          <a:xfrm>
            <a:off x="911525" y="6937928"/>
            <a:ext cx="5206902" cy="2584848"/>
          </a:xfrm>
          <a:prstGeom prst="roundRect">
            <a:avLst>
              <a:gd name="adj" fmla="val 6633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8" name="Text 19"/>
          <p:cNvSpPr txBox="1"/>
          <p:nvPr/>
        </p:nvSpPr>
        <p:spPr>
          <a:xfrm>
            <a:off x="1216325" y="7204628"/>
            <a:ext cx="473522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58951">
              <a:defRPr sz="4731" b="1">
                <a:solidFill>
                  <a:srgbClr val="5C7A52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×3</a:t>
            </a:r>
          </a:p>
        </p:txBody>
      </p:sp>
      <p:sp>
        <p:nvSpPr>
          <p:cNvPr id="429" name="Text 20"/>
          <p:cNvSpPr txBox="1"/>
          <p:nvPr/>
        </p:nvSpPr>
        <p:spPr>
          <a:xfrm>
            <a:off x="1216325" y="8042828"/>
            <a:ext cx="4735220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b="1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捷運站倍數</a:t>
            </a:r>
          </a:p>
        </p:txBody>
      </p:sp>
      <p:sp>
        <p:nvSpPr>
          <p:cNvPr id="430" name="Text 21"/>
          <p:cNvSpPr txBox="1"/>
          <p:nvPr/>
        </p:nvSpPr>
        <p:spPr>
          <a:xfrm>
            <a:off x="1216325" y="8547653"/>
            <a:ext cx="4735220" cy="746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lnSpc>
                <a:spcPct val="155000"/>
              </a:lnSpc>
              <a:defRPr sz="1727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捷運站周邊站點借車次數為其他場域的 2–3 倍。</a:t>
            </a:r>
          </a:p>
        </p:txBody>
      </p:sp>
      <p:sp>
        <p:nvSpPr>
          <p:cNvPr id="431" name="Shape 22"/>
          <p:cNvSpPr/>
          <p:nvPr/>
        </p:nvSpPr>
        <p:spPr>
          <a:xfrm>
            <a:off x="6385125" y="6937928"/>
            <a:ext cx="5207051" cy="2584848"/>
          </a:xfrm>
          <a:prstGeom prst="roundRect">
            <a:avLst>
              <a:gd name="adj" fmla="val 6633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2" name="Text 23"/>
          <p:cNvSpPr txBox="1"/>
          <p:nvPr/>
        </p:nvSpPr>
        <p:spPr>
          <a:xfrm>
            <a:off x="6689925" y="7204628"/>
            <a:ext cx="473537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58951">
              <a:defRPr sz="4731" b="1">
                <a:solidFill>
                  <a:srgbClr val="5C7A52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65%</a:t>
            </a:r>
          </a:p>
        </p:txBody>
      </p:sp>
      <p:sp>
        <p:nvSpPr>
          <p:cNvPr id="433" name="Text 24"/>
          <p:cNvSpPr txBox="1"/>
          <p:nvPr/>
        </p:nvSpPr>
        <p:spPr>
          <a:xfrm>
            <a:off x="6689925" y="8042828"/>
            <a:ext cx="473537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b="1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原站歸還率</a:t>
            </a:r>
          </a:p>
        </p:txBody>
      </p:sp>
      <p:sp>
        <p:nvSpPr>
          <p:cNvPr id="434" name="Text 25"/>
          <p:cNvSpPr txBox="1"/>
          <p:nvPr/>
        </p:nvSpPr>
        <p:spPr>
          <a:xfrm>
            <a:off x="6689925" y="8547653"/>
            <a:ext cx="4735374" cy="746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86384">
              <a:lnSpc>
                <a:spcPct val="155000"/>
              </a:lnSpc>
              <a:defRPr sz="1548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65% 的用戶在同一站取還車，異站還車集中在鄰近站點。</a:t>
            </a:r>
          </a:p>
        </p:txBody>
      </p:sp>
      <p:sp>
        <p:nvSpPr>
          <p:cNvPr id="435" name="Shape 26"/>
          <p:cNvSpPr/>
          <p:nvPr/>
        </p:nvSpPr>
        <p:spPr>
          <a:xfrm>
            <a:off x="11858874" y="6937928"/>
            <a:ext cx="5207051" cy="2584848"/>
          </a:xfrm>
          <a:prstGeom prst="roundRect">
            <a:avLst>
              <a:gd name="adj" fmla="val 6633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6" name="Text 27"/>
          <p:cNvSpPr txBox="1"/>
          <p:nvPr/>
        </p:nvSpPr>
        <p:spPr>
          <a:xfrm>
            <a:off x="12163674" y="7204628"/>
            <a:ext cx="473537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58951">
              <a:defRPr sz="4731" b="1">
                <a:solidFill>
                  <a:srgbClr val="5C7A52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12–15%</a:t>
            </a:r>
          </a:p>
        </p:txBody>
      </p:sp>
      <p:sp>
        <p:nvSpPr>
          <p:cNvPr id="437" name="Text 28"/>
          <p:cNvSpPr txBox="1"/>
          <p:nvPr/>
        </p:nvSpPr>
        <p:spPr>
          <a:xfrm>
            <a:off x="12163674" y="8042828"/>
            <a:ext cx="473537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b="1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通勤轉換率</a:t>
            </a:r>
          </a:p>
        </p:txBody>
      </p:sp>
      <p:sp>
        <p:nvSpPr>
          <p:cNvPr id="438" name="Text 29"/>
          <p:cNvSpPr txBox="1"/>
          <p:nvPr/>
        </p:nvSpPr>
        <p:spPr>
          <a:xfrm>
            <a:off x="12163674" y="8547653"/>
            <a:ext cx="4735374" cy="746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155000"/>
              </a:lnSpc>
              <a:defRPr sz="1746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App 瀏覽到實際借車的轉換率在通勤時段最高。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1066800" y="992534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3" name="Text 1"/>
          <p:cNvSpPr txBox="1"/>
          <p:nvPr/>
        </p:nvSpPr>
        <p:spPr>
          <a:xfrm>
            <a:off x="1352550" y="911571"/>
            <a:ext cx="1668810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SECTION 03</a:t>
            </a:r>
          </a:p>
        </p:txBody>
      </p:sp>
      <p:sp>
        <p:nvSpPr>
          <p:cNvPr id="444" name="Text 2"/>
          <p:cNvSpPr txBox="1"/>
          <p:nvPr/>
        </p:nvSpPr>
        <p:spPr>
          <a:xfrm>
            <a:off x="16135647" y="911571"/>
            <a:ext cx="1161753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14 / 41</a:t>
            </a:r>
          </a:p>
        </p:txBody>
      </p:sp>
      <p:sp>
        <p:nvSpPr>
          <p:cNvPr id="445" name="Text 3"/>
          <p:cNvSpPr txBox="1"/>
          <p:nvPr/>
        </p:nvSpPr>
        <p:spPr>
          <a:xfrm>
            <a:off x="1066799" y="1187796"/>
            <a:ext cx="16639034" cy="438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200" spc="5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PLOTLY · 圖表函式庫</a:t>
            </a:r>
          </a:p>
        </p:txBody>
      </p:sp>
      <p:sp>
        <p:nvSpPr>
          <p:cNvPr id="446" name="Text 4"/>
          <p:cNvSpPr txBox="1"/>
          <p:nvPr/>
        </p:nvSpPr>
        <p:spPr>
          <a:xfrm>
            <a:off x="1066799" y="1816447"/>
            <a:ext cx="16639034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85800">
              <a:lnSpc>
                <a:spcPct val="90000"/>
              </a:lnSpc>
              <a:defRPr sz="15750" spc="-675">
                <a:solidFill>
                  <a:srgbClr val="C45A2C">
                    <a:alpha val="8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447" name="Text 5"/>
          <p:cNvSpPr txBox="1"/>
          <p:nvPr/>
        </p:nvSpPr>
        <p:spPr>
          <a:xfrm>
            <a:off x="1066799" y="4559646"/>
            <a:ext cx="16639034" cy="2415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lnSpc>
                <a:spcPct val="104000"/>
              </a:lnSpc>
              <a:defRPr sz="864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Plotly Express &amp; Graph Objects</a:t>
            </a:r>
          </a:p>
        </p:txBody>
      </p:sp>
      <p:sp>
        <p:nvSpPr>
          <p:cNvPr id="448" name="Text 6"/>
          <p:cNvSpPr txBox="1"/>
          <p:nvPr/>
        </p:nvSpPr>
        <p:spPr>
          <a:xfrm>
            <a:off x="1066800" y="7241827"/>
            <a:ext cx="11772900" cy="186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3300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Express 一行畫圖，適合探索；Graph Objects 精細控制，適合 production。 從 px 開始，遇到雙 Y 軸或複合圖再換 go。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1066800" y="1000125"/>
            <a:ext cx="114300" cy="114300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3" name="Text 1"/>
          <p:cNvSpPr txBox="1"/>
          <p:nvPr/>
        </p:nvSpPr>
        <p:spPr>
          <a:xfrm>
            <a:off x="1352549" y="914400"/>
            <a:ext cx="2805877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3.1 PLOTLY 兩大模組</a:t>
            </a:r>
          </a:p>
        </p:txBody>
      </p:sp>
      <p:sp>
        <p:nvSpPr>
          <p:cNvPr id="454" name="Text 2"/>
          <p:cNvSpPr txBox="1"/>
          <p:nvPr/>
        </p:nvSpPr>
        <p:spPr>
          <a:xfrm>
            <a:off x="16135647" y="919162"/>
            <a:ext cx="1161753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15 / 41</a:t>
            </a:r>
          </a:p>
        </p:txBody>
      </p:sp>
      <p:sp>
        <p:nvSpPr>
          <p:cNvPr id="455" name="Text 3"/>
          <p:cNvSpPr txBox="1"/>
          <p:nvPr/>
        </p:nvSpPr>
        <p:spPr>
          <a:xfrm>
            <a:off x="1066799" y="1733550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入口選擇</a:t>
            </a:r>
          </a:p>
        </p:txBody>
      </p:sp>
      <p:sp>
        <p:nvSpPr>
          <p:cNvPr id="456" name="Text 4"/>
          <p:cNvSpPr txBox="1"/>
          <p:nvPr/>
        </p:nvSpPr>
        <p:spPr>
          <a:xfrm>
            <a:off x="1066800" y="2257425"/>
            <a:ext cx="14716125" cy="16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4999"/>
              </a:lnSpc>
              <a:defRPr sz="6000" b="1" spc="-1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/>
              <a:t>Plotly Express (</a:t>
            </a:r>
            <a:r>
              <a:rPr dirty="0" err="1"/>
              <a:t>px</a:t>
            </a:r>
            <a:r>
              <a:rPr dirty="0"/>
              <a:t>) vs Graph Objects (go)</a:t>
            </a:r>
          </a:p>
        </p:txBody>
      </p:sp>
      <p:sp>
        <p:nvSpPr>
          <p:cNvPr id="457" name="Shape 5"/>
          <p:cNvSpPr/>
          <p:nvPr/>
        </p:nvSpPr>
        <p:spPr>
          <a:xfrm>
            <a:off x="886967" y="3339257"/>
            <a:ext cx="7772400" cy="6419999"/>
          </a:xfrm>
          <a:prstGeom prst="roundRect">
            <a:avLst>
              <a:gd name="adj" fmla="val 2671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8" name="Text 6"/>
          <p:cNvSpPr txBox="1"/>
          <p:nvPr/>
        </p:nvSpPr>
        <p:spPr>
          <a:xfrm>
            <a:off x="1191767" y="3605957"/>
            <a:ext cx="7377684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PLOTLY EXPRESS · PX</a:t>
            </a:r>
          </a:p>
        </p:txBody>
      </p:sp>
      <p:sp>
        <p:nvSpPr>
          <p:cNvPr id="459" name="Shape 7"/>
          <p:cNvSpPr/>
          <p:nvPr/>
        </p:nvSpPr>
        <p:spPr>
          <a:xfrm>
            <a:off x="1191767" y="4034582"/>
            <a:ext cx="4246513" cy="444550"/>
          </a:xfrm>
          <a:prstGeom prst="roundRect">
            <a:avLst>
              <a:gd name="adj" fmla="val 17141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0" name="Text 8"/>
          <p:cNvSpPr txBox="1"/>
          <p:nvPr/>
        </p:nvSpPr>
        <p:spPr>
          <a:xfrm>
            <a:off x="1325116" y="4072682"/>
            <a:ext cx="4107209" cy="406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55000"/>
              </a:lnSpc>
              <a:defRPr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import plotly.express as px</a:t>
            </a:r>
          </a:p>
        </p:txBody>
      </p:sp>
      <p:sp>
        <p:nvSpPr>
          <p:cNvPr id="461" name="Text 9"/>
          <p:cNvSpPr txBox="1"/>
          <p:nvPr/>
        </p:nvSpPr>
        <p:spPr>
          <a:xfrm>
            <a:off x="1207007" y="4612481"/>
            <a:ext cx="7355586" cy="51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marL="213359" indent="-213359">
              <a:lnSpc>
                <a:spcPct val="155000"/>
              </a:lnSpc>
              <a:buSzPct val="100000"/>
              <a:buChar char="•"/>
              <a:tabLst>
                <a:tab pos="203200" algn="l"/>
              </a:tabLst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一行程式碼產生圖表</a:t>
            </a:r>
          </a:p>
        </p:txBody>
      </p:sp>
      <p:sp>
        <p:nvSpPr>
          <p:cNvPr id="462" name="Text 10"/>
          <p:cNvSpPr txBox="1"/>
          <p:nvPr/>
        </p:nvSpPr>
        <p:spPr>
          <a:xfrm>
            <a:off x="1207007" y="5294412"/>
            <a:ext cx="7355586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marL="213359" indent="-213359">
              <a:lnSpc>
                <a:spcPct val="155000"/>
              </a:lnSpc>
              <a:buSzPct val="100000"/>
              <a:buChar char="•"/>
              <a:tabLst>
                <a:tab pos="203200" algn="l"/>
              </a:tabLst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適合快速探索資料</a:t>
            </a:r>
          </a:p>
        </p:txBody>
      </p:sp>
      <p:sp>
        <p:nvSpPr>
          <p:cNvPr id="463" name="Text 11"/>
          <p:cNvSpPr txBox="1"/>
          <p:nvPr/>
        </p:nvSpPr>
        <p:spPr>
          <a:xfrm>
            <a:off x="1207007" y="5976343"/>
            <a:ext cx="7355586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marL="213359" indent="-213359">
              <a:lnSpc>
                <a:spcPct val="155000"/>
              </a:lnSpc>
              <a:buSzPct val="100000"/>
              <a:buChar char="•"/>
              <a:tabLst>
                <a:tab pos="203200" algn="l"/>
              </a:tabLst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自動處理色彩、圖例</a:t>
            </a:r>
          </a:p>
        </p:txBody>
      </p:sp>
      <p:sp>
        <p:nvSpPr>
          <p:cNvPr id="464" name="Text 12"/>
          <p:cNvSpPr txBox="1"/>
          <p:nvPr/>
        </p:nvSpPr>
        <p:spPr>
          <a:xfrm>
            <a:off x="1207007" y="6658272"/>
            <a:ext cx="7355586" cy="982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marL="194157" indent="-194157" defTabSz="832104">
              <a:lnSpc>
                <a:spcPct val="155000"/>
              </a:lnSpc>
              <a:buSzPct val="100000"/>
              <a:buChar char="•"/>
              <a:defRPr sz="218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用於： </a:t>
            </a:r>
            <a:r>
              <a:rPr>
                <a:solidFill>
                  <a:srgbClr val="4A4036"/>
                </a:solidFill>
              </a:rPr>
              <a:t>bar / area / pie / histogram / imshow / scatter_mapbox</a:t>
            </a:r>
          </a:p>
        </p:txBody>
      </p:sp>
      <p:sp>
        <p:nvSpPr>
          <p:cNvPr id="465" name="Shape 13"/>
          <p:cNvSpPr/>
          <p:nvPr/>
        </p:nvSpPr>
        <p:spPr>
          <a:xfrm>
            <a:off x="1191767" y="7812583"/>
            <a:ext cx="7162800" cy="1679974"/>
          </a:xfrm>
          <a:prstGeom prst="roundRect">
            <a:avLst>
              <a:gd name="adj" fmla="val 12473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66" name="Text 14"/>
          <p:cNvSpPr txBox="1"/>
          <p:nvPr/>
        </p:nvSpPr>
        <p:spPr>
          <a:xfrm>
            <a:off x="1401317" y="8003083"/>
            <a:ext cx="6946011" cy="1337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457200">
              <a:lnSpc>
                <a:spcPct val="155000"/>
              </a:lnSpc>
              <a:defRPr sz="8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fig = px.</a:t>
            </a:r>
            <a:r>
              <a:rPr>
                <a:solidFill>
                  <a:srgbClr val="87B8DD"/>
                </a:solidFill>
              </a:rPr>
              <a:t>bar </a:t>
            </a:r>
            <a:r>
              <a:t>(</a:t>
            </a:r>
          </a:p>
          <a:p>
            <a:pPr defTabSz="457200">
              <a:lnSpc>
                <a:spcPct val="155000"/>
              </a:lnSpc>
              <a:defRPr sz="8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df, x= </a:t>
            </a:r>
          </a:p>
          <a:p>
            <a:pPr defTabSz="457200">
              <a:lnSpc>
                <a:spcPct val="155000"/>
              </a:lnSpc>
              <a:defRPr sz="80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"month"</a:t>
            </a:r>
            <a:r>
              <a:rPr>
                <a:solidFill>
                  <a:srgbClr val="E8E0D0"/>
                </a:solidFill>
              </a:rPr>
              <a:t>, y=</a:t>
            </a:r>
            <a:r>
              <a:t>"借車次數"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57200">
              <a:lnSpc>
                <a:spcPct val="155000"/>
              </a:lnSpc>
              <a:defRPr sz="8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color= </a:t>
            </a:r>
          </a:p>
          <a:p>
            <a:pPr defTabSz="457200">
              <a:lnSpc>
                <a:spcPct val="155000"/>
              </a:lnSpc>
              <a:defRPr sz="80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57200">
              <a:lnSpc>
                <a:spcPct val="155000"/>
              </a:lnSpc>
              <a:defRPr sz="8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title= </a:t>
            </a:r>
          </a:p>
          <a:p>
            <a:pPr defTabSz="457200">
              <a:lnSpc>
                <a:spcPct val="155000"/>
              </a:lnSpc>
              <a:defRPr sz="80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"月借車趨勢"</a:t>
            </a:r>
            <a:r>
              <a:rPr>
                <a:solidFill>
                  <a:srgbClr val="E8E0D0"/>
                </a:solidFill>
              </a:rPr>
              <a:t>)</a:t>
            </a:r>
          </a:p>
        </p:txBody>
      </p:sp>
      <p:sp>
        <p:nvSpPr>
          <p:cNvPr id="467" name="Shape 15"/>
          <p:cNvSpPr/>
          <p:nvPr/>
        </p:nvSpPr>
        <p:spPr>
          <a:xfrm>
            <a:off x="9268967" y="3339257"/>
            <a:ext cx="7772400" cy="6419998"/>
          </a:xfrm>
          <a:prstGeom prst="roundRect">
            <a:avLst>
              <a:gd name="adj" fmla="val 2883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8" name="Text 16"/>
          <p:cNvSpPr txBox="1"/>
          <p:nvPr/>
        </p:nvSpPr>
        <p:spPr>
          <a:xfrm>
            <a:off x="9573767" y="3605957"/>
            <a:ext cx="7377684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GRAPH OBJECTS · GO</a:t>
            </a:r>
          </a:p>
        </p:txBody>
      </p:sp>
      <p:sp>
        <p:nvSpPr>
          <p:cNvPr id="469" name="Shape 17"/>
          <p:cNvSpPr/>
          <p:nvPr/>
        </p:nvSpPr>
        <p:spPr>
          <a:xfrm>
            <a:off x="9573767" y="4034582"/>
            <a:ext cx="5130999" cy="444550"/>
          </a:xfrm>
          <a:prstGeom prst="roundRect">
            <a:avLst>
              <a:gd name="adj" fmla="val 17141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0" name="Text 18"/>
          <p:cNvSpPr txBox="1"/>
          <p:nvPr/>
        </p:nvSpPr>
        <p:spPr>
          <a:xfrm>
            <a:off x="9707116" y="4072682"/>
            <a:ext cx="5018230" cy="406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55000"/>
              </a:lnSpc>
              <a:defRPr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import plotly.graph_objects as go</a:t>
            </a:r>
          </a:p>
        </p:txBody>
      </p:sp>
      <p:sp>
        <p:nvSpPr>
          <p:cNvPr id="471" name="Text 19"/>
          <p:cNvSpPr txBox="1"/>
          <p:nvPr/>
        </p:nvSpPr>
        <p:spPr>
          <a:xfrm>
            <a:off x="9589007" y="4612481"/>
            <a:ext cx="7355587" cy="51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marL="213359" indent="-213359">
              <a:lnSpc>
                <a:spcPct val="155000"/>
              </a:lnSpc>
              <a:buSzPct val="100000"/>
              <a:buChar char="•"/>
              <a:tabLst>
                <a:tab pos="203200" algn="l"/>
              </a:tabLst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精細控制每條 trace</a:t>
            </a:r>
          </a:p>
        </p:txBody>
      </p:sp>
      <p:sp>
        <p:nvSpPr>
          <p:cNvPr id="472" name="Text 20"/>
          <p:cNvSpPr txBox="1"/>
          <p:nvPr/>
        </p:nvSpPr>
        <p:spPr>
          <a:xfrm>
            <a:off x="9589007" y="5294412"/>
            <a:ext cx="7355587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marL="213359" indent="-213359">
              <a:lnSpc>
                <a:spcPct val="155000"/>
              </a:lnSpc>
              <a:buSzPct val="100000"/>
              <a:buChar char="•"/>
              <a:tabLst>
                <a:tab pos="203200" algn="l"/>
              </a:tabLst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多 trace 疊加</a:t>
            </a:r>
          </a:p>
        </p:txBody>
      </p:sp>
      <p:sp>
        <p:nvSpPr>
          <p:cNvPr id="473" name="Text 21"/>
          <p:cNvSpPr txBox="1"/>
          <p:nvPr/>
        </p:nvSpPr>
        <p:spPr>
          <a:xfrm>
            <a:off x="9589007" y="5976343"/>
            <a:ext cx="7355587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marL="213359" indent="-213359">
              <a:lnSpc>
                <a:spcPct val="155000"/>
              </a:lnSpc>
              <a:buSzPct val="100000"/>
              <a:buChar char="•"/>
              <a:tabLst>
                <a:tab pos="203200" algn="l"/>
              </a:tabLst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雙 Y 軸、subplots</a:t>
            </a:r>
          </a:p>
        </p:txBody>
      </p:sp>
      <p:sp>
        <p:nvSpPr>
          <p:cNvPr id="474" name="Text 22"/>
          <p:cNvSpPr txBox="1"/>
          <p:nvPr/>
        </p:nvSpPr>
        <p:spPr>
          <a:xfrm>
            <a:off x="9589007" y="6658273"/>
            <a:ext cx="7355587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marL="213359" indent="-213359">
              <a:lnSpc>
                <a:spcPct val="155000"/>
              </a:lnSpc>
              <a:buSzPct val="100000"/>
              <a:buChar char="•"/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用於：</a:t>
            </a:r>
            <a:r>
              <a:rPr>
                <a:solidFill>
                  <a:srgbClr val="4A4036"/>
                </a:solidFill>
              </a:rPr>
              <a:t>go.Scatter / go.Bar / make_subplots</a:t>
            </a:r>
          </a:p>
        </p:txBody>
      </p:sp>
      <p:sp>
        <p:nvSpPr>
          <p:cNvPr id="475" name="Shape 23"/>
          <p:cNvSpPr/>
          <p:nvPr/>
        </p:nvSpPr>
        <p:spPr>
          <a:xfrm>
            <a:off x="9573767" y="7340202"/>
            <a:ext cx="7162800" cy="1679973"/>
          </a:xfrm>
          <a:prstGeom prst="roundRect">
            <a:avLst>
              <a:gd name="adj" fmla="val 12473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76" name="Text 24"/>
          <p:cNvSpPr txBox="1"/>
          <p:nvPr/>
        </p:nvSpPr>
        <p:spPr>
          <a:xfrm>
            <a:off x="9783317" y="7530702"/>
            <a:ext cx="6946011" cy="1337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fig = go.</a:t>
            </a:r>
            <a:r>
              <a:rPr>
                <a:solidFill>
                  <a:srgbClr val="87B8DD"/>
                </a:solidFill>
              </a:rPr>
              <a:t>Figure </a:t>
            </a:r>
            <a:r>
              <a:t>()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fig.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add_trace</a:t>
            </a:r>
            <a:r>
              <a:rPr>
                <a:solidFill>
                  <a:srgbClr val="E8E0D0"/>
                </a:solidFill>
              </a:rPr>
              <a:t>(go.</a:t>
            </a:r>
            <a:r>
              <a:t>Scatter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x=dates, y=orders,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name=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</a:t>
            </a:r>
            <a:r>
              <a:rPr>
                <a:solidFill>
                  <a:srgbClr val="E8E0D0"/>
                </a:solidFill>
              </a:rPr>
              <a:t>))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4" name="Text 1"/>
          <p:cNvSpPr txBox="1"/>
          <p:nvPr/>
        </p:nvSpPr>
        <p:spPr>
          <a:xfrm>
            <a:off x="1352549" y="914400"/>
            <a:ext cx="2952731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3.2 PLOTLY EXPRESS</a:t>
            </a:r>
          </a:p>
        </p:txBody>
      </p:sp>
      <p:sp>
        <p:nvSpPr>
          <p:cNvPr id="485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16 / 41</a:t>
            </a:r>
          </a:p>
        </p:txBody>
      </p:sp>
      <p:sp>
        <p:nvSpPr>
          <p:cNvPr id="486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長條與面積</a:t>
            </a:r>
          </a:p>
        </p:txBody>
      </p:sp>
      <p:sp>
        <p:nvSpPr>
          <p:cNvPr id="487" name="Text 4"/>
          <p:cNvSpPr txBox="1"/>
          <p:nvPr/>
        </p:nvSpPr>
        <p:spPr>
          <a:xfrm>
            <a:off x="1066800" y="224790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95527">
              <a:lnSpc>
                <a:spcPct val="104999"/>
              </a:lnSpc>
              <a:defRPr sz="5220" b="1" spc="-87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px.bar() &amp; px.area()</a:t>
            </a:r>
          </a:p>
        </p:txBody>
      </p:sp>
      <p:sp>
        <p:nvSpPr>
          <p:cNvPr id="488" name="Shape 5"/>
          <p:cNvSpPr/>
          <p:nvPr/>
        </p:nvSpPr>
        <p:spPr>
          <a:xfrm>
            <a:off x="1066800" y="3505201"/>
            <a:ext cx="7772400" cy="1987748"/>
          </a:xfrm>
          <a:prstGeom prst="roundRect">
            <a:avLst>
              <a:gd name="adj" fmla="val 6108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9" name="Text 6"/>
          <p:cNvSpPr txBox="1"/>
          <p:nvPr/>
        </p:nvSpPr>
        <p:spPr>
          <a:xfrm>
            <a:off x="1371600" y="3771900"/>
            <a:ext cx="7377684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PX.BAR()</a:t>
            </a:r>
          </a:p>
        </p:txBody>
      </p:sp>
      <p:sp>
        <p:nvSpPr>
          <p:cNvPr id="490" name="Text 7"/>
          <p:cNvSpPr txBox="1"/>
          <p:nvPr/>
        </p:nvSpPr>
        <p:spPr>
          <a:xfrm>
            <a:off x="1371600" y="4162424"/>
            <a:ext cx="7377684" cy="1921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x=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· </a:t>
            </a:r>
            <a:r>
              <a:t>y=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資料欄 </a:t>
            </a:r>
            <a:r>
              <a:t>color=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上色欄位 </a:t>
            </a:r>
            <a:r>
              <a:t>color_continuous_scale=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連續色板 </a:t>
            </a:r>
            <a:r>
              <a:t>orientation="h"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水平長條</a:t>
            </a:r>
          </a:p>
        </p:txBody>
      </p:sp>
      <p:sp>
        <p:nvSpPr>
          <p:cNvPr id="491" name="Shape 8"/>
          <p:cNvSpPr/>
          <p:nvPr/>
        </p:nvSpPr>
        <p:spPr>
          <a:xfrm>
            <a:off x="1066800" y="5912050"/>
            <a:ext cx="7772400" cy="2322612"/>
          </a:xfrm>
          <a:prstGeom prst="roundRect">
            <a:avLst>
              <a:gd name="adj" fmla="val 7382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2" name="Text 9"/>
          <p:cNvSpPr txBox="1"/>
          <p:nvPr/>
        </p:nvSpPr>
        <p:spPr>
          <a:xfrm>
            <a:off x="1371600" y="6178749"/>
            <a:ext cx="7377684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PX.AREA()</a:t>
            </a:r>
          </a:p>
        </p:txBody>
      </p:sp>
      <p:sp>
        <p:nvSpPr>
          <p:cNvPr id="493" name="Text 10"/>
          <p:cNvSpPr txBox="1"/>
          <p:nvPr/>
        </p:nvSpPr>
        <p:spPr>
          <a:xfrm>
            <a:off x="1371600" y="6569274"/>
            <a:ext cx="7377684" cy="1436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x=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· </a:t>
            </a:r>
            <a:r>
              <a:t>y=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與 bar 相同 </a:t>
            </a:r>
            <a:r>
              <a:t>color_discrete_sequence=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指定顏色 填滿曲線下方面積，適合「趨勢」呈現</a:t>
            </a:r>
          </a:p>
        </p:txBody>
      </p:sp>
      <p:sp>
        <p:nvSpPr>
          <p:cNvPr id="494" name="Shape 11"/>
          <p:cNvSpPr/>
          <p:nvPr/>
        </p:nvSpPr>
        <p:spPr>
          <a:xfrm>
            <a:off x="1066800" y="8387062"/>
            <a:ext cx="7772400" cy="1340942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5" name="Shape 12"/>
          <p:cNvSpPr/>
          <p:nvPr/>
        </p:nvSpPr>
        <p:spPr>
          <a:xfrm>
            <a:off x="1066800" y="8387062"/>
            <a:ext cx="57150" cy="134094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6" name="Text 13"/>
          <p:cNvSpPr txBox="1"/>
          <p:nvPr/>
        </p:nvSpPr>
        <p:spPr>
          <a:xfrm>
            <a:off x="1428750" y="8615662"/>
            <a:ext cx="7338822" cy="921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95527">
              <a:lnSpc>
                <a:spcPct val="145000"/>
              </a:lnSpc>
              <a:defRPr sz="2088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口訣： </a:t>
            </a:r>
            <a:r>
              <a:rPr b="0">
                <a:solidFill>
                  <a:srgbClr val="1A1714"/>
                </a:solidFill>
              </a:rPr>
              <a:t>看「離散類別」用 bar，看「連續時間趨勢」用 area。</a:t>
            </a:r>
          </a:p>
        </p:txBody>
      </p:sp>
      <p:sp>
        <p:nvSpPr>
          <p:cNvPr id="497" name="Shape 14"/>
          <p:cNvSpPr/>
          <p:nvPr/>
        </p:nvSpPr>
        <p:spPr>
          <a:xfrm>
            <a:off x="9448802" y="1253133"/>
            <a:ext cx="7772400" cy="8479632"/>
          </a:xfrm>
          <a:prstGeom prst="roundRect">
            <a:avLst>
              <a:gd name="adj" fmla="val 2696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98" name="Text 15"/>
          <p:cNvSpPr txBox="1"/>
          <p:nvPr/>
        </p:nvSpPr>
        <p:spPr>
          <a:xfrm>
            <a:off x="9867901" y="1596032"/>
            <a:ext cx="7142228" cy="783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585215">
              <a:lnSpc>
                <a:spcPct val="155000"/>
              </a:lnSpc>
              <a:defRPr sz="1024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月借車趨勢 — 連續色長條圖 </a:t>
            </a:r>
            <a:r>
              <a:rPr i="0">
                <a:solidFill>
                  <a:srgbClr val="E8E0D0"/>
                </a:solidFill>
              </a:rPr>
              <a:t>fig = px.</a:t>
            </a:r>
            <a:r>
              <a:rPr i="0">
                <a:solidFill>
                  <a:srgbClr val="87B8DD"/>
                </a:solidFill>
              </a:rPr>
              <a:t>bar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monthly, x=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"month"</a:t>
            </a:r>
            <a:r>
              <a:rPr>
                <a:solidFill>
                  <a:srgbClr val="E8E0D0"/>
                </a:solidFill>
              </a:rPr>
              <a:t>, y=</a:t>
            </a:r>
            <a:r>
              <a:t>"借車次數"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title= 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"月借車趨勢"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color= 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color_continuous_scale=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"Blues"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fig. 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update_layout</a:t>
            </a:r>
            <a:r>
              <a:rPr>
                <a:solidFill>
                  <a:srgbClr val="E8E0D0"/>
                </a:solidFill>
              </a:rPr>
              <a:t>(coloraxis_showscale=</a:t>
            </a:r>
            <a:r>
              <a:rPr>
                <a:solidFill>
                  <a:srgbClr val="E89A5A"/>
                </a:solidFill>
              </a:rPr>
              <a:t>False </a:t>
            </a:r>
            <a:r>
              <a:rPr>
                <a:solidFill>
                  <a:srgbClr val="E8E0D0"/>
                </a:solidFill>
              </a:rPr>
              <a:t>)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st. 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plotly_chart</a:t>
            </a:r>
            <a:r>
              <a:rPr>
                <a:solidFill>
                  <a:srgbClr val="E8E0D0"/>
                </a:solidFill>
              </a:rPr>
              <a:t>(fig, use_container_width=</a:t>
            </a:r>
            <a:r>
              <a:rPr>
                <a:solidFill>
                  <a:srgbClr val="E89A5A"/>
                </a:solidFill>
              </a:rPr>
              <a:t>True</a:t>
            </a:r>
            <a:r>
              <a:rPr>
                <a:solidFill>
                  <a:srgbClr val="E8E0D0"/>
                </a:solidFill>
              </a:rPr>
              <a:t>) </a:t>
            </a:r>
            <a:r>
              <a:rPr i="1">
                <a:solidFill>
                  <a:srgbClr val="6B6258"/>
                </a:solidFill>
              </a:rPr>
              <a:t># 熱門車款 — 水平長條圖 </a:t>
            </a:r>
            <a:r>
              <a:rPr>
                <a:solidFill>
                  <a:srgbClr val="E8E0D0"/>
                </a:solidFill>
              </a:rPr>
              <a:t>fig = px.</a:t>
            </a:r>
            <a:r>
              <a:t>bar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cars, x= 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</a:t>
            </a:r>
            <a:r>
              <a:rPr>
                <a:solidFill>
                  <a:srgbClr val="E8E0D0"/>
                </a:solidFill>
              </a:rPr>
              <a:t>, y=</a:t>
            </a:r>
            <a:r>
              <a:t>"車款"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orientation= 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"h"</a:t>
            </a:r>
            <a:r>
              <a:rPr>
                <a:solidFill>
                  <a:srgbClr val="E8E0D0"/>
                </a:solidFill>
              </a:rPr>
              <a:t>, color=</a:t>
            </a:r>
            <a:r>
              <a:t>"借車次數"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color_continuous_scale= 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"Viridis"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 </a:t>
            </a:r>
          </a:p>
          <a:p>
            <a:pPr defTabSz="585215">
              <a:lnSpc>
                <a:spcPct val="155000"/>
              </a:lnSpc>
              <a:defRPr sz="1024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24 小時借車分布 — 面積圖 </a:t>
            </a:r>
            <a:r>
              <a:rPr i="0">
                <a:solidFill>
                  <a:srgbClr val="E8E0D0"/>
                </a:solidFill>
              </a:rPr>
              <a:t>fig = px.</a:t>
            </a:r>
            <a:r>
              <a:rPr i="0">
                <a:solidFill>
                  <a:srgbClr val="87B8DD"/>
                </a:solidFill>
              </a:rPr>
              <a:t>area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hourly, x=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"hour"</a:t>
            </a:r>
            <a:r>
              <a:rPr>
                <a:solidFill>
                  <a:srgbClr val="E8E0D0"/>
                </a:solidFill>
              </a:rPr>
              <a:t>, y=</a:t>
            </a:r>
            <a:r>
              <a:t>"借車次數"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title= 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"24 小時借車分布"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color_discrete_sequence=[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"#C45A2C" </a:t>
            </a:r>
            <a:r>
              <a:rPr>
                <a:solidFill>
                  <a:srgbClr val="E8E0D0"/>
                </a:solidFill>
              </a:rPr>
              <a:t>],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fig. </a:t>
            </a:r>
          </a:p>
          <a:p>
            <a:pPr defTabSz="585215">
              <a:lnSpc>
                <a:spcPct val="155000"/>
              </a:lnSpc>
              <a:defRPr sz="1024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update_layout</a:t>
            </a:r>
            <a:r>
              <a:rPr>
                <a:solidFill>
                  <a:srgbClr val="E8E0D0"/>
                </a:solidFill>
              </a:rPr>
              <a:t>(xaxis=</a:t>
            </a:r>
            <a:r>
              <a:t>dict</a:t>
            </a:r>
            <a:r>
              <a:rPr>
                <a:solidFill>
                  <a:srgbClr val="E8E0D0"/>
                </a:solidFill>
              </a:rPr>
              <a:t>(dtick=</a:t>
            </a:r>
            <a:r>
              <a:rPr>
                <a:solidFill>
                  <a:srgbClr val="9EC58A"/>
                </a:solidFill>
              </a:rPr>
              <a:t>2</a:t>
            </a:r>
            <a:r>
              <a:rPr>
                <a:solidFill>
                  <a:srgbClr val="E8E0D0"/>
                </a:solidFill>
              </a:rPr>
              <a:t>))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3" name="Text 1"/>
          <p:cNvSpPr txBox="1"/>
          <p:nvPr/>
        </p:nvSpPr>
        <p:spPr>
          <a:xfrm>
            <a:off x="1352549" y="914400"/>
            <a:ext cx="2952731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3.3 PLOTLY EXPRESS</a:t>
            </a:r>
          </a:p>
        </p:txBody>
      </p:sp>
      <p:sp>
        <p:nvSpPr>
          <p:cNvPr id="504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17 / 41</a:t>
            </a:r>
          </a:p>
        </p:txBody>
      </p:sp>
      <p:sp>
        <p:nvSpPr>
          <p:cNvPr id="505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占比與分布</a:t>
            </a:r>
          </a:p>
        </p:txBody>
      </p:sp>
      <p:sp>
        <p:nvSpPr>
          <p:cNvPr id="506" name="Text 4"/>
          <p:cNvSpPr txBox="1"/>
          <p:nvPr/>
        </p:nvSpPr>
        <p:spPr>
          <a:xfrm>
            <a:off x="1066800" y="224790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95527">
              <a:lnSpc>
                <a:spcPct val="104999"/>
              </a:lnSpc>
              <a:defRPr sz="5220" b="1" spc="-87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px.pie() &amp; px.histogram()</a:t>
            </a:r>
          </a:p>
        </p:txBody>
      </p:sp>
      <p:sp>
        <p:nvSpPr>
          <p:cNvPr id="507" name="Shape 5"/>
          <p:cNvSpPr/>
          <p:nvPr/>
        </p:nvSpPr>
        <p:spPr>
          <a:xfrm>
            <a:off x="1066800" y="3505200"/>
            <a:ext cx="7772400" cy="1638300"/>
          </a:xfrm>
          <a:prstGeom prst="roundRect">
            <a:avLst>
              <a:gd name="adj" fmla="val 7339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8" name="Text 6"/>
          <p:cNvSpPr txBox="1"/>
          <p:nvPr/>
        </p:nvSpPr>
        <p:spPr>
          <a:xfrm>
            <a:off x="1371600" y="3771900"/>
            <a:ext cx="7377684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PX.PIE()</a:t>
            </a:r>
          </a:p>
        </p:txBody>
      </p:sp>
      <p:sp>
        <p:nvSpPr>
          <p:cNvPr id="509" name="Text 7"/>
          <p:cNvSpPr txBox="1"/>
          <p:nvPr/>
        </p:nvSpPr>
        <p:spPr>
          <a:xfrm>
            <a:off x="1371600" y="4162425"/>
            <a:ext cx="7377684" cy="1450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values=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數值欄 </a:t>
            </a:r>
            <a:r>
              <a:t>names=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類別欄 </a:t>
            </a:r>
            <a:r>
              <a:t>hole=0.4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→ 甜甜圈圖</a:t>
            </a:r>
          </a:p>
        </p:txBody>
      </p:sp>
      <p:sp>
        <p:nvSpPr>
          <p:cNvPr id="510" name="Shape 8"/>
          <p:cNvSpPr/>
          <p:nvPr/>
        </p:nvSpPr>
        <p:spPr>
          <a:xfrm>
            <a:off x="1066800" y="5410200"/>
            <a:ext cx="7772400" cy="1638300"/>
          </a:xfrm>
          <a:prstGeom prst="roundRect">
            <a:avLst>
              <a:gd name="adj" fmla="val 7339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1" name="Text 9"/>
          <p:cNvSpPr txBox="1"/>
          <p:nvPr/>
        </p:nvSpPr>
        <p:spPr>
          <a:xfrm>
            <a:off x="1371600" y="5676900"/>
            <a:ext cx="7377684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PX.HISTOGRAM()</a:t>
            </a:r>
          </a:p>
        </p:txBody>
      </p:sp>
      <p:sp>
        <p:nvSpPr>
          <p:cNvPr id="512" name="Text 10"/>
          <p:cNvSpPr txBox="1"/>
          <p:nvPr/>
        </p:nvSpPr>
        <p:spPr>
          <a:xfrm>
            <a:off x="1371600" y="6067425"/>
            <a:ext cx="7377684" cy="1450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x=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資料欄 </a:t>
            </a:r>
            <a:r>
              <a:t>nbins=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分桶數量 搭配 </a:t>
            </a:r>
            <a:r>
              <a:t>.between() </a:t>
            </a:r>
            <a:r>
              <a: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過濾極端值</a:t>
            </a:r>
          </a:p>
        </p:txBody>
      </p:sp>
      <p:sp>
        <p:nvSpPr>
          <p:cNvPr id="513" name="Shape 11"/>
          <p:cNvSpPr/>
          <p:nvPr/>
        </p:nvSpPr>
        <p:spPr>
          <a:xfrm>
            <a:off x="1066799" y="7222033"/>
            <a:ext cx="7772400" cy="1340942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4" name="Shape 12"/>
          <p:cNvSpPr/>
          <p:nvPr/>
        </p:nvSpPr>
        <p:spPr>
          <a:xfrm>
            <a:off x="1066799" y="7222033"/>
            <a:ext cx="57150" cy="134094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5" name="Text 13"/>
          <p:cNvSpPr txBox="1"/>
          <p:nvPr/>
        </p:nvSpPr>
        <p:spPr>
          <a:xfrm>
            <a:off x="1428749" y="7450633"/>
            <a:ext cx="7338822" cy="921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68095">
              <a:lnSpc>
                <a:spcPct val="145000"/>
              </a:lnSpc>
              <a:defRPr sz="201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什麼時候用 pie？ </a:t>
            </a:r>
            <a:r>
              <a:rPr b="0">
                <a:solidFill>
                  <a:srgbClr val="1A1714"/>
                </a:solidFill>
              </a:rPr>
              <a:t>類別 ≤ 6 個、且重點是「占比」時。排名比較永遠用長條圖。</a:t>
            </a:r>
          </a:p>
        </p:txBody>
      </p:sp>
      <p:sp>
        <p:nvSpPr>
          <p:cNvPr id="516" name="Shape 14"/>
          <p:cNvSpPr/>
          <p:nvPr/>
        </p:nvSpPr>
        <p:spPr>
          <a:xfrm>
            <a:off x="1066799" y="8715375"/>
            <a:ext cx="7772400" cy="1340942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7" name="Shape 15"/>
          <p:cNvSpPr/>
          <p:nvPr/>
        </p:nvSpPr>
        <p:spPr>
          <a:xfrm>
            <a:off x="1066799" y="8715375"/>
            <a:ext cx="57150" cy="134094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8" name="Text 16"/>
          <p:cNvSpPr txBox="1"/>
          <p:nvPr/>
        </p:nvSpPr>
        <p:spPr>
          <a:xfrm>
            <a:off x="1428749" y="8943975"/>
            <a:ext cx="7338822" cy="921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68095">
              <a:lnSpc>
                <a:spcPct val="145000"/>
              </a:lnSpc>
              <a:defRPr sz="201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nbins 怎麼挑？ </a:t>
            </a:r>
            <a:r>
              <a:rPr b="0">
                <a:solidFill>
                  <a:srgbClr val="1A1714"/>
                </a:solidFill>
              </a:rPr>
              <a:t>從 30–60 開始試。資料量大可以到 100，太少看不出結構。</a:t>
            </a:r>
          </a:p>
        </p:txBody>
      </p:sp>
      <p:sp>
        <p:nvSpPr>
          <p:cNvPr id="519" name="Shape 17"/>
          <p:cNvSpPr/>
          <p:nvPr/>
        </p:nvSpPr>
        <p:spPr>
          <a:xfrm>
            <a:off x="9448800" y="2400896"/>
            <a:ext cx="7772400" cy="7180660"/>
          </a:xfrm>
          <a:prstGeom prst="roundRect">
            <a:avLst>
              <a:gd name="adj" fmla="val 2918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20" name="Text 18"/>
          <p:cNvSpPr txBox="1"/>
          <p:nvPr/>
        </p:nvSpPr>
        <p:spPr>
          <a:xfrm>
            <a:off x="9867899" y="2743795"/>
            <a:ext cx="7142228" cy="653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576072">
              <a:lnSpc>
                <a:spcPct val="155000"/>
              </a:lnSpc>
              <a:defRPr sz="1008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各行政區借車佔比 — 甜甜圈圖 </a:t>
            </a:r>
            <a:r>
              <a:rPr i="0">
                <a:solidFill>
                  <a:srgbClr val="E8E0D0"/>
                </a:solidFill>
              </a:rPr>
              <a:t>fig = px.</a:t>
            </a:r>
            <a:r>
              <a:rPr i="0">
                <a:solidFill>
                  <a:srgbClr val="87B8DD"/>
                </a:solidFill>
              </a:rPr>
              <a:t>pie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area_ord,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values=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names=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"parking_lot_area"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title=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"各行政區借車佔比"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hole=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0.4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 </a:t>
            </a:r>
          </a:p>
          <a:p>
            <a:pPr defTabSz="576072">
              <a:lnSpc>
                <a:spcPct val="155000"/>
              </a:lnSpc>
              <a:defRPr sz="1008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租借時長分布 — 直方圖 # 用 .between() 砍掉異常值 </a:t>
            </a:r>
            <a:r>
              <a:rPr i="0">
                <a:solidFill>
                  <a:srgbClr val="E8E0D0"/>
                </a:solidFill>
              </a:rPr>
              <a:t>fig = px.</a:t>
            </a:r>
            <a:r>
              <a:rPr i="0">
                <a:solidFill>
                  <a:srgbClr val="87B8DD"/>
                </a:solidFill>
              </a:rPr>
              <a:t>histogram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fo[fo[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"duration_min" </a:t>
            </a:r>
            <a:r>
              <a:rPr>
                <a:solidFill>
                  <a:srgbClr val="E8E0D0"/>
                </a:solidFill>
              </a:rPr>
              <a:t>]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.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between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0</a:t>
            </a:r>
            <a:r>
              <a:rPr>
                <a:solidFill>
                  <a:srgbClr val="E8E0D0"/>
                </a:solidFill>
              </a:rPr>
              <a:t>, </a:t>
            </a:r>
            <a:r>
              <a:rPr>
                <a:solidFill>
                  <a:srgbClr val="9EC58A"/>
                </a:solidFill>
              </a:rPr>
              <a:t>600 </a:t>
            </a:r>
            <a:r>
              <a:rPr>
                <a:solidFill>
                  <a:srgbClr val="E8E0D0"/>
                </a:solidFill>
              </a:rPr>
              <a:t>)],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x=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"duration_min"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nbins=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60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title=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"租借時長分布"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color_discrete_sequence=[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"#C45A2C" </a:t>
            </a:r>
            <a:r>
              <a:rPr>
                <a:solidFill>
                  <a:srgbClr val="E8E0D0"/>
                </a:solidFill>
              </a:rPr>
              <a:t>],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st. </a:t>
            </a:r>
          </a:p>
          <a:p>
            <a:pPr defTabSz="576072">
              <a:lnSpc>
                <a:spcPct val="155000"/>
              </a:lnSpc>
              <a:defRPr sz="1008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plotly_chart</a:t>
            </a:r>
            <a:r>
              <a:rPr>
                <a:solidFill>
                  <a:srgbClr val="E8E0D0"/>
                </a:solidFill>
              </a:rPr>
              <a:t>(fig, use_container_width=</a:t>
            </a:r>
            <a:r>
              <a:rPr>
                <a:solidFill>
                  <a:srgbClr val="E89A5A"/>
                </a:solidFill>
              </a:rPr>
              <a:t>True</a:t>
            </a:r>
            <a:r>
              <a:rPr>
                <a:solidFill>
                  <a:srgbClr val="E8E0D0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5" name="Text 1"/>
          <p:cNvSpPr txBox="1"/>
          <p:nvPr/>
        </p:nvSpPr>
        <p:spPr>
          <a:xfrm>
            <a:off x="1352549" y="914400"/>
            <a:ext cx="2952731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3.4 PLOTLY EXPRESS</a:t>
            </a:r>
          </a:p>
        </p:txBody>
      </p:sp>
      <p:sp>
        <p:nvSpPr>
          <p:cNvPr id="526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18 / 41</a:t>
            </a:r>
          </a:p>
        </p:txBody>
      </p:sp>
      <p:sp>
        <p:nvSpPr>
          <p:cNvPr id="527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熱力圖三步驟</a:t>
            </a:r>
          </a:p>
        </p:txBody>
      </p:sp>
      <p:sp>
        <p:nvSpPr>
          <p:cNvPr id="528" name="Text 4"/>
          <p:cNvSpPr txBox="1"/>
          <p:nvPr/>
        </p:nvSpPr>
        <p:spPr>
          <a:xfrm>
            <a:off x="1066800" y="2247900"/>
            <a:ext cx="14716125" cy="16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4999"/>
              </a:lnSpc>
              <a:defRPr sz="6000" b="1" spc="-1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px.imshow() — 從 DataFrame 到 Heatmap</a:t>
            </a:r>
          </a:p>
        </p:txBody>
      </p:sp>
      <p:sp>
        <p:nvSpPr>
          <p:cNvPr id="529" name="Shape 5"/>
          <p:cNvSpPr/>
          <p:nvPr/>
        </p:nvSpPr>
        <p:spPr>
          <a:xfrm>
            <a:off x="1066800" y="5637212"/>
            <a:ext cx="7772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0" name="Text 6"/>
          <p:cNvSpPr txBox="1"/>
          <p:nvPr/>
        </p:nvSpPr>
        <p:spPr>
          <a:xfrm>
            <a:off x="1066800" y="4514850"/>
            <a:ext cx="6858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531" name="Text 7"/>
          <p:cNvSpPr txBox="1"/>
          <p:nvPr/>
        </p:nvSpPr>
        <p:spPr>
          <a:xfrm>
            <a:off x="1904999" y="4514850"/>
            <a:ext cx="714222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77823">
              <a:lnSpc>
                <a:spcPct val="150000"/>
              </a:lnSpc>
              <a:defRPr sz="2304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groupby 聚合 </a:t>
            </a:r>
            <a:r>
              <a:rPr b="0">
                <a:solidFill>
                  <a:srgbClr val="4A4036"/>
                </a:solidFill>
              </a:rPr>
              <a:t>用 groupby 算 (星期 × 小時) 的借車總和</a:t>
            </a:r>
          </a:p>
        </p:txBody>
      </p:sp>
      <p:sp>
        <p:nvSpPr>
          <p:cNvPr id="532" name="Shape 8"/>
          <p:cNvSpPr/>
          <p:nvPr/>
        </p:nvSpPr>
        <p:spPr>
          <a:xfrm>
            <a:off x="1066800" y="6980237"/>
            <a:ext cx="7772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3" name="Text 9"/>
          <p:cNvSpPr txBox="1"/>
          <p:nvPr/>
        </p:nvSpPr>
        <p:spPr>
          <a:xfrm>
            <a:off x="1066800" y="5857875"/>
            <a:ext cx="6858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534" name="Text 10"/>
          <p:cNvSpPr txBox="1"/>
          <p:nvPr/>
        </p:nvSpPr>
        <p:spPr>
          <a:xfrm>
            <a:off x="1904999" y="5857875"/>
            <a:ext cx="714222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13816">
              <a:lnSpc>
                <a:spcPct val="150000"/>
              </a:lnSpc>
              <a:defRPr sz="2136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pivot 轉矩陣 </a:t>
            </a:r>
            <a:r>
              <a:rPr b="0">
                <a:solidFill>
                  <a:srgbClr val="4A4036"/>
                </a:solidFill>
              </a:rPr>
              <a:t>長表 → 矩陣，index = 星期、columns = 小時</a:t>
            </a:r>
          </a:p>
        </p:txBody>
      </p:sp>
      <p:sp>
        <p:nvSpPr>
          <p:cNvPr id="535" name="Text 11"/>
          <p:cNvSpPr txBox="1"/>
          <p:nvPr/>
        </p:nvSpPr>
        <p:spPr>
          <a:xfrm>
            <a:off x="1066800" y="7200900"/>
            <a:ext cx="6858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536" name="Text 12"/>
          <p:cNvSpPr txBox="1"/>
          <p:nvPr/>
        </p:nvSpPr>
        <p:spPr>
          <a:xfrm>
            <a:off x="1904999" y="7200900"/>
            <a:ext cx="714222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32104">
              <a:lnSpc>
                <a:spcPct val="150000"/>
              </a:lnSpc>
              <a:defRPr sz="2184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px.imshow 畫圖 </a:t>
            </a:r>
            <a:r>
              <a:rPr b="0">
                <a:solidFill>
                  <a:srgbClr val="4A4036"/>
                </a:solidFill>
              </a:rPr>
              <a:t>把矩陣丟給 imshow，指定色板與軸標籤</a:t>
            </a:r>
          </a:p>
        </p:txBody>
      </p:sp>
      <p:sp>
        <p:nvSpPr>
          <p:cNvPr id="537" name="Shape 13"/>
          <p:cNvSpPr/>
          <p:nvPr/>
        </p:nvSpPr>
        <p:spPr>
          <a:xfrm>
            <a:off x="1066799" y="8039100"/>
            <a:ext cx="7772400" cy="1543691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8" name="Shape 14"/>
          <p:cNvSpPr/>
          <p:nvPr/>
        </p:nvSpPr>
        <p:spPr>
          <a:xfrm flipH="1">
            <a:off x="1021080" y="8039100"/>
            <a:ext cx="45719" cy="1543691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9" name="Text 15"/>
          <p:cNvSpPr txBox="1"/>
          <p:nvPr/>
        </p:nvSpPr>
        <p:spPr>
          <a:xfrm>
            <a:off x="1428749" y="8267699"/>
            <a:ext cx="7338822" cy="1378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45000"/>
              </a:lnSpc>
              <a:defRPr sz="2400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關鍵參數： </a:t>
            </a:r>
            <a:r>
              <a:rPr sz="1800" b="0">
                <a:latin typeface="JetBrains Mono"/>
                <a:ea typeface="JetBrains Mono"/>
                <a:cs typeface="JetBrains Mono"/>
                <a:sym typeface="JetBrains Mono"/>
              </a:rPr>
              <a:t>color_continuous_scale </a:t>
            </a:r>
            <a:r>
              <a:rPr b="0">
                <a:solidFill>
                  <a:srgbClr val="1A1714"/>
                </a:solidFill>
              </a:rPr>
              <a:t>色板（"YlOrRd"、"Blues"）； </a:t>
            </a:r>
            <a:r>
              <a:rPr sz="1800" b="0">
                <a:latin typeface="JetBrains Mono"/>
                <a:ea typeface="JetBrains Mono"/>
                <a:cs typeface="JetBrains Mono"/>
                <a:sym typeface="JetBrains Mono"/>
              </a:rPr>
              <a:t>aspect="auto" </a:t>
            </a:r>
            <a:r>
              <a:rPr b="0">
                <a:solidFill>
                  <a:srgbClr val="1A1714"/>
                </a:solidFill>
              </a:rPr>
              <a:t>自動格子比例。</a:t>
            </a:r>
          </a:p>
        </p:txBody>
      </p:sp>
      <p:sp>
        <p:nvSpPr>
          <p:cNvPr id="540" name="Shape 16"/>
          <p:cNvSpPr/>
          <p:nvPr/>
        </p:nvSpPr>
        <p:spPr>
          <a:xfrm>
            <a:off x="9525000" y="3235624"/>
            <a:ext cx="7772400" cy="8479632"/>
          </a:xfrm>
          <a:prstGeom prst="roundRect">
            <a:avLst>
              <a:gd name="adj" fmla="val 2696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41" name="Text 17"/>
          <p:cNvSpPr txBox="1"/>
          <p:nvPr/>
        </p:nvSpPr>
        <p:spPr>
          <a:xfrm>
            <a:off x="9944099" y="3578523"/>
            <a:ext cx="7142228" cy="783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13231">
              <a:lnSpc>
                <a:spcPct val="155000"/>
              </a:lnSpc>
              <a:defRPr sz="1248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Step 1: 聚合 </a:t>
            </a:r>
            <a:r>
              <a:rPr i="0">
                <a:solidFill>
                  <a:srgbClr val="E8E0D0"/>
                </a:solidFill>
              </a:rPr>
              <a:t>hm = fo.</a:t>
            </a:r>
            <a:r>
              <a:rPr i="0">
                <a:solidFill>
                  <a:srgbClr val="87B8DD"/>
                </a:solidFill>
              </a:rPr>
              <a:t>groupby</a:t>
            </a:r>
            <a:r>
              <a:rPr i="0">
                <a:solidFill>
                  <a:srgbClr val="E8E0D0"/>
                </a:solidFill>
              </a:rPr>
              <a:t>([</a:t>
            </a:r>
            <a:r>
              <a:rPr i="0">
                <a:solidFill>
                  <a:srgbClr val="9EC58A"/>
                </a:solidFill>
              </a:rPr>
              <a:t>"dow"</a:t>
            </a:r>
            <a:r>
              <a:rPr i="0">
                <a:solidFill>
                  <a:srgbClr val="E8E0D0"/>
                </a:solidFill>
              </a:rPr>
              <a:t>, </a:t>
            </a:r>
            <a:r>
              <a:rPr i="0">
                <a:solidFill>
                  <a:srgbClr val="9EC58A"/>
                </a:solidFill>
              </a:rPr>
              <a:t>"hour" </a:t>
            </a:r>
            <a:r>
              <a:rPr i="0">
                <a:solidFill>
                  <a:srgbClr val="E8E0D0"/>
                </a:solidFill>
              </a:rPr>
              <a:t>]) \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.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size </a:t>
            </a:r>
            <a:r>
              <a:rPr>
                <a:solidFill>
                  <a:srgbClr val="E8E0D0"/>
                </a:solidFill>
              </a:rPr>
              <a:t>() \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.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reset_index</a:t>
            </a:r>
            <a:r>
              <a:rPr>
                <a:solidFill>
                  <a:srgbClr val="E8E0D0"/>
                </a:solidFill>
              </a:rPr>
              <a:t>(name=</a:t>
            </a:r>
            <a:r>
              <a:rPr>
                <a:solidFill>
                  <a:srgbClr val="9EC58A"/>
                </a:solidFill>
              </a:rPr>
              <a:t>"借車次數"</a:t>
            </a:r>
            <a:r>
              <a:rPr>
                <a:solidFill>
                  <a:srgbClr val="E8E0D0"/>
                </a:solidFill>
              </a:rPr>
              <a:t>) </a:t>
            </a:r>
            <a:r>
              <a:rPr i="1">
                <a:solidFill>
                  <a:srgbClr val="6B6258"/>
                </a:solidFill>
              </a:rPr>
              <a:t># Step 2: 轉矩陣（pivot） </a:t>
            </a:r>
            <a:r>
              <a:rPr>
                <a:solidFill>
                  <a:srgbClr val="E8E0D0"/>
                </a:solidFill>
              </a:rPr>
              <a:t>pivot = hm.</a:t>
            </a:r>
            <a:r>
              <a:t>pivot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index=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"dow"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columns=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"hour"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values=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).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fillna</a:t>
            </a:r>
            <a:r>
              <a:rPr>
                <a:solidFill>
                  <a:srgbClr val="E8E0D0"/>
                </a:solidFill>
              </a:rPr>
              <a:t>(</a:t>
            </a:r>
            <a:r>
              <a:rPr>
                <a:solidFill>
                  <a:srgbClr val="9EC58A"/>
                </a:solidFill>
              </a:rPr>
              <a:t>0</a:t>
            </a:r>
            <a:r>
              <a:rPr>
                <a:solidFill>
                  <a:srgbClr val="E8E0D0"/>
                </a:solidFill>
              </a:rPr>
              <a:t>) </a:t>
            </a:r>
            <a:r>
              <a:rPr i="1">
                <a:solidFill>
                  <a:srgbClr val="6B6258"/>
                </a:solidFill>
              </a:rPr>
              <a:t># 把 0–6 轉成「週一」～「週日」 </a:t>
            </a:r>
            <a:r>
              <a:rPr>
                <a:solidFill>
                  <a:srgbClr val="E8E0D0"/>
                </a:solidFill>
              </a:rPr>
              <a:t>pivot.index = [DOW_MAP[i] </a:t>
            </a:r>
            <a:r>
              <a:rPr>
                <a:solidFill>
                  <a:srgbClr val="E89A5A"/>
                </a:solidFill>
              </a:rPr>
              <a:t>for</a:t>
            </a:r>
            <a:r>
              <a:rPr>
                <a:solidFill>
                  <a:srgbClr val="E8E0D0"/>
                </a:solidFill>
              </a:rPr>
              <a:t> i </a:t>
            </a:r>
            <a:r>
              <a:rPr>
                <a:solidFill>
                  <a:srgbClr val="E89A5A"/>
                </a:solidFill>
              </a:rPr>
              <a:t>in</a:t>
            </a:r>
            <a:r>
              <a:rPr>
                <a:solidFill>
                  <a:srgbClr val="E8E0D0"/>
                </a:solidFill>
              </a:rPr>
              <a:t> pivot.index] </a:t>
            </a:r>
            <a:r>
              <a:rPr i="1">
                <a:solidFill>
                  <a:srgbClr val="6B6258"/>
                </a:solidFill>
              </a:rPr>
              <a:t># Step 3: 畫熱力圖 </a:t>
            </a:r>
            <a:r>
              <a:rPr>
                <a:solidFill>
                  <a:srgbClr val="E8E0D0"/>
                </a:solidFill>
              </a:rPr>
              <a:t>fig = px.</a:t>
            </a:r>
            <a:r>
              <a:t>imshow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pivot,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labels=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dict</a:t>
            </a:r>
            <a:r>
              <a:rPr>
                <a:solidFill>
                  <a:srgbClr val="E8E0D0"/>
                </a:solidFill>
              </a:rPr>
              <a:t>(x=</a:t>
            </a:r>
            <a:r>
              <a:rPr>
                <a:solidFill>
                  <a:srgbClr val="9EC58A"/>
                </a:solidFill>
              </a:rPr>
              <a:t>"小時"</a:t>
            </a:r>
            <a:r>
              <a:rPr>
                <a:solidFill>
                  <a:srgbClr val="E8E0D0"/>
                </a:solidFill>
              </a:rPr>
              <a:t>, y=</a:t>
            </a:r>
            <a:r>
              <a:rPr>
                <a:solidFill>
                  <a:srgbClr val="9EC58A"/>
                </a:solidFill>
              </a:rPr>
              <a:t>"星期"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color=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 </a:t>
            </a:r>
            <a:r>
              <a:rPr>
                <a:solidFill>
                  <a:srgbClr val="E8E0D0"/>
                </a:solidFill>
              </a:rPr>
              <a:t>),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color_continuous_scale=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"YlOrRd"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aspect=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"auto"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title= 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"借車熱力圖"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713231">
              <a:lnSpc>
                <a:spcPct val="155000"/>
              </a:lnSpc>
              <a:defRPr sz="1248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6" name="Text 1"/>
          <p:cNvSpPr txBox="1"/>
          <p:nvPr/>
        </p:nvSpPr>
        <p:spPr>
          <a:xfrm>
            <a:off x="1352549" y="914400"/>
            <a:ext cx="2952731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3.5 PLOTLY EXPRESS</a:t>
            </a:r>
          </a:p>
        </p:txBody>
      </p:sp>
      <p:sp>
        <p:nvSpPr>
          <p:cNvPr id="547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19 / 41</a:t>
            </a:r>
          </a:p>
        </p:txBody>
      </p:sp>
      <p:sp>
        <p:nvSpPr>
          <p:cNvPr id="548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互動式地圖</a:t>
            </a:r>
          </a:p>
        </p:txBody>
      </p:sp>
      <p:sp>
        <p:nvSpPr>
          <p:cNvPr id="549" name="Text 4"/>
          <p:cNvSpPr txBox="1"/>
          <p:nvPr/>
        </p:nvSpPr>
        <p:spPr>
          <a:xfrm>
            <a:off x="1066800" y="224790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95527">
              <a:lnSpc>
                <a:spcPct val="104999"/>
              </a:lnSpc>
              <a:defRPr sz="5220" b="1" spc="-87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px.scatter_mapbox()</a:t>
            </a:r>
          </a:p>
        </p:txBody>
      </p:sp>
      <p:sp>
        <p:nvSpPr>
          <p:cNvPr id="550" name="Shape 5"/>
          <p:cNvSpPr/>
          <p:nvPr/>
        </p:nvSpPr>
        <p:spPr>
          <a:xfrm>
            <a:off x="1066799" y="4127500"/>
            <a:ext cx="22047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1" name="Text 6"/>
          <p:cNvSpPr txBox="1"/>
          <p:nvPr/>
        </p:nvSpPr>
        <p:spPr>
          <a:xfrm>
            <a:off x="1257299" y="3676649"/>
            <a:ext cx="1899942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參數</a:t>
            </a:r>
          </a:p>
        </p:txBody>
      </p:sp>
      <p:sp>
        <p:nvSpPr>
          <p:cNvPr id="552" name="Shape 7"/>
          <p:cNvSpPr/>
          <p:nvPr/>
        </p:nvSpPr>
        <p:spPr>
          <a:xfrm>
            <a:off x="3271539" y="4127500"/>
            <a:ext cx="556766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3" name="Text 8"/>
          <p:cNvSpPr txBox="1"/>
          <p:nvPr/>
        </p:nvSpPr>
        <p:spPr>
          <a:xfrm>
            <a:off x="3462039" y="3676649"/>
            <a:ext cx="5353691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說明</a:t>
            </a:r>
          </a:p>
        </p:txBody>
      </p:sp>
      <p:sp>
        <p:nvSpPr>
          <p:cNvPr id="554" name="Shape 9"/>
          <p:cNvSpPr/>
          <p:nvPr/>
        </p:nvSpPr>
        <p:spPr>
          <a:xfrm>
            <a:off x="1066799" y="4832350"/>
            <a:ext cx="22047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5" name="Text 10"/>
          <p:cNvSpPr txBox="1"/>
          <p:nvPr/>
        </p:nvSpPr>
        <p:spPr>
          <a:xfrm>
            <a:off x="1257299" y="4310062"/>
            <a:ext cx="1899942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lat= </a:t>
            </a:r>
            <a:r>
              <a: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rPr>
              <a:t>· </a:t>
            </a:r>
            <a:r>
              <a:t>lon=</a:t>
            </a:r>
          </a:p>
        </p:txBody>
      </p:sp>
      <p:sp>
        <p:nvSpPr>
          <p:cNvPr id="556" name="Shape 11"/>
          <p:cNvSpPr/>
          <p:nvPr/>
        </p:nvSpPr>
        <p:spPr>
          <a:xfrm>
            <a:off x="3271539" y="4832350"/>
            <a:ext cx="556766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7" name="Text 12"/>
          <p:cNvSpPr txBox="1"/>
          <p:nvPr/>
        </p:nvSpPr>
        <p:spPr>
          <a:xfrm>
            <a:off x="3462039" y="4310062"/>
            <a:ext cx="535369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緯度 / 經度欄位名稱</a:t>
            </a:r>
          </a:p>
        </p:txBody>
      </p:sp>
      <p:sp>
        <p:nvSpPr>
          <p:cNvPr id="558" name="Shape 13"/>
          <p:cNvSpPr/>
          <p:nvPr/>
        </p:nvSpPr>
        <p:spPr>
          <a:xfrm>
            <a:off x="1066799" y="5537200"/>
            <a:ext cx="22047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9" name="Shape 14"/>
          <p:cNvSpPr/>
          <p:nvPr/>
        </p:nvSpPr>
        <p:spPr>
          <a:xfrm>
            <a:off x="1257300" y="5019675"/>
            <a:ext cx="985392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0" name="Text 15"/>
          <p:cNvSpPr txBox="1"/>
          <p:nvPr/>
        </p:nvSpPr>
        <p:spPr>
          <a:xfrm>
            <a:off x="1390649" y="5057775"/>
            <a:ext cx="794893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color=</a:t>
            </a:r>
          </a:p>
        </p:txBody>
      </p:sp>
      <p:sp>
        <p:nvSpPr>
          <p:cNvPr id="561" name="Shape 16"/>
          <p:cNvSpPr/>
          <p:nvPr/>
        </p:nvSpPr>
        <p:spPr>
          <a:xfrm>
            <a:off x="3271539" y="5537200"/>
            <a:ext cx="556766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2" name="Text 17"/>
          <p:cNvSpPr txBox="1"/>
          <p:nvPr/>
        </p:nvSpPr>
        <p:spPr>
          <a:xfrm>
            <a:off x="3462039" y="5014912"/>
            <a:ext cx="535369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點的顏色依據欄位</a:t>
            </a:r>
          </a:p>
        </p:txBody>
      </p:sp>
      <p:sp>
        <p:nvSpPr>
          <p:cNvPr id="563" name="Shape 18"/>
          <p:cNvSpPr/>
          <p:nvPr/>
        </p:nvSpPr>
        <p:spPr>
          <a:xfrm>
            <a:off x="1066799" y="6242050"/>
            <a:ext cx="22047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4" name="Shape 19"/>
          <p:cNvSpPr/>
          <p:nvPr/>
        </p:nvSpPr>
        <p:spPr>
          <a:xfrm>
            <a:off x="1257300" y="5724525"/>
            <a:ext cx="865584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5" name="Text 20"/>
          <p:cNvSpPr txBox="1"/>
          <p:nvPr/>
        </p:nvSpPr>
        <p:spPr>
          <a:xfrm>
            <a:off x="1390650" y="5762625"/>
            <a:ext cx="675084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size=</a:t>
            </a:r>
          </a:p>
        </p:txBody>
      </p:sp>
      <p:sp>
        <p:nvSpPr>
          <p:cNvPr id="566" name="Shape 21"/>
          <p:cNvSpPr/>
          <p:nvPr/>
        </p:nvSpPr>
        <p:spPr>
          <a:xfrm>
            <a:off x="3271539" y="6242050"/>
            <a:ext cx="556766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7" name="Text 22"/>
          <p:cNvSpPr txBox="1"/>
          <p:nvPr/>
        </p:nvSpPr>
        <p:spPr>
          <a:xfrm>
            <a:off x="3462039" y="5719762"/>
            <a:ext cx="535369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點的大小，</a:t>
            </a:r>
            <a:r>
              <a:rPr>
                <a:solidFill>
                  <a:srgbClr val="4A4036"/>
                </a:solidFill>
              </a:rPr>
              <a:t>size_max= 限制最大尺寸</a:t>
            </a:r>
          </a:p>
        </p:txBody>
      </p:sp>
      <p:sp>
        <p:nvSpPr>
          <p:cNvPr id="568" name="Shape 23"/>
          <p:cNvSpPr/>
          <p:nvPr/>
        </p:nvSpPr>
        <p:spPr>
          <a:xfrm>
            <a:off x="1066799" y="6946900"/>
            <a:ext cx="22047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9" name="Shape 24"/>
          <p:cNvSpPr/>
          <p:nvPr/>
        </p:nvSpPr>
        <p:spPr>
          <a:xfrm>
            <a:off x="1257300" y="6429375"/>
            <a:ext cx="1584128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0" name="Text 25"/>
          <p:cNvSpPr txBox="1"/>
          <p:nvPr/>
        </p:nvSpPr>
        <p:spPr>
          <a:xfrm>
            <a:off x="1390649" y="6467475"/>
            <a:ext cx="1393629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hover_name=</a:t>
            </a:r>
          </a:p>
        </p:txBody>
      </p:sp>
      <p:sp>
        <p:nvSpPr>
          <p:cNvPr id="571" name="Shape 26"/>
          <p:cNvSpPr/>
          <p:nvPr/>
        </p:nvSpPr>
        <p:spPr>
          <a:xfrm>
            <a:off x="3271539" y="6946900"/>
            <a:ext cx="556766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2" name="Text 27"/>
          <p:cNvSpPr txBox="1"/>
          <p:nvPr/>
        </p:nvSpPr>
        <p:spPr>
          <a:xfrm>
            <a:off x="3462039" y="6424612"/>
            <a:ext cx="535369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滑鼠懸停的主標題</a:t>
            </a:r>
          </a:p>
        </p:txBody>
      </p:sp>
      <p:sp>
        <p:nvSpPr>
          <p:cNvPr id="573" name="Shape 28"/>
          <p:cNvSpPr/>
          <p:nvPr/>
        </p:nvSpPr>
        <p:spPr>
          <a:xfrm>
            <a:off x="1066799" y="7651749"/>
            <a:ext cx="22047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4" name="Shape 29"/>
          <p:cNvSpPr/>
          <p:nvPr/>
        </p:nvSpPr>
        <p:spPr>
          <a:xfrm>
            <a:off x="1257300" y="7134225"/>
            <a:ext cx="182374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5" name="Text 30"/>
          <p:cNvSpPr txBox="1"/>
          <p:nvPr/>
        </p:nvSpPr>
        <p:spPr>
          <a:xfrm>
            <a:off x="1390649" y="7172325"/>
            <a:ext cx="1633242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hover_data={}</a:t>
            </a:r>
          </a:p>
        </p:txBody>
      </p:sp>
      <p:sp>
        <p:nvSpPr>
          <p:cNvPr id="576" name="Shape 31"/>
          <p:cNvSpPr/>
          <p:nvPr/>
        </p:nvSpPr>
        <p:spPr>
          <a:xfrm>
            <a:off x="3271539" y="7651749"/>
            <a:ext cx="556766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7" name="Text 32"/>
          <p:cNvSpPr txBox="1"/>
          <p:nvPr/>
        </p:nvSpPr>
        <p:spPr>
          <a:xfrm>
            <a:off x="3462039" y="7129463"/>
            <a:ext cx="535369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懸停顯示的額外欄位 / 格式</a:t>
            </a:r>
          </a:p>
        </p:txBody>
      </p:sp>
      <p:sp>
        <p:nvSpPr>
          <p:cNvPr id="578" name="Shape 33"/>
          <p:cNvSpPr/>
          <p:nvPr/>
        </p:nvSpPr>
        <p:spPr>
          <a:xfrm>
            <a:off x="1066799" y="8356600"/>
            <a:ext cx="220474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9" name="Shape 34"/>
          <p:cNvSpPr/>
          <p:nvPr/>
        </p:nvSpPr>
        <p:spPr>
          <a:xfrm>
            <a:off x="1257300" y="7839075"/>
            <a:ext cx="182374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0" name="Text 35"/>
          <p:cNvSpPr txBox="1"/>
          <p:nvPr/>
        </p:nvSpPr>
        <p:spPr>
          <a:xfrm>
            <a:off x="1390649" y="7877175"/>
            <a:ext cx="1633242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mapbox_style=</a:t>
            </a:r>
          </a:p>
        </p:txBody>
      </p:sp>
      <p:sp>
        <p:nvSpPr>
          <p:cNvPr id="581" name="Shape 36"/>
          <p:cNvSpPr/>
          <p:nvPr/>
        </p:nvSpPr>
        <p:spPr>
          <a:xfrm>
            <a:off x="3271539" y="8356600"/>
            <a:ext cx="5567661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2" name="Text 37"/>
          <p:cNvSpPr txBox="1"/>
          <p:nvPr/>
        </p:nvSpPr>
        <p:spPr>
          <a:xfrm>
            <a:off x="3462039" y="7834313"/>
            <a:ext cx="535369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4A403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"open-street-map" 不需 token</a:t>
            </a:r>
          </a:p>
        </p:txBody>
      </p:sp>
      <p:sp>
        <p:nvSpPr>
          <p:cNvPr id="583" name="Shape 38"/>
          <p:cNvSpPr/>
          <p:nvPr/>
        </p:nvSpPr>
        <p:spPr>
          <a:xfrm>
            <a:off x="1257300" y="8543925"/>
            <a:ext cx="865584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4" name="Text 39"/>
          <p:cNvSpPr txBox="1"/>
          <p:nvPr/>
        </p:nvSpPr>
        <p:spPr>
          <a:xfrm>
            <a:off x="1390650" y="8582025"/>
            <a:ext cx="675084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zoom=</a:t>
            </a:r>
          </a:p>
        </p:txBody>
      </p:sp>
      <p:sp>
        <p:nvSpPr>
          <p:cNvPr id="585" name="Text 40"/>
          <p:cNvSpPr txBox="1"/>
          <p:nvPr/>
        </p:nvSpPr>
        <p:spPr>
          <a:xfrm>
            <a:off x="3462039" y="8539163"/>
            <a:ext cx="5353691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初始縮放（0 = 全球，10 = 城市）</a:t>
            </a:r>
          </a:p>
        </p:txBody>
      </p:sp>
      <p:sp>
        <p:nvSpPr>
          <p:cNvPr id="586" name="Shape 41"/>
          <p:cNvSpPr/>
          <p:nvPr/>
        </p:nvSpPr>
        <p:spPr>
          <a:xfrm>
            <a:off x="1066800" y="9334500"/>
            <a:ext cx="8999982" cy="838200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7" name="Shape 42"/>
          <p:cNvSpPr/>
          <p:nvPr/>
        </p:nvSpPr>
        <p:spPr>
          <a:xfrm flipH="1">
            <a:off x="1021081" y="9334500"/>
            <a:ext cx="45719" cy="825500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8" name="Text 43"/>
          <p:cNvSpPr txBox="1"/>
          <p:nvPr/>
        </p:nvSpPr>
        <p:spPr>
          <a:xfrm>
            <a:off x="1428750" y="9563099"/>
            <a:ext cx="8399972" cy="921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68095">
              <a:lnSpc>
                <a:spcPct val="145000"/>
              </a:lnSpc>
              <a:defRPr sz="201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dirty="0" err="1"/>
              <a:t>用</a:t>
            </a:r>
            <a:r>
              <a:rPr dirty="0"/>
              <a:t> open-street-map </a:t>
            </a:r>
            <a:r>
              <a:rPr dirty="0" err="1"/>
              <a:t>就好</a:t>
            </a:r>
            <a:r>
              <a:rPr dirty="0"/>
              <a:t> </a:t>
            </a:r>
            <a:r>
              <a:rPr b="0" dirty="0">
                <a:solidFill>
                  <a:srgbClr val="1A1714"/>
                </a:solidFill>
              </a:rPr>
              <a:t>——</a:t>
            </a:r>
            <a:r>
              <a:rPr b="0" dirty="0" err="1">
                <a:solidFill>
                  <a:srgbClr val="1A1714"/>
                </a:solidFill>
              </a:rPr>
              <a:t>不用申請</a:t>
            </a:r>
            <a:r>
              <a:rPr b="0" dirty="0">
                <a:solidFill>
                  <a:srgbClr val="1A1714"/>
                </a:solidFill>
              </a:rPr>
              <a:t> </a:t>
            </a:r>
            <a:r>
              <a:rPr b="0" dirty="0" err="1">
                <a:solidFill>
                  <a:srgbClr val="1A1714"/>
                </a:solidFill>
              </a:rPr>
              <a:t>Mapbox</a:t>
            </a:r>
            <a:r>
              <a:rPr b="0" dirty="0">
                <a:solidFill>
                  <a:srgbClr val="1A1714"/>
                </a:solidFill>
              </a:rPr>
              <a:t> </a:t>
            </a:r>
            <a:r>
              <a:rPr b="0" dirty="0" err="1">
                <a:solidFill>
                  <a:srgbClr val="1A1714"/>
                </a:solidFill>
              </a:rPr>
              <a:t>token，免費而且夠用</a:t>
            </a:r>
            <a:r>
              <a:rPr b="0" dirty="0">
                <a:solidFill>
                  <a:srgbClr val="1A1714"/>
                </a:solidFill>
              </a:rPr>
              <a:t>。</a:t>
            </a:r>
          </a:p>
        </p:txBody>
      </p:sp>
      <p:sp>
        <p:nvSpPr>
          <p:cNvPr id="589" name="Shape 44"/>
          <p:cNvSpPr/>
          <p:nvPr/>
        </p:nvSpPr>
        <p:spPr>
          <a:xfrm>
            <a:off x="10066782" y="1909762"/>
            <a:ext cx="7772400" cy="6886575"/>
          </a:xfrm>
          <a:prstGeom prst="roundRect">
            <a:avLst>
              <a:gd name="adj" fmla="val 3043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90" name="Text 45"/>
          <p:cNvSpPr txBox="1"/>
          <p:nvPr/>
        </p:nvSpPr>
        <p:spPr>
          <a:xfrm>
            <a:off x="10485881" y="2252662"/>
            <a:ext cx="7142228" cy="6238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fig = px.</a:t>
            </a:r>
            <a:r>
              <a:rPr>
                <a:solidFill>
                  <a:srgbClr val="87B8DD"/>
                </a:solidFill>
              </a:rPr>
              <a:t>scatter_mapbox </a:t>
            </a:r>
            <a:r>
              <a:t>(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station_geo,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lat=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"parking_lot_latitude"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lon=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"parking_lot_longitude"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color=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size=station_geo[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 </a:t>
            </a:r>
            <a:r>
              <a:rPr>
                <a:solidFill>
                  <a:srgbClr val="E8E0D0"/>
                </a:solidFill>
              </a:rPr>
              <a:t>]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.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clip</a:t>
            </a:r>
            <a:r>
              <a:rPr>
                <a:solidFill>
                  <a:srgbClr val="E8E0D0"/>
                </a:solidFill>
              </a:rPr>
              <a:t>(lower=</a:t>
            </a:r>
            <a:r>
              <a:rPr>
                <a:solidFill>
                  <a:srgbClr val="9EC58A"/>
                </a:solidFill>
              </a:rPr>
              <a:t>1 </a:t>
            </a:r>
            <a:r>
              <a:rPr>
                <a:solidFill>
                  <a:srgbClr val="E8E0D0"/>
                </a:solidFill>
              </a:rPr>
              <a:t>),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size_max=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25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hover_name=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"parking_lot_name"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hover_data={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"parking_lot_area"</a:t>
            </a:r>
            <a:r>
              <a:rPr>
                <a:solidFill>
                  <a:srgbClr val="E8E0D0"/>
                </a:solidFill>
              </a:rPr>
              <a:t>: </a:t>
            </a:r>
            <a:r>
              <a:rPr>
                <a:solidFill>
                  <a:srgbClr val="E89A5A"/>
                </a:solidFill>
              </a:rPr>
              <a:t>True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</a:t>
            </a:r>
            <a:r>
              <a:rPr>
                <a:solidFill>
                  <a:srgbClr val="E8E0D0"/>
                </a:solidFill>
              </a:rPr>
              <a:t>: </a:t>
            </a:r>
            <a:r>
              <a:rPr>
                <a:solidFill>
                  <a:srgbClr val="E89A5A"/>
                </a:solidFill>
              </a:rPr>
              <a:t>True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"平均里程"</a:t>
            </a:r>
            <a:r>
              <a:rPr>
                <a:solidFill>
                  <a:srgbClr val="E8E0D0"/>
                </a:solidFill>
              </a:rPr>
              <a:t>: </a:t>
            </a:r>
            <a:r>
              <a:t>":.1f"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"parking_lot_latitude"</a:t>
            </a:r>
            <a:r>
              <a:rPr>
                <a:solidFill>
                  <a:srgbClr val="E8E0D0"/>
                </a:solidFill>
              </a:rPr>
              <a:t>: </a:t>
            </a:r>
            <a:r>
              <a:rPr>
                <a:solidFill>
                  <a:srgbClr val="E89A5A"/>
                </a:solidFill>
              </a:rPr>
              <a:t>False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mapbox_style=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"open-street-map"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zoom=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9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color_continuous_scale=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"YlOrRd"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fig.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update_layout</a:t>
            </a:r>
            <a:r>
              <a:rPr>
                <a:solidFill>
                  <a:srgbClr val="E8E0D0"/>
                </a:solidFill>
              </a:rPr>
              <a:t>(margin={</a:t>
            </a:r>
            <a:r>
              <a:rPr>
                <a:solidFill>
                  <a:srgbClr val="9EC58A"/>
                </a:solidFill>
              </a:rPr>
              <a:t>"r"</a:t>
            </a:r>
            <a:r>
              <a:rPr>
                <a:solidFill>
                  <a:srgbClr val="E8E0D0"/>
                </a:solidFill>
              </a:rPr>
              <a:t>:</a:t>
            </a:r>
            <a:r>
              <a:rPr>
                <a:solidFill>
                  <a:srgbClr val="9EC58A"/>
                </a:solidFill>
              </a:rPr>
              <a:t>0</a:t>
            </a:r>
            <a:r>
              <a:rPr>
                <a:solidFill>
                  <a:srgbClr val="E8E0D0"/>
                </a:solidFill>
              </a:rPr>
              <a:t>,</a:t>
            </a:r>
            <a:r>
              <a:rPr>
                <a:solidFill>
                  <a:srgbClr val="9EC58A"/>
                </a:solidFill>
              </a:rPr>
              <a:t>"t"</a:t>
            </a:r>
            <a:r>
              <a:rPr>
                <a:solidFill>
                  <a:srgbClr val="E8E0D0"/>
                </a:solidFill>
              </a:rPr>
              <a:t>:</a:t>
            </a:r>
            <a:r>
              <a:rPr>
                <a:solidFill>
                  <a:srgbClr val="9EC58A"/>
                </a:solidFill>
              </a:rPr>
              <a:t>30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            </a:t>
            </a:r>
          </a:p>
          <a:p>
            <a:pPr defTabSz="475487">
              <a:lnSpc>
                <a:spcPct val="155000"/>
              </a:lnSpc>
              <a:defRPr sz="78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"l"</a:t>
            </a:r>
            <a:r>
              <a:rPr>
                <a:solidFill>
                  <a:srgbClr val="E8E0D0"/>
                </a:solidFill>
              </a:rPr>
              <a:t>:</a:t>
            </a:r>
            <a:r>
              <a:t>0</a:t>
            </a:r>
            <a:r>
              <a:rPr>
                <a:solidFill>
                  <a:srgbClr val="E8E0D0"/>
                </a:solidFill>
              </a:rPr>
              <a:t>,</a:t>
            </a:r>
            <a:r>
              <a:t>"b"</a:t>
            </a:r>
            <a:r>
              <a:rPr>
                <a:solidFill>
                  <a:srgbClr val="E8E0D0"/>
                </a:solidFill>
              </a:rPr>
              <a:t>:</a:t>
            </a:r>
            <a:r>
              <a:t>0</a:t>
            </a:r>
            <a:r>
              <a:rPr>
                <a:solidFill>
                  <a:srgbClr val="E8E0D0"/>
                </a:solidFill>
              </a:rPr>
              <a:t>})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5" name="Text 1"/>
          <p:cNvSpPr txBox="1"/>
          <p:nvPr/>
        </p:nvSpPr>
        <p:spPr>
          <a:xfrm>
            <a:off x="1352549" y="914400"/>
            <a:ext cx="2788708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3.6 GRAPH OBJECTS</a:t>
            </a:r>
          </a:p>
        </p:txBody>
      </p:sp>
      <p:sp>
        <p:nvSpPr>
          <p:cNvPr id="596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20 / 41</a:t>
            </a:r>
          </a:p>
        </p:txBody>
      </p:sp>
      <p:sp>
        <p:nvSpPr>
          <p:cNvPr id="597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自由組合圖層</a:t>
            </a:r>
          </a:p>
        </p:txBody>
      </p:sp>
      <p:sp>
        <p:nvSpPr>
          <p:cNvPr id="598" name="Text 4"/>
          <p:cNvSpPr txBox="1"/>
          <p:nvPr/>
        </p:nvSpPr>
        <p:spPr>
          <a:xfrm>
            <a:off x="1066800" y="224790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95527">
              <a:lnSpc>
                <a:spcPct val="104999"/>
              </a:lnSpc>
              <a:defRPr sz="5220" b="1" spc="-87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go.Figure() &amp; add_trace()</a:t>
            </a:r>
          </a:p>
        </p:txBody>
      </p:sp>
      <p:sp>
        <p:nvSpPr>
          <p:cNvPr id="599" name="Shape 5"/>
          <p:cNvSpPr/>
          <p:nvPr/>
        </p:nvSpPr>
        <p:spPr>
          <a:xfrm>
            <a:off x="1066800" y="4127500"/>
            <a:ext cx="2444204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0" name="Text 6"/>
          <p:cNvSpPr txBox="1"/>
          <p:nvPr/>
        </p:nvSpPr>
        <p:spPr>
          <a:xfrm>
            <a:off x="1257300" y="3676649"/>
            <a:ext cx="2139404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物件</a:t>
            </a:r>
          </a:p>
        </p:txBody>
      </p:sp>
      <p:sp>
        <p:nvSpPr>
          <p:cNvPr id="601" name="Shape 7"/>
          <p:cNvSpPr/>
          <p:nvPr/>
        </p:nvSpPr>
        <p:spPr>
          <a:xfrm>
            <a:off x="3511003" y="4127500"/>
            <a:ext cx="5328197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2" name="Text 8"/>
          <p:cNvSpPr txBox="1"/>
          <p:nvPr/>
        </p:nvSpPr>
        <p:spPr>
          <a:xfrm>
            <a:off x="3701503" y="3676649"/>
            <a:ext cx="5107043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用途</a:t>
            </a:r>
          </a:p>
        </p:txBody>
      </p:sp>
      <p:sp>
        <p:nvSpPr>
          <p:cNvPr id="603" name="Shape 9"/>
          <p:cNvSpPr/>
          <p:nvPr/>
        </p:nvSpPr>
        <p:spPr>
          <a:xfrm>
            <a:off x="1066800" y="4832350"/>
            <a:ext cx="2444204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4" name="Shape 10"/>
          <p:cNvSpPr/>
          <p:nvPr/>
        </p:nvSpPr>
        <p:spPr>
          <a:xfrm>
            <a:off x="1257300" y="4314825"/>
            <a:ext cx="1584128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5" name="Text 11"/>
          <p:cNvSpPr txBox="1"/>
          <p:nvPr/>
        </p:nvSpPr>
        <p:spPr>
          <a:xfrm>
            <a:off x="1390649" y="4352925"/>
            <a:ext cx="1393629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go.Figure()</a:t>
            </a:r>
          </a:p>
        </p:txBody>
      </p:sp>
      <p:sp>
        <p:nvSpPr>
          <p:cNvPr id="606" name="Shape 12"/>
          <p:cNvSpPr/>
          <p:nvPr/>
        </p:nvSpPr>
        <p:spPr>
          <a:xfrm>
            <a:off x="3511003" y="4832350"/>
            <a:ext cx="5328197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7" name="Text 13"/>
          <p:cNvSpPr txBox="1"/>
          <p:nvPr/>
        </p:nvSpPr>
        <p:spPr>
          <a:xfrm>
            <a:off x="3701503" y="4310062"/>
            <a:ext cx="5107043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空白圖表容器</a:t>
            </a:r>
          </a:p>
        </p:txBody>
      </p:sp>
      <p:sp>
        <p:nvSpPr>
          <p:cNvPr id="608" name="Shape 14"/>
          <p:cNvSpPr/>
          <p:nvPr/>
        </p:nvSpPr>
        <p:spPr>
          <a:xfrm>
            <a:off x="1066800" y="5537200"/>
            <a:ext cx="2444204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9" name="Shape 15"/>
          <p:cNvSpPr/>
          <p:nvPr/>
        </p:nvSpPr>
        <p:spPr>
          <a:xfrm>
            <a:off x="1257300" y="5019675"/>
            <a:ext cx="2063204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0" name="Text 16"/>
          <p:cNvSpPr txBox="1"/>
          <p:nvPr/>
        </p:nvSpPr>
        <p:spPr>
          <a:xfrm>
            <a:off x="1390650" y="5057775"/>
            <a:ext cx="1872703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fig.add_trace()</a:t>
            </a:r>
          </a:p>
        </p:txBody>
      </p:sp>
      <p:sp>
        <p:nvSpPr>
          <p:cNvPr id="611" name="Shape 17"/>
          <p:cNvSpPr/>
          <p:nvPr/>
        </p:nvSpPr>
        <p:spPr>
          <a:xfrm>
            <a:off x="3511003" y="5537200"/>
            <a:ext cx="5328197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2" name="Text 18"/>
          <p:cNvSpPr txBox="1"/>
          <p:nvPr/>
        </p:nvSpPr>
        <p:spPr>
          <a:xfrm>
            <a:off x="3701503" y="5014912"/>
            <a:ext cx="5107043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加入一條 trace（一層資料）</a:t>
            </a:r>
          </a:p>
        </p:txBody>
      </p:sp>
      <p:sp>
        <p:nvSpPr>
          <p:cNvPr id="613" name="Shape 19"/>
          <p:cNvSpPr/>
          <p:nvPr/>
        </p:nvSpPr>
        <p:spPr>
          <a:xfrm>
            <a:off x="1066800" y="6242050"/>
            <a:ext cx="2444204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4" name="Shape 20"/>
          <p:cNvSpPr/>
          <p:nvPr/>
        </p:nvSpPr>
        <p:spPr>
          <a:xfrm>
            <a:off x="1257300" y="5724525"/>
            <a:ext cx="1703934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5" name="Text 21"/>
          <p:cNvSpPr txBox="1"/>
          <p:nvPr/>
        </p:nvSpPr>
        <p:spPr>
          <a:xfrm>
            <a:off x="1390649" y="5762625"/>
            <a:ext cx="1513435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go.Scatter()</a:t>
            </a:r>
          </a:p>
        </p:txBody>
      </p:sp>
      <p:sp>
        <p:nvSpPr>
          <p:cNvPr id="616" name="Shape 22"/>
          <p:cNvSpPr/>
          <p:nvPr/>
        </p:nvSpPr>
        <p:spPr>
          <a:xfrm>
            <a:off x="3511003" y="6242050"/>
            <a:ext cx="5328197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7" name="Text 23"/>
          <p:cNvSpPr txBox="1"/>
          <p:nvPr/>
        </p:nvSpPr>
        <p:spPr>
          <a:xfrm>
            <a:off x="3701503" y="5719762"/>
            <a:ext cx="5107043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折線圖 / 散點圖</a:t>
            </a:r>
          </a:p>
        </p:txBody>
      </p:sp>
      <p:sp>
        <p:nvSpPr>
          <p:cNvPr id="618" name="Shape 24"/>
          <p:cNvSpPr/>
          <p:nvPr/>
        </p:nvSpPr>
        <p:spPr>
          <a:xfrm>
            <a:off x="1257300" y="6429375"/>
            <a:ext cx="1224855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9" name="Text 25"/>
          <p:cNvSpPr txBox="1"/>
          <p:nvPr/>
        </p:nvSpPr>
        <p:spPr>
          <a:xfrm>
            <a:off x="1390650" y="6467475"/>
            <a:ext cx="1034355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go.Bar()</a:t>
            </a:r>
          </a:p>
        </p:txBody>
      </p:sp>
      <p:sp>
        <p:nvSpPr>
          <p:cNvPr id="620" name="Text 26"/>
          <p:cNvSpPr txBox="1"/>
          <p:nvPr/>
        </p:nvSpPr>
        <p:spPr>
          <a:xfrm>
            <a:off x="3701503" y="6424612"/>
            <a:ext cx="5107043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長條圖</a:t>
            </a:r>
          </a:p>
        </p:txBody>
      </p:sp>
      <p:sp>
        <p:nvSpPr>
          <p:cNvPr id="621" name="Shape 27"/>
          <p:cNvSpPr/>
          <p:nvPr/>
        </p:nvSpPr>
        <p:spPr>
          <a:xfrm>
            <a:off x="1066800" y="7334250"/>
            <a:ext cx="7772400" cy="1782811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2" name="Shape 28"/>
          <p:cNvSpPr/>
          <p:nvPr/>
        </p:nvSpPr>
        <p:spPr>
          <a:xfrm>
            <a:off x="1066800" y="7334250"/>
            <a:ext cx="57150" cy="1782811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3" name="Text 29"/>
          <p:cNvSpPr txBox="1"/>
          <p:nvPr/>
        </p:nvSpPr>
        <p:spPr>
          <a:xfrm>
            <a:off x="1428750" y="7562849"/>
            <a:ext cx="7338822" cy="136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86384">
              <a:lnSpc>
                <a:spcPct val="145000"/>
              </a:lnSpc>
              <a:defRPr sz="2064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什麼時候要從 px 改用 go？ </a:t>
            </a:r>
            <a:r>
              <a:rPr b="0">
                <a:solidFill>
                  <a:srgbClr val="1A1714"/>
                </a:solidFill>
              </a:rPr>
              <a:t>當你需要把</a:t>
            </a:r>
            <a:r>
              <a:t>折線跟長條疊在一起</a:t>
            </a:r>
            <a:r>
              <a:rPr b="0">
                <a:solidFill>
                  <a:srgbClr val="1A1714"/>
                </a:solidFill>
              </a:rPr>
              <a:t>、或</a:t>
            </a:r>
            <a:r>
              <a:t>左右兩個 Y 軸 </a:t>
            </a:r>
            <a:r>
              <a:rPr b="0">
                <a:solidFill>
                  <a:srgbClr val="1A1714"/>
                </a:solidFill>
              </a:rPr>
              <a:t>——這時 px 一行畫不出來，就要切到 go。</a:t>
            </a:r>
          </a:p>
        </p:txBody>
      </p:sp>
      <p:sp>
        <p:nvSpPr>
          <p:cNvPr id="624" name="Shape 30"/>
          <p:cNvSpPr/>
          <p:nvPr/>
        </p:nvSpPr>
        <p:spPr>
          <a:xfrm>
            <a:off x="9448800" y="3505200"/>
            <a:ext cx="7772400" cy="6296025"/>
          </a:xfrm>
          <a:prstGeom prst="roundRect">
            <a:avLst>
              <a:gd name="adj" fmla="val 3328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25" name="Text 31"/>
          <p:cNvSpPr txBox="1"/>
          <p:nvPr/>
        </p:nvSpPr>
        <p:spPr>
          <a:xfrm>
            <a:off x="9867899" y="3848100"/>
            <a:ext cx="7142228" cy="5648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621791">
              <a:lnSpc>
                <a:spcPct val="155000"/>
              </a:lnSpc>
              <a:defRPr sz="1020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每日借車次數 vs App 瀏覽 雙軸折線圖 </a:t>
            </a:r>
            <a:r>
              <a:rPr i="0">
                <a:solidFill>
                  <a:srgbClr val="E8E0D0"/>
                </a:solidFill>
              </a:rPr>
              <a:t>fig = go.</a:t>
            </a:r>
            <a:r>
              <a:rPr i="0">
                <a:solidFill>
                  <a:srgbClr val="87B8DD"/>
                </a:solidFill>
              </a:rPr>
              <a:t>Figure</a:t>
            </a:r>
            <a:r>
              <a:rPr i="0">
                <a:solidFill>
                  <a:srgbClr val="E8E0D0"/>
                </a:solidFill>
              </a:rPr>
              <a:t>() </a:t>
            </a:r>
            <a:r>
              <a:t># 第一條 trace：借車次數（左 Y 軸） </a:t>
            </a:r>
            <a:r>
              <a:rPr i="0">
                <a:solidFill>
                  <a:srgbClr val="E8E0D0"/>
                </a:solidFill>
              </a:rPr>
              <a:t>fig.</a:t>
            </a:r>
            <a:r>
              <a:rPr i="0">
                <a:solidFill>
                  <a:srgbClr val="87B8DD"/>
                </a:solidFill>
              </a:rPr>
              <a:t>add_trace</a:t>
            </a:r>
            <a:r>
              <a:rPr i="0">
                <a:solidFill>
                  <a:srgbClr val="E8E0D0"/>
                </a:solidFill>
              </a:rPr>
              <a:t>(go.</a:t>
            </a:r>
            <a:r>
              <a:rPr i="0">
                <a:solidFill>
                  <a:srgbClr val="87B8DD"/>
                </a:solidFill>
              </a:rPr>
              <a:t>Scatter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x=daily[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"date" </a:t>
            </a:r>
            <a:r>
              <a:rPr>
                <a:solidFill>
                  <a:srgbClr val="E8E0D0"/>
                </a:solidFill>
              </a:rPr>
              <a:t>],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y=daily[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</a:t>
            </a:r>
            <a:r>
              <a:rPr>
                <a:solidFill>
                  <a:srgbClr val="E8E0D0"/>
                </a:solidFill>
              </a:rPr>
              <a:t>].</a:t>
            </a:r>
            <a:r>
              <a:rPr>
                <a:solidFill>
                  <a:srgbClr val="87B8DD"/>
                </a:solidFill>
              </a:rPr>
              <a:t>rolling</a:t>
            </a:r>
            <a:r>
              <a:rPr>
                <a:solidFill>
                  <a:srgbClr val="E8E0D0"/>
                </a:solidFill>
              </a:rPr>
              <a:t>(</a:t>
            </a:r>
            <a:r>
              <a:t>7</a:t>
            </a:r>
            <a:r>
              <a:rPr>
                <a:solidFill>
                  <a:srgbClr val="E8E0D0"/>
                </a:solidFill>
              </a:rPr>
              <a:t>).</a:t>
            </a:r>
            <a:r>
              <a:rPr>
                <a:solidFill>
                  <a:srgbClr val="87B8DD"/>
                </a:solidFill>
              </a:rPr>
              <a:t>mean </a:t>
            </a:r>
            <a:r>
              <a:rPr>
                <a:solidFill>
                  <a:srgbClr val="E8E0D0"/>
                </a:solidFill>
              </a:rPr>
              <a:t>(),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name=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"借車次數（7日均）"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line=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dict</a:t>
            </a:r>
            <a:r>
              <a:rPr>
                <a:solidFill>
                  <a:srgbClr val="E8E0D0"/>
                </a:solidFill>
              </a:rPr>
              <a:t>(color=</a:t>
            </a:r>
            <a:r>
              <a:rPr>
                <a:solidFill>
                  <a:srgbClr val="9EC58A"/>
                </a:solidFill>
              </a:rPr>
              <a:t>"#C45A2C"</a:t>
            </a:r>
            <a:r>
              <a:rPr>
                <a:solidFill>
                  <a:srgbClr val="E8E0D0"/>
                </a:solidFill>
              </a:rPr>
              <a:t>, width=</a:t>
            </a:r>
            <a:r>
              <a:rPr>
                <a:solidFill>
                  <a:srgbClr val="9EC58A"/>
                </a:solidFill>
              </a:rPr>
              <a:t>2 </a:t>
            </a:r>
            <a:r>
              <a:rPr>
                <a:solidFill>
                  <a:srgbClr val="E8E0D0"/>
                </a:solidFill>
              </a:rPr>
              <a:t>),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)) </a:t>
            </a:r>
          </a:p>
          <a:p>
            <a:pPr defTabSz="621791">
              <a:lnSpc>
                <a:spcPct val="155000"/>
              </a:lnSpc>
              <a:defRPr sz="1020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第二條 trace：瀏覽次數（右 Y 軸） </a:t>
            </a:r>
            <a:r>
              <a:rPr i="0">
                <a:solidFill>
                  <a:srgbClr val="E8E0D0"/>
                </a:solidFill>
              </a:rPr>
              <a:t>fig.</a:t>
            </a:r>
            <a:r>
              <a:rPr i="0">
                <a:solidFill>
                  <a:srgbClr val="87B8DD"/>
                </a:solidFill>
              </a:rPr>
              <a:t>add_trace</a:t>
            </a:r>
            <a:r>
              <a:rPr i="0">
                <a:solidFill>
                  <a:srgbClr val="E8E0D0"/>
                </a:solidFill>
              </a:rPr>
              <a:t>(go.</a:t>
            </a:r>
            <a:r>
              <a:rPr i="0">
                <a:solidFill>
                  <a:srgbClr val="87B8DD"/>
                </a:solidFill>
              </a:rPr>
              <a:t>Scatter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x=daily[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"date" </a:t>
            </a:r>
            <a:r>
              <a:rPr>
                <a:solidFill>
                  <a:srgbClr val="E8E0D0"/>
                </a:solidFill>
              </a:rPr>
              <a:t>],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y=daily[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"瀏覽次數"</a:t>
            </a:r>
            <a:r>
              <a:rPr>
                <a:solidFill>
                  <a:srgbClr val="E8E0D0"/>
                </a:solidFill>
              </a:rPr>
              <a:t>].</a:t>
            </a:r>
            <a:r>
              <a:rPr>
                <a:solidFill>
                  <a:srgbClr val="87B8DD"/>
                </a:solidFill>
              </a:rPr>
              <a:t>rolling</a:t>
            </a:r>
            <a:r>
              <a:rPr>
                <a:solidFill>
                  <a:srgbClr val="E8E0D0"/>
                </a:solidFill>
              </a:rPr>
              <a:t>(</a:t>
            </a:r>
            <a:r>
              <a:t>7</a:t>
            </a:r>
            <a:r>
              <a:rPr>
                <a:solidFill>
                  <a:srgbClr val="E8E0D0"/>
                </a:solidFill>
              </a:rPr>
              <a:t>).</a:t>
            </a:r>
            <a:r>
              <a:rPr>
                <a:solidFill>
                  <a:srgbClr val="87B8DD"/>
                </a:solidFill>
              </a:rPr>
              <a:t>mean </a:t>
            </a:r>
            <a:r>
              <a:rPr>
                <a:solidFill>
                  <a:srgbClr val="E8E0D0"/>
                </a:solidFill>
              </a:rPr>
              <a:t>(),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name=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"App 瀏覽"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line=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dict</a:t>
            </a:r>
            <a:r>
              <a:rPr>
                <a:solidFill>
                  <a:srgbClr val="E8E0D0"/>
                </a:solidFill>
              </a:rPr>
              <a:t>(color=</a:t>
            </a:r>
            <a:r>
              <a:rPr>
                <a:solidFill>
                  <a:srgbClr val="9EC58A"/>
                </a:solidFill>
              </a:rPr>
              <a:t>"#5C7A52"</a:t>
            </a:r>
            <a:r>
              <a:rPr>
                <a:solidFill>
                  <a:srgbClr val="E8E0D0"/>
                </a:solidFill>
              </a:rPr>
              <a:t>, dash=</a:t>
            </a:r>
            <a:r>
              <a:rPr>
                <a:solidFill>
                  <a:srgbClr val="9EC58A"/>
                </a:solidFill>
              </a:rPr>
              <a:t>"dot" </a:t>
            </a:r>
            <a:r>
              <a:rPr>
                <a:solidFill>
                  <a:srgbClr val="E8E0D0"/>
                </a:solidFill>
              </a:rPr>
              <a:t>),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yaxis=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"y2"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))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0" name="Text 1"/>
          <p:cNvSpPr txBox="1"/>
          <p:nvPr/>
        </p:nvSpPr>
        <p:spPr>
          <a:xfrm>
            <a:off x="1352549" y="914400"/>
            <a:ext cx="2788708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3.7 GRAPH OBJECTS</a:t>
            </a:r>
          </a:p>
        </p:txBody>
      </p:sp>
      <p:sp>
        <p:nvSpPr>
          <p:cNvPr id="631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21 / 41</a:t>
            </a:r>
          </a:p>
        </p:txBody>
      </p:sp>
      <p:sp>
        <p:nvSpPr>
          <p:cNvPr id="632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雙 Y 軸圖表</a:t>
            </a:r>
          </a:p>
        </p:txBody>
      </p:sp>
      <p:sp>
        <p:nvSpPr>
          <p:cNvPr id="633" name="Text 4"/>
          <p:cNvSpPr txBox="1"/>
          <p:nvPr/>
        </p:nvSpPr>
        <p:spPr>
          <a:xfrm>
            <a:off x="1066800" y="224790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95527">
              <a:lnSpc>
                <a:spcPct val="104999"/>
              </a:lnSpc>
              <a:defRPr sz="5220" b="1" spc="-87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make_subplots(secondary_y=True)</a:t>
            </a:r>
          </a:p>
        </p:txBody>
      </p:sp>
      <p:sp>
        <p:nvSpPr>
          <p:cNvPr id="634" name="Shape 5"/>
          <p:cNvSpPr/>
          <p:nvPr/>
        </p:nvSpPr>
        <p:spPr>
          <a:xfrm>
            <a:off x="1066800" y="3505200"/>
            <a:ext cx="7772400" cy="1790253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5" name="Shape 6"/>
          <p:cNvSpPr/>
          <p:nvPr/>
        </p:nvSpPr>
        <p:spPr>
          <a:xfrm>
            <a:off x="1066800" y="3505200"/>
            <a:ext cx="57150" cy="1790253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6" name="Text 7"/>
          <p:cNvSpPr txBox="1"/>
          <p:nvPr/>
        </p:nvSpPr>
        <p:spPr>
          <a:xfrm>
            <a:off x="1428750" y="3733799"/>
            <a:ext cx="7338822" cy="1371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22376">
              <a:lnSpc>
                <a:spcPct val="145000"/>
              </a:lnSpc>
              <a:defRPr sz="189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使用情境： </a:t>
            </a:r>
            <a:r>
              <a:rPr b="0">
                <a:solidFill>
                  <a:srgbClr val="1A1714"/>
                </a:solidFill>
              </a:rPr>
              <a:t>兩組資料量級差距很大（如「可用車數 0~5」vs「借車次數 0~200」），單一 Y 軸沒法比較。 </a:t>
            </a:r>
            <a:r>
              <a:rPr sz="1422" b="0">
                <a:latin typeface="JetBrains Mono"/>
                <a:ea typeface="JetBrains Mono"/>
                <a:cs typeface="JetBrains Mono"/>
                <a:sym typeface="JetBrains Mono"/>
              </a:rPr>
              <a:t>make_subplots </a:t>
            </a:r>
            <a:r>
              <a:rPr b="0">
                <a:solidFill>
                  <a:srgbClr val="1A1714"/>
                </a:solidFill>
              </a:rPr>
              <a:t>建立共享 X 軸的雙 Y 軸圖。</a:t>
            </a:r>
          </a:p>
        </p:txBody>
      </p:sp>
      <p:sp>
        <p:nvSpPr>
          <p:cNvPr id="637" name="Shape 8"/>
          <p:cNvSpPr/>
          <p:nvPr/>
        </p:nvSpPr>
        <p:spPr>
          <a:xfrm>
            <a:off x="1066800" y="6184453"/>
            <a:ext cx="3527227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8" name="Text 9"/>
          <p:cNvSpPr txBox="1"/>
          <p:nvPr/>
        </p:nvSpPr>
        <p:spPr>
          <a:xfrm>
            <a:off x="1257300" y="5733603"/>
            <a:ext cx="3252043" cy="319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步驟</a:t>
            </a:r>
          </a:p>
        </p:txBody>
      </p:sp>
      <p:sp>
        <p:nvSpPr>
          <p:cNvPr id="639" name="Shape 10"/>
          <p:cNvSpPr/>
          <p:nvPr/>
        </p:nvSpPr>
        <p:spPr>
          <a:xfrm>
            <a:off x="4594026" y="6184453"/>
            <a:ext cx="4245174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0" name="Text 11"/>
          <p:cNvSpPr txBox="1"/>
          <p:nvPr/>
        </p:nvSpPr>
        <p:spPr>
          <a:xfrm>
            <a:off x="4784526" y="5733603"/>
            <a:ext cx="3991529" cy="319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動作</a:t>
            </a:r>
          </a:p>
        </p:txBody>
      </p:sp>
      <p:sp>
        <p:nvSpPr>
          <p:cNvPr id="641" name="Shape 12"/>
          <p:cNvSpPr/>
          <p:nvPr/>
        </p:nvSpPr>
        <p:spPr>
          <a:xfrm>
            <a:off x="1066800" y="6889303"/>
            <a:ext cx="3527227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2" name="Shape 13"/>
          <p:cNvSpPr/>
          <p:nvPr/>
        </p:nvSpPr>
        <p:spPr>
          <a:xfrm>
            <a:off x="1257300" y="6371778"/>
            <a:ext cx="1823741" cy="333376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3" name="Text 14"/>
          <p:cNvSpPr txBox="1"/>
          <p:nvPr/>
        </p:nvSpPr>
        <p:spPr>
          <a:xfrm>
            <a:off x="1390649" y="6409878"/>
            <a:ext cx="1633242" cy="295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make_subplots</a:t>
            </a:r>
          </a:p>
        </p:txBody>
      </p:sp>
      <p:sp>
        <p:nvSpPr>
          <p:cNvPr id="644" name="Shape 15"/>
          <p:cNvSpPr/>
          <p:nvPr/>
        </p:nvSpPr>
        <p:spPr>
          <a:xfrm>
            <a:off x="4594026" y="6889303"/>
            <a:ext cx="4245174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5" name="Text 16"/>
          <p:cNvSpPr txBox="1"/>
          <p:nvPr/>
        </p:nvSpPr>
        <p:spPr>
          <a:xfrm>
            <a:off x="4784526" y="6367016"/>
            <a:ext cx="3991529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建立支援雙 Y 軸的 Figure</a:t>
            </a:r>
          </a:p>
        </p:txBody>
      </p:sp>
      <p:sp>
        <p:nvSpPr>
          <p:cNvPr id="646" name="Shape 17"/>
          <p:cNvSpPr/>
          <p:nvPr/>
        </p:nvSpPr>
        <p:spPr>
          <a:xfrm>
            <a:off x="1066800" y="7594153"/>
            <a:ext cx="3527227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7" name="Shape 18"/>
          <p:cNvSpPr/>
          <p:nvPr/>
        </p:nvSpPr>
        <p:spPr>
          <a:xfrm>
            <a:off x="1257300" y="7076629"/>
            <a:ext cx="2302669" cy="333376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8" name="Text 19"/>
          <p:cNvSpPr txBox="1"/>
          <p:nvPr/>
        </p:nvSpPr>
        <p:spPr>
          <a:xfrm>
            <a:off x="1390650" y="7114729"/>
            <a:ext cx="2112169" cy="295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secondary_y=False</a:t>
            </a:r>
          </a:p>
        </p:txBody>
      </p:sp>
      <p:sp>
        <p:nvSpPr>
          <p:cNvPr id="649" name="Shape 20"/>
          <p:cNvSpPr/>
          <p:nvPr/>
        </p:nvSpPr>
        <p:spPr>
          <a:xfrm>
            <a:off x="4594026" y="7594153"/>
            <a:ext cx="4245174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0" name="Text 21"/>
          <p:cNvSpPr txBox="1"/>
          <p:nvPr/>
        </p:nvSpPr>
        <p:spPr>
          <a:xfrm>
            <a:off x="4784526" y="7071866"/>
            <a:ext cx="3991529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→ 左 Y 軸</a:t>
            </a:r>
          </a:p>
        </p:txBody>
      </p:sp>
      <p:sp>
        <p:nvSpPr>
          <p:cNvPr id="651" name="Shape 22"/>
          <p:cNvSpPr/>
          <p:nvPr/>
        </p:nvSpPr>
        <p:spPr>
          <a:xfrm>
            <a:off x="1066800" y="8299003"/>
            <a:ext cx="3527227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2" name="Shape 23"/>
          <p:cNvSpPr/>
          <p:nvPr/>
        </p:nvSpPr>
        <p:spPr>
          <a:xfrm>
            <a:off x="1257300" y="7781479"/>
            <a:ext cx="2183011" cy="333376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3" name="Text 24"/>
          <p:cNvSpPr txBox="1"/>
          <p:nvPr/>
        </p:nvSpPr>
        <p:spPr>
          <a:xfrm>
            <a:off x="1390650" y="7819579"/>
            <a:ext cx="1992511" cy="295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secondary_y=True</a:t>
            </a:r>
          </a:p>
        </p:txBody>
      </p:sp>
      <p:sp>
        <p:nvSpPr>
          <p:cNvPr id="654" name="Shape 25"/>
          <p:cNvSpPr/>
          <p:nvPr/>
        </p:nvSpPr>
        <p:spPr>
          <a:xfrm>
            <a:off x="4594026" y="8299003"/>
            <a:ext cx="4245174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5" name="Text 26"/>
          <p:cNvSpPr txBox="1"/>
          <p:nvPr/>
        </p:nvSpPr>
        <p:spPr>
          <a:xfrm>
            <a:off x="4784526" y="7776716"/>
            <a:ext cx="3991529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→ 右 Y 軸</a:t>
            </a:r>
          </a:p>
        </p:txBody>
      </p:sp>
      <p:sp>
        <p:nvSpPr>
          <p:cNvPr id="656" name="Shape 27"/>
          <p:cNvSpPr/>
          <p:nvPr/>
        </p:nvSpPr>
        <p:spPr>
          <a:xfrm>
            <a:off x="1257300" y="8486329"/>
            <a:ext cx="1943399" cy="333376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7" name="Text 28"/>
          <p:cNvSpPr txBox="1"/>
          <p:nvPr/>
        </p:nvSpPr>
        <p:spPr>
          <a:xfrm>
            <a:off x="1390649" y="8524429"/>
            <a:ext cx="1752900" cy="295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update_yaxes()</a:t>
            </a:r>
          </a:p>
        </p:txBody>
      </p:sp>
      <p:sp>
        <p:nvSpPr>
          <p:cNvPr id="658" name="Text 29"/>
          <p:cNvSpPr txBox="1"/>
          <p:nvPr/>
        </p:nvSpPr>
        <p:spPr>
          <a:xfrm>
            <a:off x="4784526" y="8481566"/>
            <a:ext cx="3991529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分別設定兩側標題</a:t>
            </a:r>
          </a:p>
        </p:txBody>
      </p:sp>
      <p:sp>
        <p:nvSpPr>
          <p:cNvPr id="659" name="Shape 30"/>
          <p:cNvSpPr/>
          <p:nvPr/>
        </p:nvSpPr>
        <p:spPr>
          <a:xfrm>
            <a:off x="9448800" y="3505200"/>
            <a:ext cx="7772400" cy="8067675"/>
          </a:xfrm>
          <a:prstGeom prst="roundRect">
            <a:avLst>
              <a:gd name="adj" fmla="val 2696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60" name="Text 31"/>
          <p:cNvSpPr txBox="1"/>
          <p:nvPr/>
        </p:nvSpPr>
        <p:spPr>
          <a:xfrm>
            <a:off x="9867899" y="3848100"/>
            <a:ext cx="7142228" cy="7419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621791">
              <a:lnSpc>
                <a:spcPct val="155000"/>
              </a:lnSpc>
              <a:defRPr sz="1020">
                <a:solidFill>
                  <a:srgbClr val="E89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</a:t>
            </a:r>
            <a:r>
              <a:rPr>
                <a:solidFill>
                  <a:srgbClr val="E8E0D0"/>
                </a:solidFill>
              </a:rPr>
              <a:t> plotly.subplots </a:t>
            </a:r>
            <a:r>
              <a:t>import</a:t>
            </a:r>
            <a:r>
              <a:rPr>
                <a:solidFill>
                  <a:srgbClr val="E8E0D0"/>
                </a:solidFill>
              </a:rPr>
              <a:t> make_subplots </a:t>
            </a:r>
            <a:r>
              <a:rPr i="1">
                <a:solidFill>
                  <a:srgbClr val="6B6258"/>
                </a:solidFill>
              </a:rPr>
              <a:t># secondary_y=True 開啟右側第二 Y 軸 </a:t>
            </a:r>
            <a:r>
              <a:rPr>
                <a:solidFill>
                  <a:srgbClr val="E8E0D0"/>
                </a:solidFill>
              </a:rPr>
              <a:t>fig = </a:t>
            </a:r>
            <a:r>
              <a:rPr>
                <a:solidFill>
                  <a:srgbClr val="87B8DD"/>
                </a:solidFill>
              </a:rPr>
              <a:t>make_subplots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specs=[[{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"secondary_y"</a:t>
            </a:r>
            <a:r>
              <a:rPr>
                <a:solidFill>
                  <a:srgbClr val="E8E0D0"/>
                </a:solidFill>
              </a:rPr>
              <a:t>: </a:t>
            </a:r>
            <a:r>
              <a:rPr>
                <a:solidFill>
                  <a:srgbClr val="E89A5A"/>
                </a:solidFill>
              </a:rPr>
              <a:t>True </a:t>
            </a:r>
            <a:r>
              <a:rPr>
                <a:solidFill>
                  <a:srgbClr val="E8E0D0"/>
                </a:solidFill>
              </a:rPr>
              <a:t>}]]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 </a:t>
            </a:r>
          </a:p>
          <a:p>
            <a:pPr defTabSz="621791">
              <a:lnSpc>
                <a:spcPct val="155000"/>
              </a:lnSpc>
              <a:defRPr sz="1020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左 Y 軸 trace（Bar：可用車數） </a:t>
            </a:r>
            <a:r>
              <a:rPr i="0">
                <a:solidFill>
                  <a:srgbClr val="E8E0D0"/>
                </a:solidFill>
              </a:rPr>
              <a:t>fig.</a:t>
            </a:r>
            <a:r>
              <a:rPr i="0">
                <a:solidFill>
                  <a:srgbClr val="87B8DD"/>
                </a:solidFill>
              </a:rPr>
              <a:t>add_trace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go.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Bar </a:t>
            </a:r>
            <a:r>
              <a:rPr>
                <a:solidFill>
                  <a:srgbClr val="E8E0D0"/>
                </a:solidFill>
              </a:rPr>
              <a:t>(x=hours, y=avail,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name=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"平均可用車數"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marker_color=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"rgba(196,90,44,0.55)" </a:t>
            </a:r>
            <a:r>
              <a:rPr>
                <a:solidFill>
                  <a:srgbClr val="E8E0D0"/>
                </a:solidFill>
              </a:rPr>
              <a:t>),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secondary_y=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9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False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 </a:t>
            </a:r>
          </a:p>
          <a:p>
            <a:pPr defTabSz="621791">
              <a:lnSpc>
                <a:spcPct val="155000"/>
              </a:lnSpc>
              <a:defRPr sz="1020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右 Y 軸 trace（Scatter：借車次數） </a:t>
            </a:r>
            <a:r>
              <a:rPr i="0">
                <a:solidFill>
                  <a:srgbClr val="E8E0D0"/>
                </a:solidFill>
              </a:rPr>
              <a:t>fig.</a:t>
            </a:r>
            <a:r>
              <a:rPr i="0">
                <a:solidFill>
                  <a:srgbClr val="87B8DD"/>
                </a:solidFill>
              </a:rPr>
              <a:t>add_trace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go.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Scatter </a:t>
            </a:r>
            <a:r>
              <a:rPr>
                <a:solidFill>
                  <a:srgbClr val="E8E0D0"/>
                </a:solidFill>
              </a:rPr>
              <a:t>(x=hours, y=orders,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name=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line=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dict</a:t>
            </a:r>
            <a:r>
              <a:rPr>
                <a:solidFill>
                  <a:srgbClr val="E8E0D0"/>
                </a:solidFill>
              </a:rPr>
              <a:t>(color=</a:t>
            </a:r>
            <a:r>
              <a:rPr>
                <a:solidFill>
                  <a:srgbClr val="9EC58A"/>
                </a:solidFill>
              </a:rPr>
              <a:t>"#5C7A52"</a:t>
            </a:r>
            <a:r>
              <a:rPr>
                <a:solidFill>
                  <a:srgbClr val="E8E0D0"/>
                </a:solidFill>
              </a:rPr>
              <a:t>, width=</a:t>
            </a:r>
            <a:r>
              <a:rPr>
                <a:solidFill>
                  <a:srgbClr val="9EC58A"/>
                </a:solidFill>
              </a:rPr>
              <a:t>2.5 </a:t>
            </a:r>
            <a:r>
              <a:rPr>
                <a:solidFill>
                  <a:srgbClr val="E8E0D0"/>
                </a:solidFill>
              </a:rPr>
              <a:t>)),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secondary_y=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9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True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defTabSz="621791">
              <a:lnSpc>
                <a:spcPct val="155000"/>
              </a:lnSpc>
              <a:defRPr sz="1020"/>
            </a:pPr>
            <a:endParaRPr/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fig.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update_yaxes</a:t>
            </a:r>
            <a:r>
              <a:rPr>
                <a:solidFill>
                  <a:srgbClr val="E8E0D0"/>
                </a:solidFill>
              </a:rPr>
              <a:t>(title_text=</a:t>
            </a:r>
            <a:r>
              <a:rPr>
                <a:solidFill>
                  <a:srgbClr val="9EC58A"/>
                </a:solidFill>
              </a:rPr>
              <a:t>"可用車數"</a:t>
            </a:r>
            <a:r>
              <a:rPr>
                <a:solidFill>
                  <a:srgbClr val="E8E0D0"/>
                </a:solidFill>
              </a:rPr>
              <a:t>, secondary_y=</a:t>
            </a:r>
            <a:r>
              <a:rPr>
                <a:solidFill>
                  <a:srgbClr val="E89A5A"/>
                </a:solidFill>
              </a:rPr>
              <a:t>False </a:t>
            </a:r>
            <a:r>
              <a:rPr>
                <a:solidFill>
                  <a:srgbClr val="E8E0D0"/>
                </a:solidFill>
              </a:rPr>
              <a:t>)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fig. </a:t>
            </a:r>
          </a:p>
          <a:p>
            <a:pPr defTabSz="621791">
              <a:lnSpc>
                <a:spcPct val="155000"/>
              </a:lnSpc>
              <a:defRPr sz="102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update_yaxes</a:t>
            </a:r>
            <a:r>
              <a:rPr>
                <a:solidFill>
                  <a:srgbClr val="E8E0D0"/>
                </a:solidFill>
              </a:rPr>
              <a:t>(title_text=</a:t>
            </a:r>
            <a:r>
              <a:rPr>
                <a:solidFill>
                  <a:srgbClr val="9EC58A"/>
                </a:solidFill>
              </a:rPr>
              <a:t>"借車次數"</a:t>
            </a:r>
            <a:r>
              <a:rPr>
                <a:solidFill>
                  <a:srgbClr val="E8E0D0"/>
                </a:solidFill>
              </a:rPr>
              <a:t>, secondary_y=</a:t>
            </a:r>
            <a:r>
              <a:rPr>
                <a:solidFill>
                  <a:srgbClr val="E89A5A"/>
                </a:solidFill>
              </a:rPr>
              <a:t>True</a:t>
            </a:r>
            <a:r>
              <a:rPr>
                <a:solidFill>
                  <a:srgbClr val="E8E0D0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5" name="Text 1"/>
          <p:cNvSpPr txBox="1"/>
          <p:nvPr/>
        </p:nvSpPr>
        <p:spPr>
          <a:xfrm>
            <a:off x="1352549" y="914400"/>
            <a:ext cx="2788708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3.8 GRAPH OBJECTS</a:t>
            </a:r>
          </a:p>
        </p:txBody>
      </p:sp>
      <p:sp>
        <p:nvSpPr>
          <p:cNvPr id="666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22 / 41</a:t>
            </a:r>
          </a:p>
        </p:txBody>
      </p:sp>
      <p:sp>
        <p:nvSpPr>
          <p:cNvPr id="667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細部調整</a:t>
            </a:r>
          </a:p>
        </p:txBody>
      </p:sp>
      <p:sp>
        <p:nvSpPr>
          <p:cNvPr id="668" name="Text 4"/>
          <p:cNvSpPr txBox="1"/>
          <p:nvPr/>
        </p:nvSpPr>
        <p:spPr>
          <a:xfrm>
            <a:off x="1066800" y="2247900"/>
            <a:ext cx="14716125" cy="16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32104">
              <a:lnSpc>
                <a:spcPct val="104999"/>
              </a:lnSpc>
              <a:defRPr sz="5460" b="1" spc="-9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update_layout · update_xaxes · update_yaxes</a:t>
            </a:r>
          </a:p>
        </p:txBody>
      </p:sp>
      <p:sp>
        <p:nvSpPr>
          <p:cNvPr id="669" name="Shape 5"/>
          <p:cNvSpPr/>
          <p:nvPr/>
        </p:nvSpPr>
        <p:spPr>
          <a:xfrm>
            <a:off x="1066800" y="3978695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0" name="Text 6"/>
          <p:cNvSpPr txBox="1"/>
          <p:nvPr/>
        </p:nvSpPr>
        <p:spPr>
          <a:xfrm>
            <a:off x="1257300" y="3527844"/>
            <a:ext cx="2383179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參數</a:t>
            </a:r>
          </a:p>
        </p:txBody>
      </p:sp>
      <p:sp>
        <p:nvSpPr>
          <p:cNvPr id="671" name="Shape 7"/>
          <p:cNvSpPr/>
          <p:nvPr/>
        </p:nvSpPr>
        <p:spPr>
          <a:xfrm>
            <a:off x="3750469" y="3978695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2" name="Text 8"/>
          <p:cNvSpPr txBox="1"/>
          <p:nvPr/>
        </p:nvSpPr>
        <p:spPr>
          <a:xfrm>
            <a:off x="3940969" y="3527844"/>
            <a:ext cx="4860394" cy="31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552" spc="97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說明</a:t>
            </a:r>
          </a:p>
        </p:txBody>
      </p:sp>
      <p:sp>
        <p:nvSpPr>
          <p:cNvPr id="673" name="Shape 9"/>
          <p:cNvSpPr/>
          <p:nvPr/>
        </p:nvSpPr>
        <p:spPr>
          <a:xfrm>
            <a:off x="1066800" y="4683545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4" name="Shape 10"/>
          <p:cNvSpPr/>
          <p:nvPr/>
        </p:nvSpPr>
        <p:spPr>
          <a:xfrm>
            <a:off x="1257300" y="4166020"/>
            <a:ext cx="985392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5" name="Text 11"/>
          <p:cNvSpPr txBox="1"/>
          <p:nvPr/>
        </p:nvSpPr>
        <p:spPr>
          <a:xfrm>
            <a:off x="1390649" y="4204120"/>
            <a:ext cx="794893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title=</a:t>
            </a:r>
          </a:p>
        </p:txBody>
      </p:sp>
      <p:sp>
        <p:nvSpPr>
          <p:cNvPr id="676" name="Shape 12"/>
          <p:cNvSpPr/>
          <p:nvPr/>
        </p:nvSpPr>
        <p:spPr>
          <a:xfrm>
            <a:off x="3750469" y="4683545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7" name="Text 13"/>
          <p:cNvSpPr txBox="1"/>
          <p:nvPr/>
        </p:nvSpPr>
        <p:spPr>
          <a:xfrm>
            <a:off x="3940969" y="4161257"/>
            <a:ext cx="486039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主標題</a:t>
            </a:r>
          </a:p>
        </p:txBody>
      </p:sp>
      <p:sp>
        <p:nvSpPr>
          <p:cNvPr id="678" name="Shape 14"/>
          <p:cNvSpPr/>
          <p:nvPr/>
        </p:nvSpPr>
        <p:spPr>
          <a:xfrm>
            <a:off x="1066800" y="5626520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9" name="Shape 15"/>
          <p:cNvSpPr/>
          <p:nvPr/>
        </p:nvSpPr>
        <p:spPr>
          <a:xfrm>
            <a:off x="1257300" y="4870870"/>
            <a:ext cx="2302669" cy="590550"/>
          </a:xfrm>
          <a:prstGeom prst="roundRect">
            <a:avLst>
              <a:gd name="adj" fmla="val 12903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0" name="Text 16"/>
          <p:cNvSpPr txBox="1"/>
          <p:nvPr/>
        </p:nvSpPr>
        <p:spPr>
          <a:xfrm>
            <a:off x="1390650" y="4908970"/>
            <a:ext cx="2112169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hovermode="x unified"</a:t>
            </a:r>
          </a:p>
        </p:txBody>
      </p:sp>
      <p:sp>
        <p:nvSpPr>
          <p:cNvPr id="681" name="Shape 17"/>
          <p:cNvSpPr/>
          <p:nvPr/>
        </p:nvSpPr>
        <p:spPr>
          <a:xfrm>
            <a:off x="3750469" y="5626520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2" name="Text 18"/>
          <p:cNvSpPr txBox="1"/>
          <p:nvPr/>
        </p:nvSpPr>
        <p:spPr>
          <a:xfrm>
            <a:off x="3940969" y="4866107"/>
            <a:ext cx="4860394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跨 trace 對齊懸停提示</a:t>
            </a:r>
          </a:p>
        </p:txBody>
      </p:sp>
      <p:sp>
        <p:nvSpPr>
          <p:cNvPr id="683" name="Shape 19"/>
          <p:cNvSpPr/>
          <p:nvPr/>
        </p:nvSpPr>
        <p:spPr>
          <a:xfrm>
            <a:off x="1066800" y="6331370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4" name="Shape 20"/>
          <p:cNvSpPr/>
          <p:nvPr/>
        </p:nvSpPr>
        <p:spPr>
          <a:xfrm>
            <a:off x="1257300" y="5813845"/>
            <a:ext cx="1703934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5" name="Text 21"/>
          <p:cNvSpPr txBox="1"/>
          <p:nvPr/>
        </p:nvSpPr>
        <p:spPr>
          <a:xfrm>
            <a:off x="1390649" y="5851945"/>
            <a:ext cx="1513435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yaxis=dict()</a:t>
            </a:r>
          </a:p>
        </p:txBody>
      </p:sp>
      <p:sp>
        <p:nvSpPr>
          <p:cNvPr id="686" name="Shape 22"/>
          <p:cNvSpPr/>
          <p:nvPr/>
        </p:nvSpPr>
        <p:spPr>
          <a:xfrm>
            <a:off x="3750469" y="6331370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7" name="Text 23"/>
          <p:cNvSpPr txBox="1"/>
          <p:nvPr/>
        </p:nvSpPr>
        <p:spPr>
          <a:xfrm>
            <a:off x="3940969" y="5809083"/>
            <a:ext cx="486039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左 Y 軸：title / color / side</a:t>
            </a:r>
          </a:p>
        </p:txBody>
      </p:sp>
      <p:sp>
        <p:nvSpPr>
          <p:cNvPr id="688" name="Shape 24"/>
          <p:cNvSpPr/>
          <p:nvPr/>
        </p:nvSpPr>
        <p:spPr>
          <a:xfrm>
            <a:off x="1066800" y="7036220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9" name="Shape 25"/>
          <p:cNvSpPr/>
          <p:nvPr/>
        </p:nvSpPr>
        <p:spPr>
          <a:xfrm>
            <a:off x="1257300" y="6518695"/>
            <a:ext cx="182374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0" name="Text 26"/>
          <p:cNvSpPr txBox="1"/>
          <p:nvPr/>
        </p:nvSpPr>
        <p:spPr>
          <a:xfrm>
            <a:off x="1390649" y="6556795"/>
            <a:ext cx="1633242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yaxis2=dict()</a:t>
            </a:r>
          </a:p>
        </p:txBody>
      </p:sp>
      <p:sp>
        <p:nvSpPr>
          <p:cNvPr id="691" name="Shape 27"/>
          <p:cNvSpPr/>
          <p:nvPr/>
        </p:nvSpPr>
        <p:spPr>
          <a:xfrm>
            <a:off x="3750469" y="7036220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2" name="Text 28"/>
          <p:cNvSpPr txBox="1"/>
          <p:nvPr/>
        </p:nvSpPr>
        <p:spPr>
          <a:xfrm>
            <a:off x="3940969" y="6513931"/>
            <a:ext cx="486039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右 Y 軸：overlaying="y", side="right"</a:t>
            </a:r>
          </a:p>
        </p:txBody>
      </p:sp>
      <p:sp>
        <p:nvSpPr>
          <p:cNvPr id="693" name="Shape 29"/>
          <p:cNvSpPr/>
          <p:nvPr/>
        </p:nvSpPr>
        <p:spPr>
          <a:xfrm>
            <a:off x="1066800" y="7741070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4" name="Shape 30"/>
          <p:cNvSpPr/>
          <p:nvPr/>
        </p:nvSpPr>
        <p:spPr>
          <a:xfrm>
            <a:off x="1257300" y="7223545"/>
            <a:ext cx="182374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5" name="Text 31"/>
          <p:cNvSpPr txBox="1"/>
          <p:nvPr/>
        </p:nvSpPr>
        <p:spPr>
          <a:xfrm>
            <a:off x="1390649" y="7261645"/>
            <a:ext cx="1633242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legend=dict()</a:t>
            </a:r>
          </a:p>
        </p:txBody>
      </p:sp>
      <p:sp>
        <p:nvSpPr>
          <p:cNvPr id="696" name="Shape 32"/>
          <p:cNvSpPr/>
          <p:nvPr/>
        </p:nvSpPr>
        <p:spPr>
          <a:xfrm>
            <a:off x="3750469" y="7741070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7" name="Text 33"/>
          <p:cNvSpPr txBox="1"/>
          <p:nvPr/>
        </p:nvSpPr>
        <p:spPr>
          <a:xfrm>
            <a:off x="3940969" y="7218781"/>
            <a:ext cx="486039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orientation="h" 水平圖例</a:t>
            </a:r>
          </a:p>
        </p:txBody>
      </p:sp>
      <p:sp>
        <p:nvSpPr>
          <p:cNvPr id="698" name="Shape 34"/>
          <p:cNvSpPr/>
          <p:nvPr/>
        </p:nvSpPr>
        <p:spPr>
          <a:xfrm>
            <a:off x="1066800" y="8445920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9" name="Shape 35"/>
          <p:cNvSpPr/>
          <p:nvPr/>
        </p:nvSpPr>
        <p:spPr>
          <a:xfrm>
            <a:off x="1257300" y="7928395"/>
            <a:ext cx="182374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0" name="Text 36"/>
          <p:cNvSpPr txBox="1"/>
          <p:nvPr/>
        </p:nvSpPr>
        <p:spPr>
          <a:xfrm>
            <a:off x="1390649" y="7966495"/>
            <a:ext cx="1633242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margin=dict()</a:t>
            </a:r>
          </a:p>
        </p:txBody>
      </p:sp>
      <p:sp>
        <p:nvSpPr>
          <p:cNvPr id="701" name="Shape 37"/>
          <p:cNvSpPr/>
          <p:nvPr/>
        </p:nvSpPr>
        <p:spPr>
          <a:xfrm>
            <a:off x="3750469" y="8445920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2" name="Text 38"/>
          <p:cNvSpPr txBox="1"/>
          <p:nvPr/>
        </p:nvSpPr>
        <p:spPr>
          <a:xfrm>
            <a:off x="3940969" y="7923633"/>
            <a:ext cx="486039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r/t/l/b 各邊留白（像素）</a:t>
            </a:r>
          </a:p>
        </p:txBody>
      </p:sp>
      <p:sp>
        <p:nvSpPr>
          <p:cNvPr id="703" name="Shape 39"/>
          <p:cNvSpPr/>
          <p:nvPr/>
        </p:nvSpPr>
        <p:spPr>
          <a:xfrm>
            <a:off x="1066800" y="9150770"/>
            <a:ext cx="2683669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4" name="Shape 40"/>
          <p:cNvSpPr/>
          <p:nvPr/>
        </p:nvSpPr>
        <p:spPr>
          <a:xfrm>
            <a:off x="1257300" y="8633245"/>
            <a:ext cx="1464321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5" name="Text 41"/>
          <p:cNvSpPr txBox="1"/>
          <p:nvPr/>
        </p:nvSpPr>
        <p:spPr>
          <a:xfrm>
            <a:off x="1390649" y="8671345"/>
            <a:ext cx="1273822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tickangle=</a:t>
            </a:r>
          </a:p>
        </p:txBody>
      </p:sp>
      <p:sp>
        <p:nvSpPr>
          <p:cNvPr id="706" name="Shape 42"/>
          <p:cNvSpPr/>
          <p:nvPr/>
        </p:nvSpPr>
        <p:spPr>
          <a:xfrm>
            <a:off x="3750469" y="9150770"/>
            <a:ext cx="5088732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7" name="Text 43"/>
          <p:cNvSpPr txBox="1"/>
          <p:nvPr/>
        </p:nvSpPr>
        <p:spPr>
          <a:xfrm>
            <a:off x="3940969" y="8628483"/>
            <a:ext cx="486039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X 軸刻度旋轉角度</a:t>
            </a:r>
          </a:p>
        </p:txBody>
      </p:sp>
      <p:sp>
        <p:nvSpPr>
          <p:cNvPr id="708" name="Shape 44"/>
          <p:cNvSpPr/>
          <p:nvPr/>
        </p:nvSpPr>
        <p:spPr>
          <a:xfrm>
            <a:off x="1257300" y="9338095"/>
            <a:ext cx="2302669" cy="333375"/>
          </a:xfrm>
          <a:prstGeom prst="roundRect">
            <a:avLst>
              <a:gd name="adj" fmla="val 22857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9" name="Text 45"/>
          <p:cNvSpPr txBox="1"/>
          <p:nvPr/>
        </p:nvSpPr>
        <p:spPr>
          <a:xfrm>
            <a:off x="1390650" y="9376195"/>
            <a:ext cx="2112169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5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tickmode="linear"</a:t>
            </a:r>
          </a:p>
        </p:txBody>
      </p:sp>
      <p:sp>
        <p:nvSpPr>
          <p:cNvPr id="710" name="Text 46"/>
          <p:cNvSpPr txBox="1"/>
          <p:nvPr/>
        </p:nvSpPr>
        <p:spPr>
          <a:xfrm>
            <a:off x="3940969" y="9333333"/>
            <a:ext cx="4860394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+ dtick= 每 n 顯示一個刻度</a:t>
            </a:r>
          </a:p>
        </p:txBody>
      </p:sp>
      <p:sp>
        <p:nvSpPr>
          <p:cNvPr id="711" name="Shape 47"/>
          <p:cNvSpPr/>
          <p:nvPr/>
        </p:nvSpPr>
        <p:spPr>
          <a:xfrm>
            <a:off x="9448800" y="3356395"/>
            <a:ext cx="7772400" cy="7181850"/>
          </a:xfrm>
          <a:prstGeom prst="roundRect">
            <a:avLst>
              <a:gd name="adj" fmla="val 2918"/>
            </a:avLst>
          </a:prstGeom>
          <a:solidFill>
            <a:srgbClr val="161311"/>
          </a:solidFill>
          <a:ln w="12700">
            <a:miter lim="400000"/>
          </a:ln>
          <a:effectLst>
            <a:outerShdw blurRad="457200" dist="228600" dir="5400000" rotWithShape="0">
              <a:srgbClr val="140F0A">
                <a:alpha val="3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712" name="Text 48"/>
          <p:cNvSpPr txBox="1"/>
          <p:nvPr/>
        </p:nvSpPr>
        <p:spPr>
          <a:xfrm>
            <a:off x="9867899" y="3699295"/>
            <a:ext cx="7142228" cy="6534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548640">
              <a:lnSpc>
                <a:spcPct val="155000"/>
              </a:lnSpc>
              <a:defRPr sz="900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雙 Y 軸圖表 layout </a:t>
            </a:r>
            <a:r>
              <a:rPr i="0">
                <a:solidFill>
                  <a:srgbClr val="E8E0D0"/>
                </a:solidFill>
              </a:rPr>
              <a:t>fig.</a:t>
            </a:r>
            <a:r>
              <a:rPr i="0">
                <a:solidFill>
                  <a:srgbClr val="87B8DD"/>
                </a:solidFill>
              </a:rPr>
              <a:t>update_layout </a:t>
            </a:r>
            <a:r>
              <a:rPr i="0">
                <a:solidFill>
                  <a:srgbClr val="E8E0D0"/>
                </a:solidFill>
              </a:rPr>
              <a:t>(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title=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"每日借車次數 vs App 瀏覽（7日均）"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yaxis=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dict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title=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"借車次數"</a:t>
            </a:r>
            <a:r>
              <a:rPr>
                <a:solidFill>
                  <a:srgbClr val="E8E0D0"/>
                </a:solidFill>
              </a:rPr>
              <a:t>, color=</a:t>
            </a:r>
            <a:r>
              <a:t>"#C45A2C"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),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yaxis2=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dict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title=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"App 瀏覽次數"</a:t>
            </a:r>
            <a:r>
              <a:rPr>
                <a:solidFill>
                  <a:srgbClr val="E8E0D0"/>
                </a:solidFill>
              </a:rPr>
              <a:t>, color=</a:t>
            </a:r>
            <a:r>
              <a:t>"#5C7A52"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overlaying=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"y"</a:t>
            </a:r>
            <a:r>
              <a:rPr>
                <a:solidFill>
                  <a:srgbClr val="E8E0D0"/>
                </a:solidFill>
              </a:rPr>
              <a:t>, side=</a:t>
            </a:r>
            <a:r>
              <a:t>"right"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),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legend=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dict</a:t>
            </a:r>
            <a:r>
              <a:rPr>
                <a:solidFill>
                  <a:srgbClr val="E8E0D0"/>
                </a:solidFill>
              </a:rPr>
              <a:t>(orientation=</a:t>
            </a:r>
            <a:r>
              <a:rPr>
                <a:solidFill>
                  <a:srgbClr val="9EC58A"/>
                </a:solidFill>
              </a:rPr>
              <a:t>"h"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yanchor=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"bottom"</a:t>
            </a:r>
            <a:r>
              <a:rPr>
                <a:solidFill>
                  <a:srgbClr val="E8E0D0"/>
                </a:solidFill>
              </a:rPr>
              <a:t>, y=</a:t>
            </a:r>
            <a:r>
              <a:t>1.02 </a:t>
            </a:r>
            <a:r>
              <a:rPr>
                <a:solidFill>
                  <a:srgbClr val="E8E0D0"/>
                </a:solidFill>
              </a:rPr>
              <a:t>),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hovermode=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"x unified"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 </a:t>
            </a:r>
          </a:p>
          <a:p>
            <a:pPr defTabSz="548640">
              <a:lnSpc>
                <a:spcPct val="155000"/>
              </a:lnSpc>
              <a:defRPr sz="900" i="1">
                <a:solidFill>
                  <a:srgbClr val="6B625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X 軸刻度 </a:t>
            </a:r>
            <a:r>
              <a:rPr i="0">
                <a:solidFill>
                  <a:srgbClr val="E8E0D0"/>
                </a:solidFill>
              </a:rPr>
              <a:t>fig.</a:t>
            </a:r>
            <a:r>
              <a:rPr i="0">
                <a:solidFill>
                  <a:srgbClr val="87B8DD"/>
                </a:solidFill>
              </a:rPr>
              <a:t>update_xaxes</a:t>
            </a:r>
            <a:r>
              <a:rPr i="0">
                <a:solidFill>
                  <a:srgbClr val="E8E0D0"/>
                </a:solidFill>
              </a:rPr>
              <a:t>(tickangle=</a:t>
            </a:r>
            <a:r>
              <a:rPr i="0">
                <a:solidFill>
                  <a:srgbClr val="9EC58A"/>
                </a:solidFill>
              </a:rPr>
              <a:t>45 </a:t>
            </a:r>
            <a:r>
              <a:rPr i="0">
                <a:solidFill>
                  <a:srgbClr val="E8E0D0"/>
                </a:solidFill>
              </a:rPr>
              <a:t>)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fig.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update_layout </a:t>
            </a:r>
            <a:r>
              <a:rPr>
                <a:solidFill>
                  <a:srgbClr val="E8E0D0"/>
                </a:solidFill>
              </a:rPr>
              <a:t>(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xaxis=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87B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dict</a:t>
            </a:r>
            <a:r>
              <a:rPr>
                <a:solidFill>
                  <a:srgbClr val="E8E0D0"/>
                </a:solidFill>
              </a:rPr>
              <a:t>(title=</a:t>
            </a:r>
            <a:r>
              <a:rPr>
                <a:solidFill>
                  <a:srgbClr val="9EC58A"/>
                </a:solidFill>
              </a:rPr>
              <a:t>"小時" </a:t>
            </a:r>
            <a:r>
              <a:rPr>
                <a:solidFill>
                  <a:srgbClr val="E8E0D0"/>
                </a:solidFill>
              </a:rPr>
              <a:t>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tickmode=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9EC5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"linear"</a:t>
            </a:r>
            <a:r>
              <a:rPr>
                <a:solidFill>
                  <a:srgbClr val="E8E0D0"/>
                </a:solidFill>
              </a:rPr>
              <a:t>, dtick=</a:t>
            </a:r>
            <a:r>
              <a:t>2 </a:t>
            </a:r>
            <a:r>
              <a:rPr>
                <a:solidFill>
                  <a:srgbClr val="E8E0D0"/>
                </a:solidFill>
              </a:rPr>
              <a:t>),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E0D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coloraxis_showscale= </a:t>
            </a:r>
          </a:p>
          <a:p>
            <a:pPr defTabSz="548640">
              <a:lnSpc>
                <a:spcPct val="155000"/>
              </a:lnSpc>
              <a:defRPr sz="900">
                <a:solidFill>
                  <a:srgbClr val="E89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False</a:t>
            </a:r>
            <a:r>
              <a:rPr>
                <a:solidFill>
                  <a:srgbClr val="E8E0D0"/>
                </a:solidFill>
              </a:rPr>
              <a:t>  </a:t>
            </a:r>
            <a:r>
              <a:rPr i="1">
                <a:solidFill>
                  <a:srgbClr val="6B6258"/>
                </a:solidFill>
              </a:rPr>
              <a:t># 隱藏色條 </a:t>
            </a:r>
            <a:r>
              <a:rPr>
                <a:solidFill>
                  <a:srgbClr val="E8E0D0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7" name="Text 1"/>
          <p:cNvSpPr txBox="1"/>
          <p:nvPr/>
        </p:nvSpPr>
        <p:spPr>
          <a:xfrm>
            <a:off x="1352549" y="914400"/>
            <a:ext cx="1509566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3.9 RECAP</a:t>
            </a:r>
          </a:p>
        </p:txBody>
      </p:sp>
      <p:sp>
        <p:nvSpPr>
          <p:cNvPr id="718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23 / 41</a:t>
            </a:r>
          </a:p>
        </p:txBody>
      </p:sp>
      <p:sp>
        <p:nvSpPr>
          <p:cNvPr id="719" name="Text 3"/>
          <p:cNvSpPr txBox="1"/>
          <p:nvPr/>
        </p:nvSpPr>
        <p:spPr>
          <a:xfrm>
            <a:off x="1066799" y="1724025"/>
            <a:ext cx="16639034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函式速查表</a:t>
            </a:r>
          </a:p>
        </p:txBody>
      </p:sp>
      <p:sp>
        <p:nvSpPr>
          <p:cNvPr id="720" name="Text 4"/>
          <p:cNvSpPr txBox="1"/>
          <p:nvPr/>
        </p:nvSpPr>
        <p:spPr>
          <a:xfrm>
            <a:off x="1066800" y="224790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76655">
              <a:lnSpc>
                <a:spcPct val="104999"/>
              </a:lnSpc>
              <a:defRPr sz="4440" b="1" spc="-7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本節函式總整理</a:t>
            </a:r>
          </a:p>
        </p:txBody>
      </p:sp>
      <p:sp>
        <p:nvSpPr>
          <p:cNvPr id="721" name="Shape 5"/>
          <p:cNvSpPr/>
          <p:nvPr/>
        </p:nvSpPr>
        <p:spPr>
          <a:xfrm>
            <a:off x="1066800" y="3657600"/>
            <a:ext cx="5181600" cy="2743200"/>
          </a:xfrm>
          <a:prstGeom prst="roundRect">
            <a:avLst>
              <a:gd name="adj" fmla="val 6250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2" name="Text 6"/>
          <p:cNvSpPr txBox="1"/>
          <p:nvPr/>
        </p:nvSpPr>
        <p:spPr>
          <a:xfrm>
            <a:off x="1371600" y="3924300"/>
            <a:ext cx="470916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STREAMLIT 設定</a:t>
            </a:r>
          </a:p>
        </p:txBody>
      </p:sp>
      <p:sp>
        <p:nvSpPr>
          <p:cNvPr id="723" name="Shape 7"/>
          <p:cNvSpPr/>
          <p:nvPr/>
        </p:nvSpPr>
        <p:spPr>
          <a:xfrm>
            <a:off x="1371600" y="4343400"/>
            <a:ext cx="257175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4" name="Text 8"/>
          <p:cNvSpPr txBox="1"/>
          <p:nvPr/>
        </p:nvSpPr>
        <p:spPr>
          <a:xfrm>
            <a:off x="1543049" y="4438650"/>
            <a:ext cx="2306005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set_page_config</a:t>
            </a:r>
          </a:p>
        </p:txBody>
      </p:sp>
      <p:sp>
        <p:nvSpPr>
          <p:cNvPr id="725" name="Shape 9"/>
          <p:cNvSpPr/>
          <p:nvPr/>
        </p:nvSpPr>
        <p:spPr>
          <a:xfrm>
            <a:off x="4057650" y="4343400"/>
            <a:ext cx="182880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6" name="Text 10"/>
          <p:cNvSpPr txBox="1"/>
          <p:nvPr/>
        </p:nvSpPr>
        <p:spPr>
          <a:xfrm>
            <a:off x="4229100" y="4438650"/>
            <a:ext cx="15621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cache_data</a:t>
            </a:r>
          </a:p>
        </p:txBody>
      </p:sp>
      <p:sp>
        <p:nvSpPr>
          <p:cNvPr id="727" name="Shape 11"/>
          <p:cNvSpPr/>
          <p:nvPr/>
        </p:nvSpPr>
        <p:spPr>
          <a:xfrm>
            <a:off x="1371600" y="4981575"/>
            <a:ext cx="242322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8" name="Text 12"/>
          <p:cNvSpPr txBox="1"/>
          <p:nvPr/>
        </p:nvSpPr>
        <p:spPr>
          <a:xfrm>
            <a:off x="1543050" y="5076825"/>
            <a:ext cx="215652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cache_resource</a:t>
            </a:r>
          </a:p>
        </p:txBody>
      </p:sp>
      <p:sp>
        <p:nvSpPr>
          <p:cNvPr id="729" name="Shape 13"/>
          <p:cNvSpPr/>
          <p:nvPr/>
        </p:nvSpPr>
        <p:spPr>
          <a:xfrm>
            <a:off x="3909119" y="4981575"/>
            <a:ext cx="138306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0" name="Text 14"/>
          <p:cNvSpPr txBox="1"/>
          <p:nvPr/>
        </p:nvSpPr>
        <p:spPr>
          <a:xfrm>
            <a:off x="4080569" y="5076825"/>
            <a:ext cx="111636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spinner</a:t>
            </a:r>
          </a:p>
        </p:txBody>
      </p:sp>
      <p:sp>
        <p:nvSpPr>
          <p:cNvPr id="731" name="Shape 15"/>
          <p:cNvSpPr/>
          <p:nvPr/>
        </p:nvSpPr>
        <p:spPr>
          <a:xfrm>
            <a:off x="6553200" y="3657600"/>
            <a:ext cx="5181600" cy="2743200"/>
          </a:xfrm>
          <a:prstGeom prst="roundRect">
            <a:avLst>
              <a:gd name="adj" fmla="val 6250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2" name="Text 16"/>
          <p:cNvSpPr txBox="1"/>
          <p:nvPr/>
        </p:nvSpPr>
        <p:spPr>
          <a:xfrm>
            <a:off x="6858000" y="3924300"/>
            <a:ext cx="470916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SIDEBAR</a:t>
            </a:r>
          </a:p>
        </p:txBody>
      </p:sp>
      <p:sp>
        <p:nvSpPr>
          <p:cNvPr id="733" name="Shape 17"/>
          <p:cNvSpPr/>
          <p:nvPr/>
        </p:nvSpPr>
        <p:spPr>
          <a:xfrm>
            <a:off x="6858000" y="4333875"/>
            <a:ext cx="227469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4" name="Text 18"/>
          <p:cNvSpPr txBox="1"/>
          <p:nvPr/>
        </p:nvSpPr>
        <p:spPr>
          <a:xfrm>
            <a:off x="7029449" y="4429125"/>
            <a:ext cx="200799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sidebar.title</a:t>
            </a:r>
          </a:p>
        </p:txBody>
      </p:sp>
      <p:sp>
        <p:nvSpPr>
          <p:cNvPr id="735" name="Shape 19"/>
          <p:cNvSpPr/>
          <p:nvPr/>
        </p:nvSpPr>
        <p:spPr>
          <a:xfrm>
            <a:off x="9246989" y="4333875"/>
            <a:ext cx="168027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6" name="Text 20"/>
          <p:cNvSpPr txBox="1"/>
          <p:nvPr/>
        </p:nvSpPr>
        <p:spPr>
          <a:xfrm>
            <a:off x="9418439" y="4429125"/>
            <a:ext cx="141357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selectbox</a:t>
            </a:r>
          </a:p>
        </p:txBody>
      </p:sp>
      <p:sp>
        <p:nvSpPr>
          <p:cNvPr id="737" name="Shape 21"/>
          <p:cNvSpPr/>
          <p:nvPr/>
        </p:nvSpPr>
        <p:spPr>
          <a:xfrm>
            <a:off x="6858000" y="4972050"/>
            <a:ext cx="182880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8" name="Text 22"/>
          <p:cNvSpPr txBox="1"/>
          <p:nvPr/>
        </p:nvSpPr>
        <p:spPr>
          <a:xfrm>
            <a:off x="7029450" y="5067300"/>
            <a:ext cx="15621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date_input</a:t>
            </a:r>
          </a:p>
        </p:txBody>
      </p:sp>
      <p:sp>
        <p:nvSpPr>
          <p:cNvPr id="739" name="Shape 23"/>
          <p:cNvSpPr/>
          <p:nvPr/>
        </p:nvSpPr>
        <p:spPr>
          <a:xfrm>
            <a:off x="8801100" y="4972050"/>
            <a:ext cx="123453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0" name="Text 24"/>
          <p:cNvSpPr txBox="1"/>
          <p:nvPr/>
        </p:nvSpPr>
        <p:spPr>
          <a:xfrm>
            <a:off x="8972549" y="5067300"/>
            <a:ext cx="96783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metric</a:t>
            </a:r>
          </a:p>
        </p:txBody>
      </p:sp>
      <p:sp>
        <p:nvSpPr>
          <p:cNvPr id="741" name="Shape 25"/>
          <p:cNvSpPr/>
          <p:nvPr/>
        </p:nvSpPr>
        <p:spPr>
          <a:xfrm>
            <a:off x="6858000" y="5610225"/>
            <a:ext cx="138306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2" name="Text 26"/>
          <p:cNvSpPr txBox="1"/>
          <p:nvPr/>
        </p:nvSpPr>
        <p:spPr>
          <a:xfrm>
            <a:off x="7029450" y="5705475"/>
            <a:ext cx="111636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caption</a:t>
            </a:r>
          </a:p>
        </p:txBody>
      </p:sp>
      <p:sp>
        <p:nvSpPr>
          <p:cNvPr id="743" name="Shape 27"/>
          <p:cNvSpPr/>
          <p:nvPr/>
        </p:nvSpPr>
        <p:spPr>
          <a:xfrm>
            <a:off x="12039600" y="3657600"/>
            <a:ext cx="5181600" cy="2743200"/>
          </a:xfrm>
          <a:prstGeom prst="roundRect">
            <a:avLst>
              <a:gd name="adj" fmla="val 6250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4" name="Text 28"/>
          <p:cNvSpPr txBox="1"/>
          <p:nvPr/>
        </p:nvSpPr>
        <p:spPr>
          <a:xfrm>
            <a:off x="12344400" y="3924300"/>
            <a:ext cx="470916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版面 &amp; 互動</a:t>
            </a:r>
          </a:p>
        </p:txBody>
      </p:sp>
      <p:sp>
        <p:nvSpPr>
          <p:cNvPr id="745" name="Shape 29"/>
          <p:cNvSpPr/>
          <p:nvPr/>
        </p:nvSpPr>
        <p:spPr>
          <a:xfrm>
            <a:off x="12344400" y="4343400"/>
            <a:ext cx="93732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6" name="Text 30"/>
          <p:cNvSpPr txBox="1"/>
          <p:nvPr/>
        </p:nvSpPr>
        <p:spPr>
          <a:xfrm>
            <a:off x="12515849" y="4438650"/>
            <a:ext cx="670622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tabs</a:t>
            </a:r>
          </a:p>
        </p:txBody>
      </p:sp>
      <p:sp>
        <p:nvSpPr>
          <p:cNvPr id="747" name="Shape 31"/>
          <p:cNvSpPr/>
          <p:nvPr/>
        </p:nvSpPr>
        <p:spPr>
          <a:xfrm>
            <a:off x="13396019" y="4343400"/>
            <a:ext cx="138306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8" name="Text 32"/>
          <p:cNvSpPr txBox="1"/>
          <p:nvPr/>
        </p:nvSpPr>
        <p:spPr>
          <a:xfrm>
            <a:off x="13567469" y="4438650"/>
            <a:ext cx="111636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columns</a:t>
            </a:r>
          </a:p>
        </p:txBody>
      </p:sp>
      <p:sp>
        <p:nvSpPr>
          <p:cNvPr id="749" name="Shape 33"/>
          <p:cNvSpPr/>
          <p:nvPr/>
        </p:nvSpPr>
        <p:spPr>
          <a:xfrm>
            <a:off x="14893379" y="4343400"/>
            <a:ext cx="108585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0" name="Text 34"/>
          <p:cNvSpPr txBox="1"/>
          <p:nvPr/>
        </p:nvSpPr>
        <p:spPr>
          <a:xfrm>
            <a:off x="15064829" y="4438650"/>
            <a:ext cx="81915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radio</a:t>
            </a:r>
          </a:p>
        </p:txBody>
      </p:sp>
      <p:sp>
        <p:nvSpPr>
          <p:cNvPr id="751" name="Shape 35"/>
          <p:cNvSpPr/>
          <p:nvPr/>
        </p:nvSpPr>
        <p:spPr>
          <a:xfrm>
            <a:off x="12344400" y="4981575"/>
            <a:ext cx="123453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2" name="Text 36"/>
          <p:cNvSpPr txBox="1"/>
          <p:nvPr/>
        </p:nvSpPr>
        <p:spPr>
          <a:xfrm>
            <a:off x="12515849" y="5076825"/>
            <a:ext cx="96783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slider</a:t>
            </a:r>
          </a:p>
        </p:txBody>
      </p:sp>
      <p:sp>
        <p:nvSpPr>
          <p:cNvPr id="753" name="Shape 37"/>
          <p:cNvSpPr/>
          <p:nvPr/>
        </p:nvSpPr>
        <p:spPr>
          <a:xfrm>
            <a:off x="13693229" y="4981575"/>
            <a:ext cx="153174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4" name="Text 38"/>
          <p:cNvSpPr txBox="1"/>
          <p:nvPr/>
        </p:nvSpPr>
        <p:spPr>
          <a:xfrm>
            <a:off x="13864679" y="5076825"/>
            <a:ext cx="126504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checkbox</a:t>
            </a:r>
          </a:p>
        </p:txBody>
      </p:sp>
      <p:sp>
        <p:nvSpPr>
          <p:cNvPr id="755" name="Shape 39"/>
          <p:cNvSpPr/>
          <p:nvPr/>
        </p:nvSpPr>
        <p:spPr>
          <a:xfrm>
            <a:off x="1066800" y="6705600"/>
            <a:ext cx="5181600" cy="2743200"/>
          </a:xfrm>
          <a:prstGeom prst="roundRect">
            <a:avLst>
              <a:gd name="adj" fmla="val 6250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6" name="Text 40"/>
          <p:cNvSpPr txBox="1"/>
          <p:nvPr/>
        </p:nvSpPr>
        <p:spPr>
          <a:xfrm>
            <a:off x="1371600" y="6972300"/>
            <a:ext cx="470916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顯示</a:t>
            </a:r>
          </a:p>
        </p:txBody>
      </p:sp>
      <p:sp>
        <p:nvSpPr>
          <p:cNvPr id="757" name="Shape 41"/>
          <p:cNvSpPr/>
          <p:nvPr/>
        </p:nvSpPr>
        <p:spPr>
          <a:xfrm>
            <a:off x="1371600" y="7391400"/>
            <a:ext cx="108585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8" name="Text 42"/>
          <p:cNvSpPr txBox="1"/>
          <p:nvPr/>
        </p:nvSpPr>
        <p:spPr>
          <a:xfrm>
            <a:off x="1543050" y="7486650"/>
            <a:ext cx="81915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title</a:t>
            </a:r>
          </a:p>
        </p:txBody>
      </p:sp>
      <p:sp>
        <p:nvSpPr>
          <p:cNvPr id="759" name="Shape 43"/>
          <p:cNvSpPr/>
          <p:nvPr/>
        </p:nvSpPr>
        <p:spPr>
          <a:xfrm>
            <a:off x="2571750" y="7391400"/>
            <a:ext cx="168027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0" name="Text 44"/>
          <p:cNvSpPr txBox="1"/>
          <p:nvPr/>
        </p:nvSpPr>
        <p:spPr>
          <a:xfrm>
            <a:off x="2743199" y="7486650"/>
            <a:ext cx="1413572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subheader</a:t>
            </a:r>
          </a:p>
        </p:txBody>
      </p:sp>
      <p:sp>
        <p:nvSpPr>
          <p:cNvPr id="761" name="Shape 45"/>
          <p:cNvSpPr/>
          <p:nvPr/>
        </p:nvSpPr>
        <p:spPr>
          <a:xfrm>
            <a:off x="4366319" y="7391400"/>
            <a:ext cx="153174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2" name="Text 46"/>
          <p:cNvSpPr txBox="1"/>
          <p:nvPr/>
        </p:nvSpPr>
        <p:spPr>
          <a:xfrm>
            <a:off x="4537769" y="7486650"/>
            <a:ext cx="126504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markdown</a:t>
            </a:r>
          </a:p>
        </p:txBody>
      </p:sp>
      <p:sp>
        <p:nvSpPr>
          <p:cNvPr id="763" name="Shape 47"/>
          <p:cNvSpPr/>
          <p:nvPr/>
        </p:nvSpPr>
        <p:spPr>
          <a:xfrm>
            <a:off x="1371600" y="8029575"/>
            <a:ext cx="123453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4" name="Text 48"/>
          <p:cNvSpPr txBox="1"/>
          <p:nvPr/>
        </p:nvSpPr>
        <p:spPr>
          <a:xfrm>
            <a:off x="1543049" y="8124825"/>
            <a:ext cx="96783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metric</a:t>
            </a:r>
          </a:p>
        </p:txBody>
      </p:sp>
      <p:sp>
        <p:nvSpPr>
          <p:cNvPr id="765" name="Shape 49"/>
          <p:cNvSpPr/>
          <p:nvPr/>
        </p:nvSpPr>
        <p:spPr>
          <a:xfrm>
            <a:off x="2720428" y="8029575"/>
            <a:ext cx="93732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6" name="Text 50"/>
          <p:cNvSpPr txBox="1"/>
          <p:nvPr/>
        </p:nvSpPr>
        <p:spPr>
          <a:xfrm>
            <a:off x="2891878" y="8124825"/>
            <a:ext cx="67062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info</a:t>
            </a:r>
          </a:p>
        </p:txBody>
      </p:sp>
      <p:sp>
        <p:nvSpPr>
          <p:cNvPr id="767" name="Shape 51"/>
          <p:cNvSpPr/>
          <p:nvPr/>
        </p:nvSpPr>
        <p:spPr>
          <a:xfrm>
            <a:off x="3772048" y="8029575"/>
            <a:ext cx="212601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8" name="Text 52"/>
          <p:cNvSpPr txBox="1"/>
          <p:nvPr/>
        </p:nvSpPr>
        <p:spPr>
          <a:xfrm>
            <a:off x="3943498" y="8124825"/>
            <a:ext cx="185931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plotly_chart</a:t>
            </a:r>
          </a:p>
        </p:txBody>
      </p:sp>
      <p:sp>
        <p:nvSpPr>
          <p:cNvPr id="769" name="Shape 53"/>
          <p:cNvSpPr/>
          <p:nvPr/>
        </p:nvSpPr>
        <p:spPr>
          <a:xfrm>
            <a:off x="6553200" y="6705600"/>
            <a:ext cx="5181600" cy="2743200"/>
          </a:xfrm>
          <a:prstGeom prst="roundRect">
            <a:avLst>
              <a:gd name="adj" fmla="val 6250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0" name="Text 54"/>
          <p:cNvSpPr txBox="1"/>
          <p:nvPr/>
        </p:nvSpPr>
        <p:spPr>
          <a:xfrm>
            <a:off x="6858000" y="6972300"/>
            <a:ext cx="470916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PLOTLY EXPRESS</a:t>
            </a:r>
          </a:p>
        </p:txBody>
      </p:sp>
      <p:sp>
        <p:nvSpPr>
          <p:cNvPr id="771" name="Shape 55"/>
          <p:cNvSpPr/>
          <p:nvPr/>
        </p:nvSpPr>
        <p:spPr>
          <a:xfrm>
            <a:off x="6858000" y="7381875"/>
            <a:ext cx="78879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2" name="Text 56"/>
          <p:cNvSpPr txBox="1"/>
          <p:nvPr/>
        </p:nvSpPr>
        <p:spPr>
          <a:xfrm>
            <a:off x="7029449" y="7477125"/>
            <a:ext cx="52209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bar</a:t>
            </a:r>
          </a:p>
        </p:txBody>
      </p:sp>
      <p:sp>
        <p:nvSpPr>
          <p:cNvPr id="773" name="Shape 57"/>
          <p:cNvSpPr/>
          <p:nvPr/>
        </p:nvSpPr>
        <p:spPr>
          <a:xfrm>
            <a:off x="7761089" y="7381875"/>
            <a:ext cx="93732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4" name="Text 58"/>
          <p:cNvSpPr txBox="1"/>
          <p:nvPr/>
        </p:nvSpPr>
        <p:spPr>
          <a:xfrm>
            <a:off x="7932539" y="7477125"/>
            <a:ext cx="67062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area</a:t>
            </a:r>
          </a:p>
        </p:txBody>
      </p:sp>
      <p:sp>
        <p:nvSpPr>
          <p:cNvPr id="775" name="Shape 59"/>
          <p:cNvSpPr/>
          <p:nvPr/>
        </p:nvSpPr>
        <p:spPr>
          <a:xfrm>
            <a:off x="8812709" y="7381875"/>
            <a:ext cx="78879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6" name="Text 60"/>
          <p:cNvSpPr txBox="1"/>
          <p:nvPr/>
        </p:nvSpPr>
        <p:spPr>
          <a:xfrm>
            <a:off x="8984159" y="7477125"/>
            <a:ext cx="52209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pie</a:t>
            </a:r>
          </a:p>
        </p:txBody>
      </p:sp>
      <p:sp>
        <p:nvSpPr>
          <p:cNvPr id="777" name="Shape 61"/>
          <p:cNvSpPr/>
          <p:nvPr/>
        </p:nvSpPr>
        <p:spPr>
          <a:xfrm>
            <a:off x="9715797" y="7381875"/>
            <a:ext cx="168027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8" name="Text 62"/>
          <p:cNvSpPr txBox="1"/>
          <p:nvPr/>
        </p:nvSpPr>
        <p:spPr>
          <a:xfrm>
            <a:off x="9887247" y="7477125"/>
            <a:ext cx="141357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histogram</a:t>
            </a:r>
          </a:p>
        </p:txBody>
      </p:sp>
      <p:sp>
        <p:nvSpPr>
          <p:cNvPr id="779" name="Shape 63"/>
          <p:cNvSpPr/>
          <p:nvPr/>
        </p:nvSpPr>
        <p:spPr>
          <a:xfrm>
            <a:off x="6858000" y="8020050"/>
            <a:ext cx="123453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0" name="Text 64"/>
          <p:cNvSpPr txBox="1"/>
          <p:nvPr/>
        </p:nvSpPr>
        <p:spPr>
          <a:xfrm>
            <a:off x="7029449" y="8115300"/>
            <a:ext cx="96783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imshow</a:t>
            </a:r>
          </a:p>
        </p:txBody>
      </p:sp>
      <p:sp>
        <p:nvSpPr>
          <p:cNvPr id="781" name="Shape 65"/>
          <p:cNvSpPr/>
          <p:nvPr/>
        </p:nvSpPr>
        <p:spPr>
          <a:xfrm>
            <a:off x="8206829" y="8020050"/>
            <a:ext cx="242322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2" name="Text 66"/>
          <p:cNvSpPr txBox="1"/>
          <p:nvPr/>
        </p:nvSpPr>
        <p:spPr>
          <a:xfrm>
            <a:off x="8378279" y="8115300"/>
            <a:ext cx="215652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scatter_mapbox</a:t>
            </a:r>
          </a:p>
        </p:txBody>
      </p:sp>
      <p:sp>
        <p:nvSpPr>
          <p:cNvPr id="783" name="Shape 67"/>
          <p:cNvSpPr/>
          <p:nvPr/>
        </p:nvSpPr>
        <p:spPr>
          <a:xfrm>
            <a:off x="12039600" y="6705600"/>
            <a:ext cx="5181600" cy="2743200"/>
          </a:xfrm>
          <a:prstGeom prst="roundRect">
            <a:avLst>
              <a:gd name="adj" fmla="val 6250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4" name="Text 68"/>
          <p:cNvSpPr txBox="1"/>
          <p:nvPr/>
        </p:nvSpPr>
        <p:spPr>
          <a:xfrm>
            <a:off x="12344400" y="6972300"/>
            <a:ext cx="470916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GRAPH OBJECTS</a:t>
            </a:r>
          </a:p>
        </p:txBody>
      </p:sp>
      <p:sp>
        <p:nvSpPr>
          <p:cNvPr id="785" name="Shape 69"/>
          <p:cNvSpPr/>
          <p:nvPr/>
        </p:nvSpPr>
        <p:spPr>
          <a:xfrm>
            <a:off x="12344400" y="7381875"/>
            <a:ext cx="123453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6" name="Text 70"/>
          <p:cNvSpPr txBox="1"/>
          <p:nvPr/>
        </p:nvSpPr>
        <p:spPr>
          <a:xfrm>
            <a:off x="12515849" y="7477125"/>
            <a:ext cx="96783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Figure</a:t>
            </a:r>
          </a:p>
        </p:txBody>
      </p:sp>
      <p:sp>
        <p:nvSpPr>
          <p:cNvPr id="787" name="Shape 71"/>
          <p:cNvSpPr/>
          <p:nvPr/>
        </p:nvSpPr>
        <p:spPr>
          <a:xfrm>
            <a:off x="13693229" y="7381875"/>
            <a:ext cx="1383061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8" name="Text 72"/>
          <p:cNvSpPr txBox="1"/>
          <p:nvPr/>
        </p:nvSpPr>
        <p:spPr>
          <a:xfrm>
            <a:off x="13864679" y="7477125"/>
            <a:ext cx="111636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Scatter</a:t>
            </a:r>
          </a:p>
        </p:txBody>
      </p:sp>
      <p:sp>
        <p:nvSpPr>
          <p:cNvPr id="789" name="Shape 73"/>
          <p:cNvSpPr/>
          <p:nvPr/>
        </p:nvSpPr>
        <p:spPr>
          <a:xfrm>
            <a:off x="15190589" y="7381875"/>
            <a:ext cx="78879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0" name="Text 74"/>
          <p:cNvSpPr txBox="1"/>
          <p:nvPr/>
        </p:nvSpPr>
        <p:spPr>
          <a:xfrm>
            <a:off x="15362039" y="7477125"/>
            <a:ext cx="52209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Bar</a:t>
            </a:r>
          </a:p>
        </p:txBody>
      </p:sp>
      <p:sp>
        <p:nvSpPr>
          <p:cNvPr id="791" name="Shape 75"/>
          <p:cNvSpPr/>
          <p:nvPr/>
        </p:nvSpPr>
        <p:spPr>
          <a:xfrm>
            <a:off x="12344400" y="8020050"/>
            <a:ext cx="227469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2" name="Text 76"/>
          <p:cNvSpPr txBox="1"/>
          <p:nvPr/>
        </p:nvSpPr>
        <p:spPr>
          <a:xfrm>
            <a:off x="12515849" y="8115300"/>
            <a:ext cx="200799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make_subplots</a:t>
            </a:r>
          </a:p>
        </p:txBody>
      </p:sp>
      <p:sp>
        <p:nvSpPr>
          <p:cNvPr id="793" name="Shape 77"/>
          <p:cNvSpPr/>
          <p:nvPr/>
        </p:nvSpPr>
        <p:spPr>
          <a:xfrm>
            <a:off x="12344400" y="8658225"/>
            <a:ext cx="2274690" cy="523875"/>
          </a:xfrm>
          <a:prstGeom prst="roundRect">
            <a:avLst>
              <a:gd name="adj" fmla="val 50000"/>
            </a:avLst>
          </a:prstGeom>
          <a:solidFill>
            <a:srgbClr val="F0E6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4" name="Text 78"/>
          <p:cNvSpPr txBox="1"/>
          <p:nvPr/>
        </p:nvSpPr>
        <p:spPr>
          <a:xfrm>
            <a:off x="12515849" y="8753475"/>
            <a:ext cx="2007991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>
                <a:solidFill>
                  <a:srgbClr val="1A1714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update_layout</a:t>
            </a:r>
          </a:p>
        </p:txBody>
      </p:sp>
      <p:sp>
        <p:nvSpPr>
          <p:cNvPr id="795" name="Text 79"/>
          <p:cNvSpPr txBox="1"/>
          <p:nvPr/>
        </p:nvSpPr>
        <p:spPr>
          <a:xfrm>
            <a:off x="1066799" y="9753600"/>
            <a:ext cx="16639034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台灣共享單車儀表板 · Streamlit + Plotly 教學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8" name="Text 1"/>
          <p:cNvSpPr txBox="1"/>
          <p:nvPr/>
        </p:nvSpPr>
        <p:spPr>
          <a:xfrm>
            <a:off x="1352550" y="914400"/>
            <a:ext cx="4593117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4.1 DEPLOY · STREAMLIT CLOUD</a:t>
            </a:r>
          </a:p>
        </p:txBody>
      </p:sp>
      <p:sp>
        <p:nvSpPr>
          <p:cNvPr id="809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26 / 41</a:t>
            </a:r>
          </a:p>
        </p:txBody>
      </p:sp>
      <p:sp>
        <p:nvSpPr>
          <p:cNvPr id="810" name="Text 3"/>
          <p:cNvSpPr txBox="1"/>
          <p:nvPr/>
        </p:nvSpPr>
        <p:spPr>
          <a:xfrm>
            <a:off x="1066799" y="1724025"/>
            <a:ext cx="16639034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SHARE.STREAMLIT.IO · STEP 1</a:t>
            </a:r>
          </a:p>
        </p:txBody>
      </p:sp>
      <p:sp>
        <p:nvSpPr>
          <p:cNvPr id="811" name="Text 4"/>
          <p:cNvSpPr txBox="1"/>
          <p:nvPr/>
        </p:nvSpPr>
        <p:spPr>
          <a:xfrm>
            <a:off x="1066800" y="222885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76655">
              <a:lnSpc>
                <a:spcPct val="104999"/>
              </a:lnSpc>
              <a:defRPr sz="4440" b="1" spc="-7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最簡單的部署路徑：從 GitHub 一鍵發布</a:t>
            </a:r>
          </a:p>
        </p:txBody>
      </p:sp>
      <p:sp>
        <p:nvSpPr>
          <p:cNvPr id="812" name="Shape 5"/>
          <p:cNvSpPr/>
          <p:nvPr/>
        </p:nvSpPr>
        <p:spPr>
          <a:xfrm>
            <a:off x="1066800" y="3486150"/>
            <a:ext cx="7772400" cy="4386411"/>
          </a:xfrm>
          <a:prstGeom prst="roundRect">
            <a:avLst>
              <a:gd name="adj" fmla="val 3909"/>
            </a:avLst>
          </a:prstGeom>
          <a:solidFill>
            <a:srgbClr val="FFFB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13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3657600"/>
            <a:ext cx="7429500" cy="4043511"/>
          </a:xfrm>
          <a:prstGeom prst="rect">
            <a:avLst/>
          </a:prstGeom>
          <a:ln w="12700">
            <a:miter lim="400000"/>
          </a:ln>
        </p:spPr>
      </p:pic>
      <p:sp>
        <p:nvSpPr>
          <p:cNvPr id="814" name="Shape 6"/>
          <p:cNvSpPr/>
          <p:nvPr/>
        </p:nvSpPr>
        <p:spPr>
          <a:xfrm>
            <a:off x="9448800" y="5275262"/>
            <a:ext cx="7772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5" name="Text 7"/>
          <p:cNvSpPr txBox="1"/>
          <p:nvPr/>
        </p:nvSpPr>
        <p:spPr>
          <a:xfrm>
            <a:off x="9448800" y="3695700"/>
            <a:ext cx="685800" cy="140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816" name="Text 8"/>
          <p:cNvSpPr txBox="1"/>
          <p:nvPr/>
        </p:nvSpPr>
        <p:spPr>
          <a:xfrm>
            <a:off x="10286999" y="3695700"/>
            <a:ext cx="7142228" cy="140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先把 code push 到 GitHub </a:t>
            </a:r>
            <a:r>
              <a:rPr b="0">
                <a:solidFill>
                  <a:srgbClr val="4A4036"/>
                </a:solidFill>
              </a:rPr>
              <a:t>建議結構：bike/dashboard.py + requirements.txt</a:t>
            </a:r>
          </a:p>
        </p:txBody>
      </p:sp>
      <p:sp>
        <p:nvSpPr>
          <p:cNvPr id="817" name="Shape 9"/>
          <p:cNvSpPr/>
          <p:nvPr/>
        </p:nvSpPr>
        <p:spPr>
          <a:xfrm>
            <a:off x="9448800" y="6618287"/>
            <a:ext cx="7772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8" name="Text 10"/>
          <p:cNvSpPr txBox="1"/>
          <p:nvPr/>
        </p:nvSpPr>
        <p:spPr>
          <a:xfrm>
            <a:off x="9448800" y="5495925"/>
            <a:ext cx="6858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819" name="Text 11"/>
          <p:cNvSpPr txBox="1"/>
          <p:nvPr/>
        </p:nvSpPr>
        <p:spPr>
          <a:xfrm>
            <a:off x="10286999" y="5495925"/>
            <a:ext cx="714222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登入 share.streamlit.io </a:t>
            </a:r>
            <a:r>
              <a:rPr b="0">
                <a:solidFill>
                  <a:srgbClr val="4A4036"/>
                </a:solidFill>
              </a:rPr>
              <a:t>用 GitHub 帳號授權即可</a:t>
            </a:r>
          </a:p>
        </p:txBody>
      </p:sp>
      <p:sp>
        <p:nvSpPr>
          <p:cNvPr id="820" name="Text 12"/>
          <p:cNvSpPr txBox="1"/>
          <p:nvPr/>
        </p:nvSpPr>
        <p:spPr>
          <a:xfrm>
            <a:off x="9448800" y="6838950"/>
            <a:ext cx="6858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821" name="Text 13"/>
          <p:cNvSpPr txBox="1"/>
          <p:nvPr/>
        </p:nvSpPr>
        <p:spPr>
          <a:xfrm>
            <a:off x="10286999" y="6838950"/>
            <a:ext cx="714222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68095">
              <a:lnSpc>
                <a:spcPct val="150000"/>
              </a:lnSpc>
              <a:defRPr sz="2016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選「Deploy a public app from GitHub」 </a:t>
            </a:r>
            <a:r>
              <a:rPr b="0">
                <a:solidFill>
                  <a:srgbClr val="4A4036"/>
                </a:solidFill>
              </a:rPr>
              <a:t>這是免費方案，public repo 適用</a:t>
            </a:r>
          </a:p>
        </p:txBody>
      </p:sp>
      <p:sp>
        <p:nvSpPr>
          <p:cNvPr id="822" name="Shape 14"/>
          <p:cNvSpPr/>
          <p:nvPr/>
        </p:nvSpPr>
        <p:spPr>
          <a:xfrm>
            <a:off x="9448800" y="8115299"/>
            <a:ext cx="7772400" cy="1340943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3" name="Shape 15"/>
          <p:cNvSpPr/>
          <p:nvPr/>
        </p:nvSpPr>
        <p:spPr>
          <a:xfrm>
            <a:off x="9448800" y="8115299"/>
            <a:ext cx="57150" cy="1340943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4" name="Text 16"/>
          <p:cNvSpPr txBox="1"/>
          <p:nvPr/>
        </p:nvSpPr>
        <p:spPr>
          <a:xfrm>
            <a:off x="9810750" y="8343899"/>
            <a:ext cx="7338822" cy="921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68095">
              <a:lnSpc>
                <a:spcPct val="145000"/>
              </a:lnSpc>
              <a:defRPr sz="201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適合誰用？</a:t>
            </a:r>
            <a:r>
              <a:rPr b="0">
                <a:solidFill>
                  <a:srgbClr val="1A1714"/>
                </a:solidFill>
              </a:rPr>
              <a:t>學生作品、demo、求職作品集， </a:t>
            </a:r>
            <a:r>
              <a:t>零成本、免維運 </a:t>
            </a:r>
            <a:r>
              <a:rPr b="0">
                <a:solidFill>
                  <a:srgbClr val="1A1714"/>
                </a:solidFill>
              </a:rPr>
              <a:t>，缺點是 repo 必須公開。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9" name="Text 1"/>
          <p:cNvSpPr txBox="1"/>
          <p:nvPr/>
        </p:nvSpPr>
        <p:spPr>
          <a:xfrm>
            <a:off x="1352550" y="914400"/>
            <a:ext cx="4593117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4.2 DEPLOY · STREAMLIT CLOUD</a:t>
            </a:r>
          </a:p>
        </p:txBody>
      </p:sp>
      <p:sp>
        <p:nvSpPr>
          <p:cNvPr id="830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27 / 41</a:t>
            </a:r>
          </a:p>
        </p:txBody>
      </p:sp>
      <p:sp>
        <p:nvSpPr>
          <p:cNvPr id="831" name="Text 3"/>
          <p:cNvSpPr txBox="1"/>
          <p:nvPr/>
        </p:nvSpPr>
        <p:spPr>
          <a:xfrm>
            <a:off x="1066799" y="1724025"/>
            <a:ext cx="16639034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SHARE.STREAMLIT.IO · STEP 2</a:t>
            </a:r>
          </a:p>
        </p:txBody>
      </p:sp>
      <p:sp>
        <p:nvSpPr>
          <p:cNvPr id="832" name="Text 4"/>
          <p:cNvSpPr txBox="1"/>
          <p:nvPr/>
        </p:nvSpPr>
        <p:spPr>
          <a:xfrm>
            <a:off x="1066800" y="2228850"/>
            <a:ext cx="14716125" cy="16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4999"/>
              </a:lnSpc>
              <a:defRPr sz="6000" b="1" spc="-1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設定 Repository / Branch / Main file path</a:t>
            </a:r>
          </a:p>
        </p:txBody>
      </p:sp>
      <p:sp>
        <p:nvSpPr>
          <p:cNvPr id="833" name="Shape 5"/>
          <p:cNvSpPr/>
          <p:nvPr/>
        </p:nvSpPr>
        <p:spPr>
          <a:xfrm>
            <a:off x="1066800" y="3297212"/>
            <a:ext cx="7772400" cy="6638925"/>
          </a:xfrm>
          <a:prstGeom prst="roundRect">
            <a:avLst>
              <a:gd name="adj" fmla="val 2582"/>
            </a:avLst>
          </a:prstGeom>
          <a:solidFill>
            <a:srgbClr val="FFFB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3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3468662"/>
            <a:ext cx="7429500" cy="6296025"/>
          </a:xfrm>
          <a:prstGeom prst="rect">
            <a:avLst/>
          </a:prstGeom>
          <a:ln w="12700">
            <a:miter lim="400000"/>
          </a:ln>
        </p:spPr>
      </p:pic>
      <p:sp>
        <p:nvSpPr>
          <p:cNvPr id="835" name="Shape 6"/>
          <p:cNvSpPr/>
          <p:nvPr/>
        </p:nvSpPr>
        <p:spPr>
          <a:xfrm>
            <a:off x="9448800" y="3297212"/>
            <a:ext cx="7772400" cy="1406575"/>
          </a:xfrm>
          <a:prstGeom prst="roundRect">
            <a:avLst>
              <a:gd name="adj" fmla="val 12189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6" name="Text 7"/>
          <p:cNvSpPr txBox="1"/>
          <p:nvPr/>
        </p:nvSpPr>
        <p:spPr>
          <a:xfrm>
            <a:off x="9753600" y="3563912"/>
            <a:ext cx="7377684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REPOSITORY</a:t>
            </a:r>
          </a:p>
        </p:txBody>
      </p:sp>
      <p:sp>
        <p:nvSpPr>
          <p:cNvPr id="837" name="Text 8"/>
          <p:cNvSpPr txBox="1"/>
          <p:nvPr/>
        </p:nvSpPr>
        <p:spPr>
          <a:xfrm>
            <a:off x="9753600" y="3954437"/>
            <a:ext cx="7377684" cy="52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>
              <a:lnSpc>
                <a:spcPct val="155000"/>
              </a:lnSpc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你的 repo，例如 </a:t>
            </a:r>
            <a:r>
              <a:rPr sz="18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CHIEH-YU/DTDA-week5</a:t>
            </a:r>
          </a:p>
        </p:txBody>
      </p:sp>
      <p:sp>
        <p:nvSpPr>
          <p:cNvPr id="838" name="Shape 9"/>
          <p:cNvSpPr/>
          <p:nvPr/>
        </p:nvSpPr>
        <p:spPr>
          <a:xfrm>
            <a:off x="9448800" y="4856186"/>
            <a:ext cx="7772400" cy="1406576"/>
          </a:xfrm>
          <a:prstGeom prst="roundRect">
            <a:avLst>
              <a:gd name="adj" fmla="val 12189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9" name="Text 10"/>
          <p:cNvSpPr txBox="1"/>
          <p:nvPr/>
        </p:nvSpPr>
        <p:spPr>
          <a:xfrm>
            <a:off x="9753600" y="5122886"/>
            <a:ext cx="7377684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BRANCH</a:t>
            </a:r>
          </a:p>
        </p:txBody>
      </p:sp>
      <p:sp>
        <p:nvSpPr>
          <p:cNvPr id="840" name="Text 11"/>
          <p:cNvSpPr txBox="1"/>
          <p:nvPr/>
        </p:nvSpPr>
        <p:spPr>
          <a:xfrm>
            <a:off x="9753600" y="5513412"/>
            <a:ext cx="7377684" cy="520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>
              <a:lnSpc>
                <a:spcPct val="155000"/>
              </a:lnSpc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通常是 </a:t>
            </a:r>
            <a:r>
              <a:rPr sz="18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</a:p>
        </p:txBody>
      </p:sp>
      <p:sp>
        <p:nvSpPr>
          <p:cNvPr id="841" name="Shape 12"/>
          <p:cNvSpPr/>
          <p:nvPr/>
        </p:nvSpPr>
        <p:spPr>
          <a:xfrm>
            <a:off x="9448800" y="6415161"/>
            <a:ext cx="7772400" cy="1878956"/>
          </a:xfrm>
          <a:prstGeom prst="roundRect">
            <a:avLst>
              <a:gd name="adj" fmla="val 9125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2" name="Text 13"/>
          <p:cNvSpPr txBox="1"/>
          <p:nvPr/>
        </p:nvSpPr>
        <p:spPr>
          <a:xfrm>
            <a:off x="9753600" y="6681861"/>
            <a:ext cx="7377684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MAIN FILE PATH</a:t>
            </a:r>
          </a:p>
        </p:txBody>
      </p:sp>
      <p:sp>
        <p:nvSpPr>
          <p:cNvPr id="843" name="Text 14"/>
          <p:cNvSpPr txBox="1"/>
          <p:nvPr/>
        </p:nvSpPr>
        <p:spPr>
          <a:xfrm>
            <a:off x="9753600" y="7072386"/>
            <a:ext cx="7377684" cy="993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04672">
              <a:lnSpc>
                <a:spcPct val="155000"/>
              </a:lnSpc>
              <a:defRPr sz="2112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dirty="0" err="1"/>
              <a:t>主程式相對路徑，例如</a:t>
            </a:r>
            <a:r>
              <a:rPr dirty="0"/>
              <a:t> </a:t>
            </a:r>
            <a:r>
              <a:rPr sz="1584" dirty="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bike/</a:t>
            </a:r>
            <a:r>
              <a:rPr sz="1584" dirty="0" err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dashboard.py</a:t>
            </a:r>
            <a:r>
              <a:rPr sz="1584" dirty="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84" dirty="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dirty="0" err="1"/>
              <a:t>依你的</a:t>
            </a:r>
            <a:r>
              <a:rPr dirty="0"/>
              <a:t> repo </a:t>
            </a:r>
            <a:r>
              <a:rPr dirty="0" err="1"/>
              <a:t>結構調整</a:t>
            </a:r>
            <a:endParaRPr dirty="0"/>
          </a:p>
        </p:txBody>
      </p:sp>
      <p:sp>
        <p:nvSpPr>
          <p:cNvPr id="844" name="Shape 15"/>
          <p:cNvSpPr/>
          <p:nvPr/>
        </p:nvSpPr>
        <p:spPr>
          <a:xfrm>
            <a:off x="9448800" y="8446516"/>
            <a:ext cx="7772400" cy="1489621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5" name="Shape 16"/>
          <p:cNvSpPr/>
          <p:nvPr/>
        </p:nvSpPr>
        <p:spPr>
          <a:xfrm>
            <a:off x="9448800" y="8446516"/>
            <a:ext cx="45719" cy="1592313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6" name="Text 17"/>
          <p:cNvSpPr txBox="1"/>
          <p:nvPr/>
        </p:nvSpPr>
        <p:spPr>
          <a:xfrm>
            <a:off x="9810750" y="8675116"/>
            <a:ext cx="7338822" cy="136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905255">
              <a:lnSpc>
                <a:spcPct val="145000"/>
              </a:lnSpc>
              <a:defRPr sz="237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requirements.txt 放哪？ </a:t>
            </a:r>
            <a:r>
              <a:rPr b="0">
                <a:solidFill>
                  <a:srgbClr val="1A1714"/>
                </a:solidFill>
              </a:rPr>
              <a:t>Streamlit Cloud 預設找 </a:t>
            </a:r>
            <a:r>
              <a:t>repo 根目錄 </a:t>
            </a:r>
            <a:r>
              <a:rPr b="0">
                <a:solidFill>
                  <a:srgbClr val="1A1714"/>
                </a:solidFill>
              </a:rPr>
              <a:t>，或 main file 同層。沒寫好 import 都會掛。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1" name="Text 1"/>
          <p:cNvSpPr txBox="1"/>
          <p:nvPr/>
        </p:nvSpPr>
        <p:spPr>
          <a:xfrm>
            <a:off x="1352550" y="914400"/>
            <a:ext cx="4593117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4.3 DEPLOY · STREAMLIT CLOUD</a:t>
            </a:r>
          </a:p>
        </p:txBody>
      </p:sp>
      <p:sp>
        <p:nvSpPr>
          <p:cNvPr id="852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28 / 41</a:t>
            </a:r>
          </a:p>
        </p:txBody>
      </p:sp>
      <p:sp>
        <p:nvSpPr>
          <p:cNvPr id="853" name="Text 3"/>
          <p:cNvSpPr txBox="1"/>
          <p:nvPr/>
        </p:nvSpPr>
        <p:spPr>
          <a:xfrm>
            <a:off x="1066799" y="1724025"/>
            <a:ext cx="16639034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SHARE.STREAMLIT.IO · FINISH</a:t>
            </a:r>
          </a:p>
        </p:txBody>
      </p:sp>
      <p:sp>
        <p:nvSpPr>
          <p:cNvPr id="854" name="Text 4"/>
          <p:cNvSpPr txBox="1"/>
          <p:nvPr/>
        </p:nvSpPr>
        <p:spPr>
          <a:xfrm>
            <a:off x="1066800" y="222885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76655">
              <a:lnSpc>
                <a:spcPct val="104999"/>
              </a:lnSpc>
              <a:defRPr sz="4440" b="1" spc="-7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按下 Deploy，等 1–3 分鐘，就有網址了</a:t>
            </a:r>
          </a:p>
        </p:txBody>
      </p:sp>
      <p:sp>
        <p:nvSpPr>
          <p:cNvPr id="855" name="Shape 5"/>
          <p:cNvSpPr/>
          <p:nvPr/>
        </p:nvSpPr>
        <p:spPr>
          <a:xfrm>
            <a:off x="1066800" y="3486150"/>
            <a:ext cx="7772400" cy="4352033"/>
          </a:xfrm>
          <a:prstGeom prst="roundRect">
            <a:avLst>
              <a:gd name="adj" fmla="val 3940"/>
            </a:avLst>
          </a:prstGeom>
          <a:solidFill>
            <a:srgbClr val="FFFB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56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3657600"/>
            <a:ext cx="7429500" cy="4009133"/>
          </a:xfrm>
          <a:prstGeom prst="rect">
            <a:avLst/>
          </a:prstGeom>
          <a:ln w="12700">
            <a:miter lim="400000"/>
          </a:ln>
        </p:spPr>
      </p:pic>
      <p:sp>
        <p:nvSpPr>
          <p:cNvPr id="857" name="Shape 6"/>
          <p:cNvSpPr/>
          <p:nvPr/>
        </p:nvSpPr>
        <p:spPr>
          <a:xfrm>
            <a:off x="9448800" y="3486150"/>
            <a:ext cx="7772400" cy="3461892"/>
          </a:xfrm>
          <a:prstGeom prst="roundRect">
            <a:avLst>
              <a:gd name="adj" fmla="val 4952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8" name="Text 7"/>
          <p:cNvSpPr txBox="1"/>
          <p:nvPr/>
        </p:nvSpPr>
        <p:spPr>
          <a:xfrm>
            <a:off x="9753600" y="3752850"/>
            <a:ext cx="7377684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部署完成後會發生什麼？</a:t>
            </a:r>
          </a:p>
        </p:txBody>
      </p:sp>
      <p:sp>
        <p:nvSpPr>
          <p:cNvPr id="859" name="Text 8"/>
          <p:cNvSpPr txBox="1"/>
          <p:nvPr/>
        </p:nvSpPr>
        <p:spPr>
          <a:xfrm>
            <a:off x="9768840" y="4152900"/>
            <a:ext cx="7355587" cy="52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marL="213359" indent="-213359">
              <a:lnSpc>
                <a:spcPct val="155000"/>
              </a:lnSpc>
              <a:buSzPct val="100000"/>
              <a:buChar char="•"/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取得一個公開網址 </a:t>
            </a:r>
            <a:r>
              <a:rPr sz="18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xxxx.streamlit.app</a:t>
            </a:r>
          </a:p>
        </p:txBody>
      </p:sp>
      <p:sp>
        <p:nvSpPr>
          <p:cNvPr id="860" name="Text 9"/>
          <p:cNvSpPr txBox="1"/>
          <p:nvPr/>
        </p:nvSpPr>
        <p:spPr>
          <a:xfrm>
            <a:off x="9768840" y="4845099"/>
            <a:ext cx="7355587" cy="51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marL="213359" indent="-213359">
              <a:lnSpc>
                <a:spcPct val="155000"/>
              </a:lnSpc>
              <a:buSzPct val="100000"/>
              <a:buChar char="•"/>
              <a:tabLst>
                <a:tab pos="203200" algn="l"/>
              </a:tabLst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repo 有新 commit 會自動重新部署</a:t>
            </a:r>
          </a:p>
        </p:txBody>
      </p:sp>
      <p:sp>
        <p:nvSpPr>
          <p:cNvPr id="861" name="Text 10"/>
          <p:cNvSpPr txBox="1"/>
          <p:nvPr/>
        </p:nvSpPr>
        <p:spPr>
          <a:xfrm>
            <a:off x="9768840" y="5527030"/>
            <a:ext cx="7355587" cy="982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marL="179222" indent="-179222" defTabSz="768095">
              <a:lnSpc>
                <a:spcPct val="155000"/>
              </a:lnSpc>
              <a:buSzPct val="100000"/>
              <a:buChar char="•"/>
              <a:tabLst>
                <a:tab pos="165100" algn="l"/>
              </a:tabLst>
              <a:defRPr sz="2016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免費方案：3 個 public app、休眠後第一次打開要等十幾秒喚醒</a:t>
            </a:r>
          </a:p>
        </p:txBody>
      </p:sp>
      <p:sp>
        <p:nvSpPr>
          <p:cNvPr id="862" name="Shape 11"/>
          <p:cNvSpPr/>
          <p:nvPr/>
        </p:nvSpPr>
        <p:spPr>
          <a:xfrm>
            <a:off x="9448800" y="7100441"/>
            <a:ext cx="7772400" cy="2052192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3" name="Shape 12"/>
          <p:cNvSpPr/>
          <p:nvPr/>
        </p:nvSpPr>
        <p:spPr>
          <a:xfrm>
            <a:off x="9448800" y="7100441"/>
            <a:ext cx="57150" cy="205219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4" name="Text 13"/>
          <p:cNvSpPr txBox="1"/>
          <p:nvPr/>
        </p:nvSpPr>
        <p:spPr>
          <a:xfrm>
            <a:off x="9810750" y="7357616"/>
            <a:ext cx="4317037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768095">
              <a:lnSpc>
                <a:spcPct val="145000"/>
              </a:lnSpc>
              <a:defRPr sz="201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常見 deploy 失敗原因 Top 3：</a:t>
            </a:r>
          </a:p>
        </p:txBody>
      </p:sp>
      <p:sp>
        <p:nvSpPr>
          <p:cNvPr id="865" name="Text 14"/>
          <p:cNvSpPr txBox="1"/>
          <p:nvPr/>
        </p:nvSpPr>
        <p:spPr>
          <a:xfrm>
            <a:off x="9705975" y="7847111"/>
            <a:ext cx="7286625" cy="1115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marL="300894" indent="-300894" defTabSz="740663">
              <a:lnSpc>
                <a:spcPct val="145000"/>
              </a:lnSpc>
              <a:buSzPct val="100000"/>
              <a:buAutoNum type="arabicPeriod"/>
              <a:tabLst>
                <a:tab pos="292100" algn="l"/>
              </a:tabLst>
              <a:defRPr sz="1539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requirements.txt 漏寫某個套件</a:t>
            </a:r>
          </a:p>
          <a:p>
            <a:pPr marL="300894" indent="-300894" defTabSz="740663">
              <a:lnSpc>
                <a:spcPct val="145000"/>
              </a:lnSpc>
              <a:buSzPct val="100000"/>
              <a:buAutoNum type="arabicPeriod" startAt="2"/>
              <a:tabLst>
                <a:tab pos="292100" algn="l"/>
              </a:tabLst>
              <a:defRPr sz="1539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檔案路徑寫絕對路徑（在本地能跑、雲端找不到）</a:t>
            </a:r>
          </a:p>
          <a:p>
            <a:pPr marL="300894" indent="-300894" defTabSz="740663">
              <a:lnSpc>
                <a:spcPct val="145000"/>
              </a:lnSpc>
              <a:buSzPct val="100000"/>
              <a:buAutoNum type="arabicPeriod" startAt="3"/>
              <a:tabLst>
                <a:tab pos="292100" algn="l"/>
              </a:tabLst>
              <a:defRPr sz="1539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不小心把 API key 寫在 code 裡 → 報錯或被 GitHub 擋掉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5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6" name="Text 1"/>
          <p:cNvSpPr txBox="1"/>
          <p:nvPr/>
        </p:nvSpPr>
        <p:spPr>
          <a:xfrm>
            <a:off x="1352550" y="914400"/>
            <a:ext cx="360882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5.3 DEPLOY · CLOUD RUN</a:t>
            </a:r>
          </a:p>
        </p:txBody>
      </p:sp>
      <p:sp>
        <p:nvSpPr>
          <p:cNvPr id="907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38 / 41</a:t>
            </a:r>
          </a:p>
        </p:txBody>
      </p:sp>
      <p:sp>
        <p:nvSpPr>
          <p:cNvPr id="908" name="Text 3"/>
          <p:cNvSpPr txBox="1"/>
          <p:nvPr/>
        </p:nvSpPr>
        <p:spPr>
          <a:xfrm>
            <a:off x="1066799" y="1724025"/>
            <a:ext cx="16639034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CLOUD RUN · STEP 1–2</a:t>
            </a:r>
          </a:p>
        </p:txBody>
      </p:sp>
      <p:sp>
        <p:nvSpPr>
          <p:cNvPr id="909" name="Text 4"/>
          <p:cNvSpPr txBox="1"/>
          <p:nvPr/>
        </p:nvSpPr>
        <p:spPr>
          <a:xfrm>
            <a:off x="1066800" y="2228850"/>
            <a:ext cx="14716125" cy="16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lnSpc>
                <a:spcPct val="104999"/>
              </a:lnSpc>
              <a:defRPr sz="5520" b="1" spc="-92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在 GCP Console 連 GitHub、設定 Cloud Build</a:t>
            </a:r>
          </a:p>
        </p:txBody>
      </p:sp>
      <p:sp>
        <p:nvSpPr>
          <p:cNvPr id="910" name="Shape 5"/>
          <p:cNvSpPr/>
          <p:nvPr/>
        </p:nvSpPr>
        <p:spPr>
          <a:xfrm>
            <a:off x="1066799" y="3320091"/>
            <a:ext cx="7772400" cy="7686675"/>
          </a:xfrm>
          <a:prstGeom prst="roundRect">
            <a:avLst>
              <a:gd name="adj" fmla="val 2230"/>
            </a:avLst>
          </a:prstGeom>
          <a:solidFill>
            <a:srgbClr val="FFFB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11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099" y="3491541"/>
            <a:ext cx="6781800" cy="7343775"/>
          </a:xfrm>
          <a:prstGeom prst="rect">
            <a:avLst/>
          </a:prstGeom>
          <a:ln w="12700">
            <a:miter lim="400000"/>
          </a:ln>
        </p:spPr>
      </p:pic>
      <p:sp>
        <p:nvSpPr>
          <p:cNvPr id="912" name="Shape 6"/>
          <p:cNvSpPr/>
          <p:nvPr/>
        </p:nvSpPr>
        <p:spPr>
          <a:xfrm>
            <a:off x="9448799" y="5109203"/>
            <a:ext cx="7772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3" name="Text 7"/>
          <p:cNvSpPr txBox="1"/>
          <p:nvPr/>
        </p:nvSpPr>
        <p:spPr>
          <a:xfrm>
            <a:off x="9448799" y="3529641"/>
            <a:ext cx="685800" cy="140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914" name="Text 8"/>
          <p:cNvSpPr txBox="1"/>
          <p:nvPr/>
        </p:nvSpPr>
        <p:spPr>
          <a:xfrm>
            <a:off x="10286998" y="3529641"/>
            <a:ext cx="7142228" cy="140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選「從存放區持續部署」 </a:t>
            </a:r>
            <a:r>
              <a:rPr b="0">
                <a:solidFill>
                  <a:srgbClr val="4A4036"/>
                </a:solidFill>
              </a:rPr>
              <a:t>每次 GitHub 有新 commit 都會自動 build + deploy</a:t>
            </a:r>
          </a:p>
        </p:txBody>
      </p:sp>
      <p:sp>
        <p:nvSpPr>
          <p:cNvPr id="915" name="Shape 9"/>
          <p:cNvSpPr/>
          <p:nvPr/>
        </p:nvSpPr>
        <p:spPr>
          <a:xfrm>
            <a:off x="9448799" y="6452228"/>
            <a:ext cx="7772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6" name="Text 10"/>
          <p:cNvSpPr txBox="1"/>
          <p:nvPr/>
        </p:nvSpPr>
        <p:spPr>
          <a:xfrm>
            <a:off x="9448799" y="5329866"/>
            <a:ext cx="6858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917" name="Text 11"/>
          <p:cNvSpPr txBox="1"/>
          <p:nvPr/>
        </p:nvSpPr>
        <p:spPr>
          <a:xfrm>
            <a:off x="10286998" y="5329866"/>
            <a:ext cx="714222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32104">
              <a:lnSpc>
                <a:spcPct val="150000"/>
              </a:lnSpc>
              <a:defRPr sz="2184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安裝 Google Cloud Build (GitHub App) </a:t>
            </a:r>
            <a:r>
              <a:rPr b="0">
                <a:solidFill>
                  <a:srgbClr val="4A4036"/>
                </a:solidFill>
              </a:rPr>
              <a:t>授權它讀取你的 repo</a:t>
            </a:r>
          </a:p>
        </p:txBody>
      </p:sp>
      <p:sp>
        <p:nvSpPr>
          <p:cNvPr id="918" name="Text 12"/>
          <p:cNvSpPr txBox="1"/>
          <p:nvPr/>
        </p:nvSpPr>
        <p:spPr>
          <a:xfrm>
            <a:off x="9448799" y="6672891"/>
            <a:ext cx="6858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919" name="Text 13"/>
          <p:cNvSpPr txBox="1"/>
          <p:nvPr/>
        </p:nvSpPr>
        <p:spPr>
          <a:xfrm>
            <a:off x="10286998" y="6672891"/>
            <a:ext cx="714222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68095">
              <a:lnSpc>
                <a:spcPct val="150000"/>
              </a:lnSpc>
              <a:defRPr sz="2016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選 repo + branch + 建構類型 = Dockerfile </a:t>
            </a:r>
            <a:r>
              <a:rPr b="0">
                <a:solidFill>
                  <a:srgbClr val="4A4036"/>
                </a:solidFill>
              </a:rPr>
              <a:t>指向 repo 內 Dockerfile 的相對路徑</a:t>
            </a:r>
          </a:p>
        </p:txBody>
      </p:sp>
      <p:sp>
        <p:nvSpPr>
          <p:cNvPr id="920" name="Shape 14"/>
          <p:cNvSpPr/>
          <p:nvPr/>
        </p:nvSpPr>
        <p:spPr>
          <a:xfrm>
            <a:off x="9448799" y="7949241"/>
            <a:ext cx="7772400" cy="1782811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1" name="Shape 15"/>
          <p:cNvSpPr/>
          <p:nvPr/>
        </p:nvSpPr>
        <p:spPr>
          <a:xfrm>
            <a:off x="9448799" y="7949241"/>
            <a:ext cx="57150" cy="1782811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2" name="Text 16"/>
          <p:cNvSpPr txBox="1"/>
          <p:nvPr/>
        </p:nvSpPr>
        <p:spPr>
          <a:xfrm>
            <a:off x="9810749" y="8177840"/>
            <a:ext cx="7338822" cy="136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22376">
              <a:lnSpc>
                <a:spcPct val="145000"/>
              </a:lnSpc>
              <a:defRPr sz="189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和 Streamlit Cloud 不同：</a:t>
            </a:r>
            <a:r>
              <a:rPr b="0">
                <a:solidFill>
                  <a:srgbClr val="1A1714"/>
                </a:solidFill>
              </a:rPr>
              <a:t>Cloud Run 可以跑 </a:t>
            </a:r>
            <a:r>
              <a:t>任何語言、任何架構 </a:t>
            </a:r>
            <a:r>
              <a:rPr b="0">
                <a:solidFill>
                  <a:srgbClr val="1A1714"/>
                </a:solidFill>
              </a:rPr>
              <a:t>（不限 Streamlit），repo 可以私有，但需要 GCP 帳號 + 自己付雲端費用。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7" name="Text 1"/>
          <p:cNvSpPr txBox="1"/>
          <p:nvPr/>
        </p:nvSpPr>
        <p:spPr>
          <a:xfrm>
            <a:off x="1352550" y="914400"/>
            <a:ext cx="360882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5.4 DEPLOY · CLOUD RUN</a:t>
            </a:r>
          </a:p>
        </p:txBody>
      </p:sp>
      <p:sp>
        <p:nvSpPr>
          <p:cNvPr id="928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39 / 41</a:t>
            </a:r>
          </a:p>
        </p:txBody>
      </p:sp>
      <p:sp>
        <p:nvSpPr>
          <p:cNvPr id="929" name="Text 3"/>
          <p:cNvSpPr txBox="1"/>
          <p:nvPr/>
        </p:nvSpPr>
        <p:spPr>
          <a:xfrm>
            <a:off x="1066799" y="1724025"/>
            <a:ext cx="16639034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CLOUD RUN · STEP 3</a:t>
            </a:r>
          </a:p>
        </p:txBody>
      </p:sp>
      <p:sp>
        <p:nvSpPr>
          <p:cNvPr id="930" name="Text 4"/>
          <p:cNvSpPr txBox="1"/>
          <p:nvPr/>
        </p:nvSpPr>
        <p:spPr>
          <a:xfrm>
            <a:off x="1066800" y="2228850"/>
            <a:ext cx="14716125" cy="16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4999"/>
              </a:lnSpc>
              <a:defRPr sz="6000" b="1" spc="-1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設定 Cloud Build：分支 + Dockerfile 位置</a:t>
            </a:r>
          </a:p>
        </p:txBody>
      </p:sp>
      <p:sp>
        <p:nvSpPr>
          <p:cNvPr id="931" name="Shape 5"/>
          <p:cNvSpPr/>
          <p:nvPr/>
        </p:nvSpPr>
        <p:spPr>
          <a:xfrm>
            <a:off x="1066799" y="3727400"/>
            <a:ext cx="7772400" cy="4632276"/>
          </a:xfrm>
          <a:prstGeom prst="roundRect">
            <a:avLst>
              <a:gd name="adj" fmla="val 3701"/>
            </a:avLst>
          </a:prstGeom>
          <a:solidFill>
            <a:srgbClr val="FFFB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32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399" y="3956000"/>
            <a:ext cx="7315200" cy="4175076"/>
          </a:xfrm>
          <a:prstGeom prst="rect">
            <a:avLst/>
          </a:prstGeom>
          <a:ln w="12700">
            <a:miter lim="400000"/>
          </a:ln>
        </p:spPr>
      </p:pic>
      <p:sp>
        <p:nvSpPr>
          <p:cNvPr id="933" name="Shape 6"/>
          <p:cNvSpPr/>
          <p:nvPr/>
        </p:nvSpPr>
        <p:spPr>
          <a:xfrm>
            <a:off x="9448799" y="3727400"/>
            <a:ext cx="7772400" cy="1416100"/>
          </a:xfrm>
          <a:prstGeom prst="roundRect">
            <a:avLst>
              <a:gd name="adj" fmla="val 12107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4" name="Text 7"/>
          <p:cNvSpPr txBox="1"/>
          <p:nvPr/>
        </p:nvSpPr>
        <p:spPr>
          <a:xfrm>
            <a:off x="9753599" y="3994100"/>
            <a:ext cx="7377684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分支版本</a:t>
            </a:r>
          </a:p>
        </p:txBody>
      </p:sp>
      <p:sp>
        <p:nvSpPr>
          <p:cNvPr id="935" name="Text 8"/>
          <p:cNvSpPr txBox="1"/>
          <p:nvPr/>
        </p:nvSpPr>
        <p:spPr>
          <a:xfrm>
            <a:off x="9753599" y="4394150"/>
            <a:ext cx="7377684" cy="52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>
              <a:lnSpc>
                <a:spcPct val="155000"/>
              </a:lnSpc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用正則匹配，</a:t>
            </a:r>
            <a:r>
              <a:rPr sz="18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^main$ </a:t>
            </a:r>
            <a:r>
              <a:t>只觸發 main 分支。</a:t>
            </a:r>
          </a:p>
        </p:txBody>
      </p:sp>
      <p:sp>
        <p:nvSpPr>
          <p:cNvPr id="936" name="Shape 9"/>
          <p:cNvSpPr/>
          <p:nvPr/>
        </p:nvSpPr>
        <p:spPr>
          <a:xfrm>
            <a:off x="9448799" y="5295899"/>
            <a:ext cx="7772400" cy="1416101"/>
          </a:xfrm>
          <a:prstGeom prst="roundRect">
            <a:avLst>
              <a:gd name="adj" fmla="val 12107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7" name="Text 10"/>
          <p:cNvSpPr txBox="1"/>
          <p:nvPr/>
        </p:nvSpPr>
        <p:spPr>
          <a:xfrm>
            <a:off x="9753599" y="5562599"/>
            <a:ext cx="7377684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建構類型</a:t>
            </a:r>
          </a:p>
        </p:txBody>
      </p:sp>
      <p:sp>
        <p:nvSpPr>
          <p:cNvPr id="938" name="Text 11"/>
          <p:cNvSpPr txBox="1"/>
          <p:nvPr/>
        </p:nvSpPr>
        <p:spPr>
          <a:xfrm>
            <a:off x="9753599" y="5962650"/>
            <a:ext cx="7377684" cy="520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>
              <a:lnSpc>
                <a:spcPct val="155000"/>
              </a:lnSpc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選 </a:t>
            </a:r>
            <a:r>
              <a:rPr sz="18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Dockerfile</a:t>
            </a:r>
            <a:r>
              <a:t>，告訴 Cloud Build 怎麼打包。</a:t>
            </a:r>
          </a:p>
        </p:txBody>
      </p:sp>
      <p:sp>
        <p:nvSpPr>
          <p:cNvPr id="939" name="Shape 12"/>
          <p:cNvSpPr/>
          <p:nvPr/>
        </p:nvSpPr>
        <p:spPr>
          <a:xfrm>
            <a:off x="9448799" y="6864399"/>
            <a:ext cx="7772400" cy="1416101"/>
          </a:xfrm>
          <a:prstGeom prst="roundRect">
            <a:avLst>
              <a:gd name="adj" fmla="val 12107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0" name="Text 13"/>
          <p:cNvSpPr txBox="1"/>
          <p:nvPr/>
        </p:nvSpPr>
        <p:spPr>
          <a:xfrm>
            <a:off x="9753599" y="7131099"/>
            <a:ext cx="7377684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來源位置</a:t>
            </a:r>
          </a:p>
        </p:txBody>
      </p:sp>
      <p:sp>
        <p:nvSpPr>
          <p:cNvPr id="941" name="Text 14"/>
          <p:cNvSpPr txBox="1"/>
          <p:nvPr/>
        </p:nvSpPr>
        <p:spPr>
          <a:xfrm>
            <a:off x="9753599" y="7531149"/>
            <a:ext cx="7377684" cy="520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>
              <a:lnSpc>
                <a:spcPct val="155000"/>
              </a:lnSpc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Dockerfile 在 repo 中的路徑，例如 </a:t>
            </a:r>
            <a:r>
              <a:rPr sz="18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/Dockerfile</a:t>
            </a:r>
            <a:r>
              <a:t>。</a:t>
            </a:r>
          </a:p>
        </p:txBody>
      </p:sp>
      <p:sp>
        <p:nvSpPr>
          <p:cNvPr id="942" name="Shape 15"/>
          <p:cNvSpPr/>
          <p:nvPr/>
        </p:nvSpPr>
        <p:spPr>
          <a:xfrm>
            <a:off x="9448799" y="8432898"/>
            <a:ext cx="7772400" cy="1782812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3" name="Shape 16"/>
          <p:cNvSpPr/>
          <p:nvPr/>
        </p:nvSpPr>
        <p:spPr>
          <a:xfrm>
            <a:off x="9448799" y="8432898"/>
            <a:ext cx="57150" cy="1782812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4" name="Text 17"/>
          <p:cNvSpPr txBox="1"/>
          <p:nvPr/>
        </p:nvSpPr>
        <p:spPr>
          <a:xfrm>
            <a:off x="9810749" y="8661498"/>
            <a:ext cx="7338822" cy="136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68095">
              <a:lnSpc>
                <a:spcPct val="145000"/>
              </a:lnSpc>
              <a:defRPr sz="201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第二個選項是 Buildpacks： </a:t>
            </a:r>
            <a:r>
              <a:rPr b="0">
                <a:solidFill>
                  <a:srgbClr val="1A1714"/>
                </a:solidFill>
              </a:rPr>
              <a:t>不寫 Dockerfile，由 GCP 自動判斷語言並打包。簡單但客製化彈性差，建議先學會寫 Dockerfile。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9" name="Text 1"/>
          <p:cNvSpPr txBox="1"/>
          <p:nvPr/>
        </p:nvSpPr>
        <p:spPr>
          <a:xfrm>
            <a:off x="1352550" y="914400"/>
            <a:ext cx="360882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5.5 DEPLOY · CLOUD RUN</a:t>
            </a:r>
          </a:p>
        </p:txBody>
      </p:sp>
      <p:sp>
        <p:nvSpPr>
          <p:cNvPr id="950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40 / 41</a:t>
            </a:r>
          </a:p>
        </p:txBody>
      </p:sp>
      <p:sp>
        <p:nvSpPr>
          <p:cNvPr id="951" name="Text 3"/>
          <p:cNvSpPr txBox="1"/>
          <p:nvPr/>
        </p:nvSpPr>
        <p:spPr>
          <a:xfrm>
            <a:off x="1066799" y="1724025"/>
            <a:ext cx="16639034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CLOUD RUN · STEP 4</a:t>
            </a:r>
          </a:p>
        </p:txBody>
      </p:sp>
      <p:sp>
        <p:nvSpPr>
          <p:cNvPr id="952" name="Text 4"/>
          <p:cNvSpPr txBox="1"/>
          <p:nvPr/>
        </p:nvSpPr>
        <p:spPr>
          <a:xfrm>
            <a:off x="1066800" y="222885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76655">
              <a:lnSpc>
                <a:spcPct val="104999"/>
              </a:lnSpc>
              <a:defRPr sz="4440" b="1" spc="-7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按下「建立」後，等它跑完 build 就有網址</a:t>
            </a:r>
          </a:p>
        </p:txBody>
      </p:sp>
      <p:sp>
        <p:nvSpPr>
          <p:cNvPr id="953" name="Shape 5"/>
          <p:cNvSpPr/>
          <p:nvPr/>
        </p:nvSpPr>
        <p:spPr>
          <a:xfrm>
            <a:off x="1066800" y="3486150"/>
            <a:ext cx="7772400" cy="3940374"/>
          </a:xfrm>
          <a:prstGeom prst="roundRect">
            <a:avLst>
              <a:gd name="adj" fmla="val 4351"/>
            </a:avLst>
          </a:prstGeom>
          <a:solidFill>
            <a:srgbClr val="FFFB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5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3657600"/>
            <a:ext cx="7429500" cy="3597474"/>
          </a:xfrm>
          <a:prstGeom prst="rect">
            <a:avLst/>
          </a:prstGeom>
          <a:ln w="12700">
            <a:miter lim="400000"/>
          </a:ln>
        </p:spPr>
      </p:pic>
      <p:sp>
        <p:nvSpPr>
          <p:cNvPr id="955" name="Shape 6"/>
          <p:cNvSpPr/>
          <p:nvPr/>
        </p:nvSpPr>
        <p:spPr>
          <a:xfrm>
            <a:off x="9448800" y="4818062"/>
            <a:ext cx="7772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6" name="Text 7"/>
          <p:cNvSpPr txBox="1"/>
          <p:nvPr/>
        </p:nvSpPr>
        <p:spPr>
          <a:xfrm>
            <a:off x="9448800" y="3695700"/>
            <a:ext cx="6858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957" name="Text 8"/>
          <p:cNvSpPr txBox="1"/>
          <p:nvPr/>
        </p:nvSpPr>
        <p:spPr>
          <a:xfrm>
            <a:off x="10286999" y="3695700"/>
            <a:ext cx="714222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建立服務 ✓ </a:t>
            </a:r>
            <a:r>
              <a:rPr b="0">
                <a:solidFill>
                  <a:srgbClr val="4A4036"/>
                </a:solidFill>
              </a:rPr>
              <a:t>在 GCP 上開好 Cloud Run 服務記錄</a:t>
            </a:r>
          </a:p>
        </p:txBody>
      </p:sp>
      <p:sp>
        <p:nvSpPr>
          <p:cNvPr id="958" name="Shape 9"/>
          <p:cNvSpPr/>
          <p:nvPr/>
        </p:nvSpPr>
        <p:spPr>
          <a:xfrm>
            <a:off x="9448800" y="6161087"/>
            <a:ext cx="7772400" cy="12701"/>
          </a:xfrm>
          <a:prstGeom prst="rect">
            <a:avLst/>
          </a:prstGeom>
          <a:solidFill>
            <a:srgbClr val="E6DCC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9" name="Text 10"/>
          <p:cNvSpPr txBox="1"/>
          <p:nvPr/>
        </p:nvSpPr>
        <p:spPr>
          <a:xfrm>
            <a:off x="9448800" y="5038725"/>
            <a:ext cx="6858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960" name="Text 11"/>
          <p:cNvSpPr txBox="1"/>
          <p:nvPr/>
        </p:nvSpPr>
        <p:spPr>
          <a:xfrm>
            <a:off x="10286999" y="5038725"/>
            <a:ext cx="714222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77823">
              <a:lnSpc>
                <a:spcPct val="150000"/>
              </a:lnSpc>
              <a:defRPr sz="2304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建立 Cloud Build 觸發條件 ✓ </a:t>
            </a:r>
            <a:r>
              <a:rPr b="0">
                <a:solidFill>
                  <a:srgbClr val="4A4036"/>
                </a:solidFill>
              </a:rPr>
              <a:t>綁定到你的 GitHub 分支</a:t>
            </a:r>
          </a:p>
        </p:txBody>
      </p:sp>
      <p:sp>
        <p:nvSpPr>
          <p:cNvPr id="961" name="Text 12"/>
          <p:cNvSpPr txBox="1"/>
          <p:nvPr/>
        </p:nvSpPr>
        <p:spPr>
          <a:xfrm>
            <a:off x="9448800" y="6381750"/>
            <a:ext cx="685800" cy="140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700" b="1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962" name="Text 13"/>
          <p:cNvSpPr txBox="1"/>
          <p:nvPr/>
        </p:nvSpPr>
        <p:spPr>
          <a:xfrm>
            <a:off x="10286999" y="6381750"/>
            <a:ext cx="7142228" cy="140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從存放區建構及部署內容 </a:t>
            </a:r>
            <a:r>
              <a:rPr b="0">
                <a:solidFill>
                  <a:srgbClr val="4A4036"/>
                </a:solidFill>
              </a:rPr>
              <a:t>下載 code → docker build → push → deploy（約 2–5 分鐘）</a:t>
            </a:r>
          </a:p>
        </p:txBody>
      </p:sp>
      <p:sp>
        <p:nvSpPr>
          <p:cNvPr id="963" name="Shape 14"/>
          <p:cNvSpPr/>
          <p:nvPr/>
        </p:nvSpPr>
        <p:spPr>
          <a:xfrm>
            <a:off x="9448800" y="8115300"/>
            <a:ext cx="7772400" cy="1782811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4" name="Shape 15"/>
          <p:cNvSpPr/>
          <p:nvPr/>
        </p:nvSpPr>
        <p:spPr>
          <a:xfrm>
            <a:off x="9448800" y="8115300"/>
            <a:ext cx="57150" cy="1782811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5" name="Text 16"/>
          <p:cNvSpPr txBox="1"/>
          <p:nvPr/>
        </p:nvSpPr>
        <p:spPr>
          <a:xfrm>
            <a:off x="9810750" y="8343899"/>
            <a:ext cx="7338822" cy="136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22376">
              <a:lnSpc>
                <a:spcPct val="145000"/>
              </a:lnSpc>
              <a:defRPr sz="1896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失敗時要看哪裡？ </a:t>
            </a:r>
            <a:r>
              <a:rPr b="0">
                <a:solidFill>
                  <a:srgbClr val="1A1714"/>
                </a:solidFill>
              </a:rPr>
              <a:t>點「查看記錄」進 Cloud Build logs， </a:t>
            </a:r>
            <a:r>
              <a:t>最後一段 ERROR </a:t>
            </a:r>
            <a:r>
              <a:rPr b="0">
                <a:solidFill>
                  <a:srgbClr val="1A1714"/>
                </a:solidFill>
              </a:rPr>
              <a:t>通常會直接告訴你哪一行 Dockerfile 出問題，或是 requirements 抓不到。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Shape 0"/>
          <p:cNvSpPr/>
          <p:nvPr/>
        </p:nvSpPr>
        <p:spPr>
          <a:xfrm>
            <a:off x="1066800" y="995362"/>
            <a:ext cx="114300" cy="114301"/>
          </a:xfrm>
          <a:prstGeom prst="ellipse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0" name="Text 1"/>
          <p:cNvSpPr txBox="1"/>
          <p:nvPr/>
        </p:nvSpPr>
        <p:spPr>
          <a:xfrm>
            <a:off x="1352550" y="914400"/>
            <a:ext cx="360882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4A403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5.6 DEPLOY · CLOUD RUN</a:t>
            </a:r>
          </a:p>
        </p:txBody>
      </p:sp>
      <p:sp>
        <p:nvSpPr>
          <p:cNvPr id="971" name="Text 2"/>
          <p:cNvSpPr txBox="1"/>
          <p:nvPr/>
        </p:nvSpPr>
        <p:spPr>
          <a:xfrm>
            <a:off x="16135647" y="914400"/>
            <a:ext cx="1161753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200">
                <a:solidFill>
                  <a:srgbClr val="847B6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41 / 41</a:t>
            </a:r>
          </a:p>
        </p:txBody>
      </p:sp>
      <p:sp>
        <p:nvSpPr>
          <p:cNvPr id="972" name="Text 3"/>
          <p:cNvSpPr txBox="1"/>
          <p:nvPr/>
        </p:nvSpPr>
        <p:spPr>
          <a:xfrm>
            <a:off x="1066799" y="1724025"/>
            <a:ext cx="16639034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3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CLOUD RUN · STEP 5</a:t>
            </a:r>
          </a:p>
        </p:txBody>
      </p:sp>
      <p:sp>
        <p:nvSpPr>
          <p:cNvPr id="973" name="Text 4"/>
          <p:cNvSpPr txBox="1"/>
          <p:nvPr/>
        </p:nvSpPr>
        <p:spPr>
          <a:xfrm>
            <a:off x="1066800" y="2228850"/>
            <a:ext cx="1471612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76655">
              <a:lnSpc>
                <a:spcPct val="104999"/>
              </a:lnSpc>
              <a:defRPr sz="4440" b="1" spc="-74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完成 — 拿到一個 HTTPS 網址，公開可用</a:t>
            </a:r>
          </a:p>
        </p:txBody>
      </p:sp>
      <p:sp>
        <p:nvSpPr>
          <p:cNvPr id="974" name="Shape 5"/>
          <p:cNvSpPr/>
          <p:nvPr/>
        </p:nvSpPr>
        <p:spPr>
          <a:xfrm>
            <a:off x="1066800" y="3486150"/>
            <a:ext cx="7772400" cy="4910883"/>
          </a:xfrm>
          <a:prstGeom prst="roundRect">
            <a:avLst>
              <a:gd name="adj" fmla="val 3491"/>
            </a:avLst>
          </a:prstGeom>
          <a:solidFill>
            <a:srgbClr val="FFFB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75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3657600"/>
            <a:ext cx="7429500" cy="4567983"/>
          </a:xfrm>
          <a:prstGeom prst="rect">
            <a:avLst/>
          </a:prstGeom>
          <a:ln w="12700">
            <a:miter lim="400000"/>
          </a:ln>
        </p:spPr>
      </p:pic>
      <p:sp>
        <p:nvSpPr>
          <p:cNvPr id="976" name="Shape 6"/>
          <p:cNvSpPr/>
          <p:nvPr/>
        </p:nvSpPr>
        <p:spPr>
          <a:xfrm>
            <a:off x="9448800" y="3486150"/>
            <a:ext cx="7772400" cy="3681711"/>
          </a:xfrm>
          <a:prstGeom prst="roundRect">
            <a:avLst>
              <a:gd name="adj" fmla="val 4657"/>
            </a:avLst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7" name="Text 7"/>
          <p:cNvSpPr txBox="1"/>
          <p:nvPr/>
        </p:nvSpPr>
        <p:spPr>
          <a:xfrm>
            <a:off x="9753600" y="3752850"/>
            <a:ext cx="7377684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600" spc="1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部署完成後會發生什麼？</a:t>
            </a:r>
          </a:p>
        </p:txBody>
      </p:sp>
      <p:sp>
        <p:nvSpPr>
          <p:cNvPr id="978" name="Text 8"/>
          <p:cNvSpPr txBox="1"/>
          <p:nvPr/>
        </p:nvSpPr>
        <p:spPr>
          <a:xfrm>
            <a:off x="9768840" y="4152900"/>
            <a:ext cx="7355587" cy="52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marL="213359" indent="-213359">
              <a:lnSpc>
                <a:spcPct val="155000"/>
              </a:lnSpc>
              <a:buSzPct val="100000"/>
              <a:buChar char="•"/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拿到一個 </a:t>
            </a:r>
            <a:r>
              <a:rPr sz="18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https://*.run.app </a:t>
            </a:r>
            <a:r>
              <a:t>網址</a:t>
            </a:r>
          </a:p>
        </p:txBody>
      </p:sp>
      <p:sp>
        <p:nvSpPr>
          <p:cNvPr id="979" name="Text 9"/>
          <p:cNvSpPr txBox="1"/>
          <p:nvPr/>
        </p:nvSpPr>
        <p:spPr>
          <a:xfrm>
            <a:off x="9768840" y="4845099"/>
            <a:ext cx="7355587" cy="520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marL="213359" indent="-213359">
              <a:lnSpc>
                <a:spcPct val="155000"/>
              </a:lnSpc>
              <a:buSzPct val="100000"/>
              <a:buChar char="•"/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每次 push 到 </a:t>
            </a:r>
            <a:r>
              <a:rPr sz="1800">
                <a:solidFill>
                  <a:srgbClr val="C45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t>，會自動重 build + deploy</a:t>
            </a:r>
          </a:p>
        </p:txBody>
      </p:sp>
      <p:sp>
        <p:nvSpPr>
          <p:cNvPr id="980" name="Text 10"/>
          <p:cNvSpPr txBox="1"/>
          <p:nvPr/>
        </p:nvSpPr>
        <p:spPr>
          <a:xfrm>
            <a:off x="9768840" y="5537298"/>
            <a:ext cx="7355587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marL="213359" indent="-213359">
              <a:lnSpc>
                <a:spcPct val="155000"/>
              </a:lnSpc>
              <a:buSzPct val="100000"/>
              <a:buChar char="•"/>
              <a:tabLst>
                <a:tab pos="203200" algn="l"/>
              </a:tabLst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沒人用時自動 scale to zero（不收錢）</a:t>
            </a:r>
          </a:p>
        </p:txBody>
      </p:sp>
      <p:sp>
        <p:nvSpPr>
          <p:cNvPr id="981" name="Text 11"/>
          <p:cNvSpPr txBox="1"/>
          <p:nvPr/>
        </p:nvSpPr>
        <p:spPr>
          <a:xfrm>
            <a:off x="9768840" y="6219230"/>
            <a:ext cx="7355587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marL="213359" indent="-213359">
              <a:lnSpc>
                <a:spcPct val="155000"/>
              </a:lnSpc>
              <a:buSzPct val="100000"/>
              <a:buChar char="•"/>
              <a:tabLst>
                <a:tab pos="203200" algn="l"/>
              </a:tabLst>
              <a:defRPr sz="2400">
                <a:solidFill>
                  <a:srgbClr val="1A171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可以綁自己的 domain</a:t>
            </a:r>
          </a:p>
        </p:txBody>
      </p:sp>
      <p:sp>
        <p:nvSpPr>
          <p:cNvPr id="982" name="Shape 12"/>
          <p:cNvSpPr/>
          <p:nvPr/>
        </p:nvSpPr>
        <p:spPr>
          <a:xfrm>
            <a:off x="9448800" y="7320260"/>
            <a:ext cx="7772400" cy="2666555"/>
          </a:xfrm>
          <a:prstGeom prst="rect">
            <a:avLst/>
          </a:prstGeom>
          <a:solidFill>
            <a:srgbClr val="F4ECD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3" name="Shape 13"/>
          <p:cNvSpPr/>
          <p:nvPr/>
        </p:nvSpPr>
        <p:spPr>
          <a:xfrm>
            <a:off x="9448800" y="7320260"/>
            <a:ext cx="57150" cy="2666555"/>
          </a:xfrm>
          <a:prstGeom prst="rect">
            <a:avLst/>
          </a:prstGeom>
          <a:solidFill>
            <a:srgbClr val="C45A2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4" name="Text 14"/>
          <p:cNvSpPr txBox="1"/>
          <p:nvPr/>
        </p:nvSpPr>
        <p:spPr>
          <a:xfrm>
            <a:off x="9810750" y="7548860"/>
            <a:ext cx="7338822" cy="2247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77823">
              <a:lnSpc>
                <a:spcPct val="145000"/>
              </a:lnSpc>
              <a:defRPr sz="2304" b="1">
                <a:solidFill>
                  <a:srgbClr val="C45A2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恭喜你過完整套流程： </a:t>
            </a:r>
            <a:r>
              <a:rPr b="0">
                <a:solidFill>
                  <a:srgbClr val="1A1714"/>
                </a:solidFill>
              </a:rPr>
              <a:t>寫 code → push GitHub → Docker 打包 → Cloud Build 自動部署 → Cloud Run 對外服務。 </a:t>
            </a:r>
            <a:r>
              <a:t>這就是現代 web 服務交付的標準路徑 </a:t>
            </a:r>
            <a:r>
              <a:rPr b="0">
                <a:solidFill>
                  <a:srgbClr val="1A1714"/>
                </a:solidFill>
              </a:rPr>
              <a:t>，把這個 repo 寫進履歷裡，面試會非常加分。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2"/>
            <a:ext cx="18288000" cy="10201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995" name="矩形 2"/>
          <p:cNvSpPr/>
          <p:nvPr/>
        </p:nvSpPr>
        <p:spPr>
          <a:xfrm>
            <a:off x="443346" y="775854"/>
            <a:ext cx="2576945" cy="471056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00" name="矩形 2"/>
          <p:cNvSpPr/>
          <p:nvPr/>
        </p:nvSpPr>
        <p:spPr>
          <a:xfrm>
            <a:off x="775855" y="803563"/>
            <a:ext cx="2105891" cy="471057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05" name="矩形 2"/>
          <p:cNvSpPr/>
          <p:nvPr/>
        </p:nvSpPr>
        <p:spPr>
          <a:xfrm>
            <a:off x="443345" y="775854"/>
            <a:ext cx="2299856" cy="471056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10" name="矩形 2"/>
          <p:cNvSpPr/>
          <p:nvPr/>
        </p:nvSpPr>
        <p:spPr>
          <a:xfrm>
            <a:off x="443345" y="775854"/>
            <a:ext cx="2909456" cy="554183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15" name="矩形 2"/>
          <p:cNvSpPr/>
          <p:nvPr/>
        </p:nvSpPr>
        <p:spPr>
          <a:xfrm>
            <a:off x="443346" y="775854"/>
            <a:ext cx="3491345" cy="471056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0" name="矩形 2"/>
          <p:cNvSpPr/>
          <p:nvPr/>
        </p:nvSpPr>
        <p:spPr>
          <a:xfrm>
            <a:off x="443345" y="775854"/>
            <a:ext cx="3269673" cy="471056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5" name="矩形 2"/>
          <p:cNvSpPr/>
          <p:nvPr/>
        </p:nvSpPr>
        <p:spPr>
          <a:xfrm>
            <a:off x="443345" y="775854"/>
            <a:ext cx="3020292" cy="526474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0" name="矩形 2"/>
          <p:cNvSpPr/>
          <p:nvPr/>
        </p:nvSpPr>
        <p:spPr>
          <a:xfrm>
            <a:off x="443346" y="775855"/>
            <a:ext cx="3075708" cy="443347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5" name="矩形 2"/>
          <p:cNvSpPr/>
          <p:nvPr/>
        </p:nvSpPr>
        <p:spPr>
          <a:xfrm>
            <a:off x="443345" y="775855"/>
            <a:ext cx="3214256" cy="443347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40" name="矩形 2"/>
          <p:cNvSpPr/>
          <p:nvPr/>
        </p:nvSpPr>
        <p:spPr>
          <a:xfrm>
            <a:off x="443346" y="775855"/>
            <a:ext cx="3075708" cy="443347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矩形 2"/>
          <p:cNvSpPr/>
          <p:nvPr/>
        </p:nvSpPr>
        <p:spPr>
          <a:xfrm>
            <a:off x="443345" y="775854"/>
            <a:ext cx="3823856" cy="471056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0" name="矩形 2"/>
          <p:cNvSpPr/>
          <p:nvPr/>
        </p:nvSpPr>
        <p:spPr>
          <a:xfrm>
            <a:off x="443345" y="775855"/>
            <a:ext cx="3657600" cy="443347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5" name="矩形 2"/>
          <p:cNvSpPr/>
          <p:nvPr/>
        </p:nvSpPr>
        <p:spPr>
          <a:xfrm>
            <a:off x="443346" y="775854"/>
            <a:ext cx="3851564" cy="498764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60" name="矩形 2"/>
          <p:cNvSpPr/>
          <p:nvPr/>
        </p:nvSpPr>
        <p:spPr>
          <a:xfrm>
            <a:off x="443346" y="775854"/>
            <a:ext cx="3491345" cy="498764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65" name="矩形 2"/>
          <p:cNvSpPr/>
          <p:nvPr/>
        </p:nvSpPr>
        <p:spPr>
          <a:xfrm>
            <a:off x="443346" y="775854"/>
            <a:ext cx="2105891" cy="471056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70" name="矩形 2"/>
          <p:cNvSpPr/>
          <p:nvPr/>
        </p:nvSpPr>
        <p:spPr>
          <a:xfrm>
            <a:off x="443346" y="775854"/>
            <a:ext cx="2105891" cy="471056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75" name="矩形 2"/>
          <p:cNvSpPr/>
          <p:nvPr/>
        </p:nvSpPr>
        <p:spPr>
          <a:xfrm>
            <a:off x="443346" y="775854"/>
            <a:ext cx="2105891" cy="471056"/>
          </a:xfrm>
          <a:prstGeom prst="rect">
            <a:avLst/>
          </a:prstGeom>
          <a:solidFill>
            <a:srgbClr val="FDFAF6"/>
          </a:solidFill>
          <a:ln w="12700">
            <a:miter lim="400000"/>
          </a:ln>
        </p:spPr>
        <p:txBody>
          <a:bodyPr lIns="68579" tIns="68579" rIns="68579" bIns="68579" anchor="ctr"/>
          <a:lstStyle/>
          <a:p>
            <a:pPr algn="ctr" defTabSz="1371600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6115</Words>
  <Application>Microsoft Macintosh PowerPoint</Application>
  <PresentationFormat>自訂</PresentationFormat>
  <Paragraphs>838</Paragraphs>
  <Slides>67</Slides>
  <Notes>59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67</vt:i4>
      </vt:variant>
    </vt:vector>
  </HeadingPairs>
  <TitlesOfParts>
    <vt:vector size="77" baseType="lpstr">
      <vt:lpstr>新細明體</vt:lpstr>
      <vt:lpstr>Inter</vt:lpstr>
      <vt:lpstr>JetBrains Mono</vt:lpstr>
      <vt:lpstr>Noto Sans CJK TC</vt:lpstr>
      <vt:lpstr>Aptos</vt:lpstr>
      <vt:lpstr>Arial</vt:lpstr>
      <vt:lpstr>Calibri</vt:lpstr>
      <vt:lpstr>Calibri Light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Lee Maggie</cp:lastModifiedBy>
  <cp:revision>13</cp:revision>
  <dcterms:modified xsi:type="dcterms:W3CDTF">2026-05-22T19:16:54Z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2026-05-22T19:04:01Z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d8c9785c-7bbf-4b6c-bf29-15e4982bfb86</vt:lpwstr>
  </property>
  <property fmtid="{D5CDD505-2E9C-101B-9397-08002B2CF9AE}" pid="7" name="MSIP_Label_defa4170-0d19-0005-0004-bc88714345d2_ActionId">
    <vt:lpwstr>da5c173a-287e-4a7c-8cd9-bea26a9493b2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