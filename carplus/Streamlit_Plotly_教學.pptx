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098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347472" y="1417320"/>
            <a:ext cx="502920" cy="502920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960120" y="1417320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572768" y="1417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92608" y="20574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292608" y="294436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入門教學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92608" y="370332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CarPlus Smart2Go Dashboard 為實戰範例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" y="46451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Plotly Express  ·  Plotly Graph Objects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課程大綱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本次教學涵蓋的函式與圖表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64008" cy="16459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21208" y="13350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21208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基礎元件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1208" y="21762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set_page_config・cache_data・spinner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sidebar・metric・info・markdown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170432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709160" y="1170432"/>
            <a:ext cx="64008" cy="164592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910328" y="13350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5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10328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版面配置 &amp; 互動元件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0328" y="21762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tabs・columns・radio・slider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checkbox・selectbox・date_input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999232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20040" y="2999232"/>
            <a:ext cx="64008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21208" y="31638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21208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 (px)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" y="40050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bar・area・pie・histogram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imshow・scatter_mapbox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999232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709160" y="2999232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910328" y="31638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910328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Graph Objects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10328" y="40050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go.Figure・go.Scatter・go.Bar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make_subplots・update_layout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基礎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st.set_page_config()  &amp;  @st.cache_data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216152"/>
            <a:ext cx="118872" cy="118872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set_page_config()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4447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設定頁面標題、Icon、版面寬度（wide/centered）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810512"/>
            <a:ext cx="118872" cy="118872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66928" y="1764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0391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資料載入結果快取，避免每次互動重新讀取檔案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404872"/>
            <a:ext cx="118872" cy="118872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66928" y="2359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ttl=3600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26334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設定快取有效秒數，適合 BigQuery 等遠端資料源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4224528"/>
            <a:ext cx="4297680" cy="62179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57200" y="4224528"/>
            <a:ext cx="4069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</a:t>
            </a: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set_page_config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必須是腳本中第一個 st 呼叫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25196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873752" y="1207008"/>
            <a:ext cx="392277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放在腳本最頂端，第一個 st 呼叫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set_page_config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page_title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"CarPlus 儀表板"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page_icon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"🚗"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"wide"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initial_sidebar_state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"expanded"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快取裝飾器：結果存在記憶體，互動時不重跑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cache_data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load_orders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pd.DataFrame: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pd.read_csv(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"orders.csv"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"hour"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df[</a:t>
            </a: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"rent_start_dt"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].dt.hour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ttl=3600 → 快取 1 小時後自動失效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</a:t>
            </a: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cache_data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=3600)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load_from_bq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 ...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基礎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元件：過濾器與篩選器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st.sidebar.title()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側欄標題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st.sidebar.selectbox()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下拉選單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688336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st.sidebar.date_input()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0083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日期範圍選擇器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438144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02920" y="3511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st.sidebar.metric()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7581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數字卡片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4187952"/>
            <a:ext cx="4160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02920" y="4261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st.sidebar.caption()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5079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小字說明文字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1097280"/>
            <a:ext cx="425196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873752" y="1207008"/>
            <a:ext cx="392277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"🚗 CarPlus"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"---"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下拉選單（城市過濾）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cities = 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"全部"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sorted(df[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"city"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].unique())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 =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selectbox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"城市篩選"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cities)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日期範圍選擇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dates =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date_input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"日期範圍"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=(min_d, max_d),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min_value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=min_d,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KPI 數字卡片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"篩選後訂單數"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f"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{len(fo):,}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caption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"資料期間：2023～2025"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版面配置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st.tabs()  &amp;  st.columns()  版面配置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7472" y="11704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st.tabs()  — 建立分頁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52704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66928" y="1490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接收頁籤名稱清單，回傳等數的 context 物件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87452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66928" y="1837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with tab: 區塊放置內容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22199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66928" y="21854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名稱支援 emoji，例如 "📊 總覽"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743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st.columns()  — 欄位分割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" y="309067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66928" y="3054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傳入數字（等寬）或列表（比例寬度）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343814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66928" y="3401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columns([2,1,1]) → 左欄佔 50%，右兩欄各 25%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78561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66928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巢狀使用可做出複雜格線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25196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73752" y="1207008"/>
            <a:ext cx="392277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tabs：建立分頁 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tab1, tab2, tab3, tab4 =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"📊 總覽"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"🗺️ 地圖"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"📈 需求分析"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"🔍 站點深探"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tab1: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subheader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"總覽"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columns：欄位分割 ──────────────────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col1, col2, col3 =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col1: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"總訂單數"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f"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{len(fo):,}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比例欄位寬度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mc1, mc2, mc3 =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([2, 1, 1])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mc1: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map_color =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radio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"顏色依據"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"城市"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horizontal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互動元件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 ·  slider  ·  checkbox  ·  selectbox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8483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084832" cy="29260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29768" y="1170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st.radio()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53619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水平/垂直單選按鈕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horizontal=True 橫排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532888" y="1170432"/>
            <a:ext cx="208483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532888" y="1170432"/>
            <a:ext cx="2084832" cy="292608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642616" y="1170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st.slider()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42616" y="153619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數值範圍拖曳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(min, max, default, step)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615184"/>
            <a:ext cx="208483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2615184"/>
            <a:ext cx="2084832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9768" y="26151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st.checkbox()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298094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勾選框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value= 設預設值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32888" y="2615184"/>
            <a:ext cx="208483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2532888" y="2615184"/>
            <a:ext cx="2084832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642616" y="26151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st.selectbox()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42616" y="298094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下拉選單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format_func= 自訂顯示文字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1097280"/>
            <a:ext cx="425196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873752" y="1207008"/>
            <a:ext cx="392277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水平單選按鈕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map_color =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radio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"顏色依據"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"城市"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horizontal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數值 Slider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min_orders =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"最低訂單數篩選"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0, 500, 0, 10 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min, max, default, step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勾選框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show_zero =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checkbox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"顯示零訂單站點"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下拉選單（自訂顯示文字）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sel_id =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selectbox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"選擇站點"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=lot_ids,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format_func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x: names[x])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顯示元件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 ·  info  ·  markdown  ·  spinner  ·  plotly_chart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1243584"/>
            <a:ext cx="118872" cy="118872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st.metric(label, value, delta)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卡片，支援 delta 增減箭頭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929384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66928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st.info(text) / st.error()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148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藍色資訊框 / 紅色錯誤框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615184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66928" y="2560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st.markdown(text)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834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語法，支援 **粗體**、---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7472" y="3300984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66928" y="3246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st.spinner(text)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520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區塊內顯示讀取動畫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3986784"/>
            <a:ext cx="118872" cy="1188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66928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st.plotly_chart(fig, …)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206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渲染 Plotly 圖表於頁面中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1097280"/>
            <a:ext cx="425196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873752" y="1207008"/>
            <a:ext cx="392277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KPI 卡片（支援增減標示）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c1, c2, c3 =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"總訂單數"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f"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{n:,}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"里程"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"35 km"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"+5%"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資訊框 / Markdown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"**城市**: 台北市 中正區"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"---"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(f"共 **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{len(fo):,}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 筆訂單")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讀取動畫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spinner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"載入資料中…"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orders = 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load_orders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渲染 Plotly 圖表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px.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(df, x=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"month"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y=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plotly_chart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(fig,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use_container_width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347472" y="155448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92608" y="217627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92608" y="30632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圖表函式庫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2608" y="382219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  ·  Plotly Graph Objects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兩大模組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 (px)  vs  Graph Objects (go)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plotly.express as px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0080" y="19110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一行程式碼產生圖表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40864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30428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適合快速探索資料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自動處理色彩、圖例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09067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用於：bar / area / pie / histogram / imshow / scatter_mapbox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84448"/>
            <a:ext cx="393192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76072" y="3685032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px.bar(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df, x="month", y="訂單數",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color="訂單數",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title="月訂單趨勢"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170432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709160" y="1170432"/>
            <a:ext cx="4206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84632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Objects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plotly.graph_objects as go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94767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029200" y="191109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精細控制每條 trace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340864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029200" y="230428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trace 疊加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734056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029200" y="26974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 Y 軸、subplots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12724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029200" y="309067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用於：go.Scatter / go.Bar / make_subplots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584448"/>
            <a:ext cx="3931920" cy="11155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965192" y="3685032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go.Figure()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fig.add_trace(go.Scatter(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x=dates, y=orders,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name="訂單數"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px.bar()  &amp;  px.area()  —  長條圖與面積圖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6459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px.bar()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12064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 / y= 指定資料欄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89280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12064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color= 上色欄位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12064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color_continuous_scale= 連續色板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53288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12064" y="2496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orientation="h" 水平長條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85292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12064" y="2816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title= 圖表標題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291840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20040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px.area()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65760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512064" y="36210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 / y= 與 bar 相同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005072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12064" y="39684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color_discrete_sequence= 指定顏色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4352544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12064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填滿曲線下方面積，適合趨勢呈現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971800" y="1097280"/>
            <a:ext cx="5989320" cy="3813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136392" y="1207008"/>
            <a:ext cx="5660136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月訂單趨勢 — 連續色長條圖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px.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monthly,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"month"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"月訂單趨勢"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color_continuous_scale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"Blues"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update_layout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coloraxis_showscale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plotly_chart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(fig,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use_container_width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熱門車款 — 水平長條圖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px.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cars,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"車款"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orientation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color_continuous_scale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"Viridis"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24 小時分布 — 面積圖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px.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hourly,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"hour"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"24小時取車分布"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color_discrete_sequence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"#667eea"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update_layout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xaxis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=dict(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dtick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=2))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px.pie()  &amp;  px.histogram()  —  圓餅圖與直方圖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64592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px.pie()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values= 數值欄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names= 類別欄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hole=0.4 → 甜甜圈圖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67004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title= 標題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4206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218688"/>
            <a:ext cx="3931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px.pie(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city_ord,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values="訂單數",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names="parking_lot_city",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title="各城市訂單佔比",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hole=0.4,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170432"/>
            <a:ext cx="1645920" cy="256032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709160" y="1170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px.histogram()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572768"/>
            <a:ext cx="100584" cy="100584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5361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 資料欄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1938528"/>
            <a:ext cx="100584" cy="100584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9019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nbins= 分桶數量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2304288"/>
            <a:ext cx="100584" cy="100584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892040" y="22677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搭配 .between() 過濾極端值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670048"/>
            <a:ext cx="100584" cy="100584"/>
          </a:xfrm>
          <a:prstGeom prst="ellipse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4892040" y="2633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color_discrete_sequence= 顏色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3108960"/>
            <a:ext cx="420624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846320" y="3218688"/>
            <a:ext cx="3931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px.histogram(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fo[fo["duration_min"]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.between(0, 600)],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x="duration_min",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nbins=60,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title="租借時長分布",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color_discrete_sequence=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["#667eea"],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px.imshow()  —  熱力圖（Heatmap）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聚合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444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先用 groupby 計算 (dow × hour) 的訂單數總和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轉換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把長表轉成矩陣格式，index=星期、columns=小時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2004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px.imshow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2724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把矩陣傳給 imshow()，指定色板與座標軸標籤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20040" y="3200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關鍵參數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502920" y="3538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color_continuous_scale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538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色板名稱，如 "YlOrRd"、"Blues"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97764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aspect="auto"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3950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自動調整格子比例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4389120"/>
            <a:ext cx="100584" cy="1005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02920" y="4361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labels=dict(x=…)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4361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自訂座標軸標籤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425196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4873752" y="1207008"/>
            <a:ext cx="392277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聚合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 = fo.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"dow"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"hour"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reset_index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轉成矩陣（pivot）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 = hm.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"dow"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"hour"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將 0-6 轉成「週一」~「週日」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pivot.index = [DOW_MAP[i] 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pivot.index]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繪製熱力圖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px.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imshow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pivot,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=dict(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"小時"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"星期"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color_continuous_scale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"YlOrRd"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aspect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"auto"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"訂單熱力圖"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px.scatter_mapbox()  —  互動式地圖散點圖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lat= / lon=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7744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緯度 / 經度欄位名稱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color=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7744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點的顏色依據欄位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084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size=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7744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點的大小依據欄位，size_max= 限制最大尺寸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5420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hover_name=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77440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滑鼠懸停時顯示的主標題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02920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hover_data={}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懸停時顯示的額外欄位（True/False/格式字串）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9300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mapbox_style=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"open-street-map"，不需 token 的免費地圖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95020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zoom=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37744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初始縮放等級（0=全球，10=城市）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407408"/>
            <a:ext cx="100584" cy="10058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02920" y="4370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color_continuous_scale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7744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連續色板，如 "YlOrRd"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425196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4873752" y="1207008"/>
            <a:ext cx="392277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px.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scatter_mapbox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station_geo,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"parking_lot_latitude"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"parking_lot_longitude"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=station_geo[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].clip(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=1),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size_max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=25,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hover_name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"parking_lot_name"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hover_data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"parking_lot_city"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"平均里程"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":.1f"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"parking_lot_latitude"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mapbox_style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"open-street-map"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zoom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=9,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color_continuous_scale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"YlOrRd"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update_layout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:0,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:30,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:0, 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:0})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GRAPH OBJECTS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go.Figure()  &amp;  add_trace()  —  自由組合圖層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go.Figure()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空白圖表容器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fig.add_trace()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加入一條 trace（資料層）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816352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go.Scatter()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折線圖 / 散點圖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639312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go.Bar()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長條圖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097280"/>
            <a:ext cx="425196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873752" y="1207008"/>
            <a:ext cx="392277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每日訂單 vs App 瀏覽 雙軸折線圖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go.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第一條 trace：訂單數（左 Y 軸）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add_trace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(go.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=daily[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"date"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=daily[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].rolling(7).mean(),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"訂單數（7日均）"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=dict(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"#e74c3c"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第二條 trace：瀏覽次數（右 Y 軸）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add_trace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(go.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=daily[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"date"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=daily[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"瀏覽次數"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].rolling(7).mean(),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 瀏覽"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=dict(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"#3498db"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"dot"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yaxis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"y2"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go.Bar trace（可混搭）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add_trace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(go.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=hours,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=avail,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marker_color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"rgba(52,152,219,0.6)"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GRAPH OBJECTS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make_subplots()  —  雙 Y 軸圖表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47472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使用情境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14813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當兩組資料數值範圍差距很大（例如：可用車數 0~5 vs 訂單數 0~200），用單一 Y 軸無法清晰比較。make_subplots 可建立共享 X 軸的雙 Y 軸。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239572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66928" y="2359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make_subplots(specs=[[{"secondary_y": True}]]) 建立支援雙Y軸的 Figure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87121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66928" y="2834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add_trace(..., secondary_y=False) → 左Y軸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33467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66928" y="3310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add_trace(..., secondary_y=True)  → 右Y軸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382219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66928" y="37856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update_yaxes() 分別設定兩側標題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25196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873752" y="1207008"/>
            <a:ext cx="392277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plotly.subplots </a:t>
            </a:r>
            <a:r>
              <a:rPr lang="en-US" sz="10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3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make_subplots</a:t>
            </a:r>
            <a:endParaRPr lang="en-US" sz="1030" dirty="0"/>
          </a:p>
          <a:p>
            <a:pPr marL="0" indent="0" algn="l">
              <a:buNone/>
            </a:pP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secondary_y=True 開啟右側第二 Y 軸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 = </a:t>
            </a:r>
            <a:r>
              <a:rPr lang="en-US" sz="103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make_subplots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=[[{</a:t>
            </a:r>
            <a:r>
              <a:rPr lang="en-US" sz="103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"secondary_y"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}]]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30" dirty="0"/>
          </a:p>
          <a:p>
            <a:pPr marL="0" indent="0" algn="l">
              <a:buNone/>
            </a:pP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左 Y 軸 trace（Bar）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3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add_trace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go.</a:t>
            </a:r>
            <a:r>
              <a:rPr lang="en-US" sz="103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=hours, 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=avail,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3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"平均可用車數"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marker_color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3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"rgba(52,152,219,0.6)"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secondary_y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30" dirty="0"/>
          </a:p>
          <a:p>
            <a:pPr marL="0" indent="0" algn="l">
              <a:buNone/>
            </a:pP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右 Y 軸 trace（Scatter）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3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add_trace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go.</a:t>
            </a:r>
            <a:r>
              <a:rPr lang="en-US" sz="103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=hours, 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=orders,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3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=dict(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3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"#e74c3c"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=2.5)),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secondary_y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30" dirty="0"/>
          </a:p>
          <a:p>
            <a:pPr marL="0" indent="0" algn="l">
              <a:buNone/>
            </a:pP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各別設定 Y 軸標題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3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update_yaxes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title_text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3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"可用車數"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secondary_y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30" dirty="0"/>
          </a:p>
          <a:p>
            <a:pPr marL="0" indent="0" algn="l">
              <a:buNone/>
            </a:pP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3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update_yaxes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title_text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3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</a:t>
            </a:r>
            <a:r>
              <a:rPr lang="en-US" sz="103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secondary_y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3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3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GRAPH OBJECTS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49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fig.update_layout()  &amp;  update_xaxes / update_yaxes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6459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update_layout()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title=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240280" y="15361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圖表主標題文字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02920" y="1975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hovermode=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19751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 unified" 跨 trace 對齊懸停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450592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4140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yaxis=dict(…)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24140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 Y 軸：title / color / overlaying / side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89504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852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yaxis2=dict(…)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40280" y="28529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右 Y 軸：overlaying="y", side="right"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50292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legend=dict(…)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4028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orientation="h" 水平圖例，yanchor / y 位置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730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margin=dict(…)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40280" y="37307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r/t/l/b 各邊留白（像素）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224528"/>
            <a:ext cx="1645920" cy="2560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20040" y="4224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update_xaxes/yaxes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4526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tickangle= 刻度旋轉角度  ·  tickmode="linear"  ·  dtick=2 每隔 n 顯示一個刻度  ·  title_text= 軸標題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4251960" cy="3794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4873752" y="1207008"/>
            <a:ext cx="3922776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雙 Y 軸圖表 layout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update_layout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"每日訂單 vs App 瀏覽（7日均）"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yaxis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=dict(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"訂單數"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"#e74c3c"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yaxis2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=dict(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 瀏覽次數"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"#3498db"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overlaying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"right"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legend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=dict(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orientation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yanchor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"bottom"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=1.02),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hovermode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 unified"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 軸：刻度角度、間距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update_xaxes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tickangle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=45)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</a:t>
            </a:r>
            <a:r>
              <a:rPr lang="en-US" sz="10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update_layout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xaxis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=dict(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"小時"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tickmode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"linear"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dtick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coloraxis_showscale</a:t>
            </a: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 隱藏色條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292608" y="5486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函式總整理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2608" y="1188720"/>
            <a:ext cx="1828800" cy="4572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92608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設定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12848" y="1188720"/>
            <a:ext cx="6638544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33172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set_page_config  ·  cache_data  ·  cache_resource  ·  spinner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1792224"/>
            <a:ext cx="1828800" cy="457200"/>
          </a:xfrm>
          <a:prstGeom prst="rect">
            <a:avLst/>
          </a:prstGeom>
          <a:solidFill>
            <a:srgbClr val="E05D44"/>
          </a:solidFill>
          <a:ln w="12700">
            <a:solidFill>
              <a:srgbClr val="E05D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92608" y="17922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12848" y="1792224"/>
            <a:ext cx="6638544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331720" y="179222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sidebar.title  ·  selectbox  ·  date_input  ·  metric  ·  caption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" y="2395728"/>
            <a:ext cx="1828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92608" y="2395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版面 &amp; 互動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12848" y="2395728"/>
            <a:ext cx="6638544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331720" y="2395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tabs  ·  columns  ·  radio  ·  slider  ·  checkbox  ·  selectbox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" y="2999232"/>
            <a:ext cx="18288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92608" y="29992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12848" y="2999232"/>
            <a:ext cx="6638544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331720" y="29992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 ·  subheader  ·  markdown  ·  metric  ·  info  ·  plotly_chart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" y="3602736"/>
            <a:ext cx="18288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92608" y="3602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12848" y="3602736"/>
            <a:ext cx="6638544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2331720" y="36027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  ·  area  ·  pie  ·  histogram  ·  imshow  ·  scatter_mapbox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" y="4206240"/>
            <a:ext cx="18288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92608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Objects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12848" y="4206240"/>
            <a:ext cx="6638544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2331720" y="4206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  ·  Scatter  ·  Bar  ·  make_subplots  ·  update_layout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CarPlus Smart2Go Dashboard  ·  Streamlit + Plotly 教學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2800</Words>
  <Application>Microsoft Macintosh PowerPoint</Application>
  <PresentationFormat>如螢幕大小 (16:9)</PresentationFormat>
  <Paragraphs>483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Streamlit + Plotly 教學</dc:title>
  <dc:subject>PptxGenJS Presentation</dc:subject>
  <dc:creator>PptxGenJS</dc:creator>
  <cp:lastModifiedBy>Lee Maggie</cp:lastModifiedBy>
  <cp:revision>1</cp:revision>
  <dcterms:created xsi:type="dcterms:W3CDTF">2026-05-11T14:05:12Z</dcterms:created>
  <dcterms:modified xsi:type="dcterms:W3CDTF">2026-05-11T15:08:49Z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2026-05-11T14:25:23Z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d8c9785c-7bbf-4b6c-bf29-15e4982bfb86</vt:lpwstr>
  </property>
  <property fmtid="{D5CDD505-2E9C-101B-9397-08002B2CF9AE}" pid="7" name="MSIP_Label_defa4170-0d19-0005-0004-bc88714345d2_ActionId">
    <vt:lpwstr>c59cce67-e2d4-4e68-ae61-4db6ee70d744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